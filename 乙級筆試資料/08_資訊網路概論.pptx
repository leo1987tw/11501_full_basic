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9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0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1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2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3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4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15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6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17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18.xml" ContentType="application/vnd.openxmlformats-officedocument.theme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19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20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theme/theme21.xml" ContentType="application/vnd.openxmlformats-officedocument.theme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theme/theme22.xml" ContentType="application/vnd.openxmlformats-officedocument.theme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23.xml" ContentType="application/vnd.openxmlformats-officedocument.theme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theme/theme24.xml" ContentType="application/vnd.openxmlformats-officedocument.theme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5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6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theme/theme27.xml" ContentType="application/vnd.openxmlformats-officedocument.theme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theme/theme28.xml" ContentType="application/vnd.openxmlformats-officedocument.theme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theme/theme29.xml" ContentType="application/vnd.openxmlformats-officedocument.theme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theme/theme30.xml" ContentType="application/vnd.openxmlformats-officedocument.theme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theme/theme31.xml" ContentType="application/vnd.openxmlformats-officedocument.theme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theme/theme32.xml" ContentType="application/vnd.openxmlformats-officedocument.theme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theme/theme33.xml" ContentType="application/vnd.openxmlformats-officedocument.theme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theme/theme34.xml" ContentType="application/vnd.openxmlformats-officedocument.theme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theme/theme35.xml" ContentType="application/vnd.openxmlformats-officedocument.theme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theme/theme36.xml" ContentType="application/vnd.openxmlformats-officedocument.theme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theme/theme37.xml" ContentType="application/vnd.openxmlformats-officedocument.theme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theme/theme38.xml" ContentType="application/vnd.openxmlformats-officedocument.theme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theme/theme39.xml" ContentType="application/vnd.openxmlformats-officedocument.theme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theme/theme40.xml" ContentType="application/vnd.openxmlformats-officedocument.theme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theme/theme41.xml" ContentType="application/vnd.openxmlformats-officedocument.theme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theme/theme42.xml" ContentType="application/vnd.openxmlformats-officedocument.theme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theme/theme43.xml" ContentType="application/vnd.openxmlformats-officedocument.theme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theme/theme44.xml" ContentType="application/vnd.openxmlformats-officedocument.theme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theme/theme45.xml" ContentType="application/vnd.openxmlformats-officedocument.theme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theme/theme46.xml" ContentType="application/vnd.openxmlformats-officedocument.theme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866" r:id="rId4"/>
    <p:sldMasterId id="2147483891" r:id="rId5"/>
    <p:sldMasterId id="2147483904" r:id="rId6"/>
    <p:sldMasterId id="2147483917" r:id="rId7"/>
    <p:sldMasterId id="2147483930" r:id="rId8"/>
    <p:sldMasterId id="2147483943" r:id="rId9"/>
    <p:sldMasterId id="2147483956" r:id="rId10"/>
    <p:sldMasterId id="2147483969" r:id="rId11"/>
    <p:sldMasterId id="2147483982" r:id="rId12"/>
    <p:sldMasterId id="2147483995" r:id="rId13"/>
    <p:sldMasterId id="2147484008" r:id="rId14"/>
    <p:sldMasterId id="2147484033" r:id="rId15"/>
    <p:sldMasterId id="2147484046" r:id="rId16"/>
    <p:sldMasterId id="2147484059" r:id="rId17"/>
    <p:sldMasterId id="2147484240" r:id="rId18"/>
    <p:sldMasterId id="2147484266" r:id="rId19"/>
    <p:sldMasterId id="2147484279" r:id="rId20"/>
    <p:sldMasterId id="2147484292" r:id="rId21"/>
    <p:sldMasterId id="2147484305" r:id="rId22"/>
    <p:sldMasterId id="2147484318" r:id="rId23"/>
    <p:sldMasterId id="2147484331" r:id="rId24"/>
    <p:sldMasterId id="2147484344" r:id="rId25"/>
    <p:sldMasterId id="2147484357" r:id="rId26"/>
    <p:sldMasterId id="2147484370" r:id="rId27"/>
    <p:sldMasterId id="2147484383" r:id="rId28"/>
    <p:sldMasterId id="2147484396" r:id="rId29"/>
    <p:sldMasterId id="2147484409" r:id="rId30"/>
    <p:sldMasterId id="2147484422" r:id="rId31"/>
    <p:sldMasterId id="2147484435" r:id="rId32"/>
    <p:sldMasterId id="2147484448" r:id="rId33"/>
    <p:sldMasterId id="2147484461" r:id="rId34"/>
    <p:sldMasterId id="2147484474" r:id="rId35"/>
    <p:sldMasterId id="2147484487" r:id="rId36"/>
    <p:sldMasterId id="2147484500" r:id="rId37"/>
    <p:sldMasterId id="2147484513" r:id="rId38"/>
    <p:sldMasterId id="2147484526" r:id="rId39"/>
    <p:sldMasterId id="2147484539" r:id="rId40"/>
    <p:sldMasterId id="2147484552" r:id="rId41"/>
    <p:sldMasterId id="2147484565" r:id="rId42"/>
    <p:sldMasterId id="2147484578" r:id="rId43"/>
    <p:sldMasterId id="2147484591" r:id="rId44"/>
    <p:sldMasterId id="2147484604" r:id="rId45"/>
    <p:sldMasterId id="2147484617" r:id="rId46"/>
    <p:sldMasterId id="2147484630" r:id="rId47"/>
  </p:sldMasterIdLst>
  <p:notesMasterIdLst>
    <p:notesMasterId r:id="rId220"/>
  </p:notesMasterIdLst>
  <p:handoutMasterIdLst>
    <p:handoutMasterId r:id="rId221"/>
  </p:handoutMasterIdLst>
  <p:sldIdLst>
    <p:sldId id="260" r:id="rId48"/>
    <p:sldId id="840" r:id="rId49"/>
    <p:sldId id="1055" r:id="rId50"/>
    <p:sldId id="1056" r:id="rId51"/>
    <p:sldId id="1057" r:id="rId52"/>
    <p:sldId id="1058" r:id="rId53"/>
    <p:sldId id="1059" r:id="rId54"/>
    <p:sldId id="1060" r:id="rId55"/>
    <p:sldId id="583" r:id="rId56"/>
    <p:sldId id="550" r:id="rId57"/>
    <p:sldId id="569" r:id="rId58"/>
    <p:sldId id="830" r:id="rId59"/>
    <p:sldId id="831" r:id="rId60"/>
    <p:sldId id="832" r:id="rId61"/>
    <p:sldId id="571" r:id="rId62"/>
    <p:sldId id="829" r:id="rId63"/>
    <p:sldId id="573" r:id="rId64"/>
    <p:sldId id="574" r:id="rId65"/>
    <p:sldId id="819" r:id="rId66"/>
    <p:sldId id="820" r:id="rId67"/>
    <p:sldId id="821" r:id="rId68"/>
    <p:sldId id="822" r:id="rId69"/>
    <p:sldId id="823" r:id="rId70"/>
    <p:sldId id="824" r:id="rId71"/>
    <p:sldId id="825" r:id="rId72"/>
    <p:sldId id="826" r:id="rId73"/>
    <p:sldId id="827" r:id="rId74"/>
    <p:sldId id="828" r:id="rId75"/>
    <p:sldId id="838" r:id="rId76"/>
    <p:sldId id="833" r:id="rId77"/>
    <p:sldId id="834" r:id="rId78"/>
    <p:sldId id="835" r:id="rId79"/>
    <p:sldId id="836" r:id="rId80"/>
    <p:sldId id="837" r:id="rId81"/>
    <p:sldId id="1319" r:id="rId82"/>
    <p:sldId id="843" r:id="rId83"/>
    <p:sldId id="842" r:id="rId84"/>
    <p:sldId id="845" r:id="rId85"/>
    <p:sldId id="846" r:id="rId86"/>
    <p:sldId id="847" r:id="rId87"/>
    <p:sldId id="848" r:id="rId88"/>
    <p:sldId id="1041" r:id="rId89"/>
    <p:sldId id="1320" r:id="rId90"/>
    <p:sldId id="1054" r:id="rId91"/>
    <p:sldId id="1269" r:id="rId92"/>
    <p:sldId id="1270" r:id="rId93"/>
    <p:sldId id="1271" r:id="rId94"/>
    <p:sldId id="1272" r:id="rId95"/>
    <p:sldId id="1273" r:id="rId96"/>
    <p:sldId id="1274" r:id="rId97"/>
    <p:sldId id="1039" r:id="rId98"/>
    <p:sldId id="1045" r:id="rId99"/>
    <p:sldId id="1061" r:id="rId100"/>
    <p:sldId id="1062" r:id="rId101"/>
    <p:sldId id="1065" r:id="rId102"/>
    <p:sldId id="1066" r:id="rId103"/>
    <p:sldId id="1069" r:id="rId104"/>
    <p:sldId id="1071" r:id="rId105"/>
    <p:sldId id="1075" r:id="rId106"/>
    <p:sldId id="1227" r:id="rId107"/>
    <p:sldId id="1076" r:id="rId108"/>
    <p:sldId id="1081" r:id="rId109"/>
    <p:sldId id="1083" r:id="rId110"/>
    <p:sldId id="1085" r:id="rId111"/>
    <p:sldId id="1222" r:id="rId112"/>
    <p:sldId id="1086" r:id="rId113"/>
    <p:sldId id="1087" r:id="rId114"/>
    <p:sldId id="1088" r:id="rId115"/>
    <p:sldId id="1090" r:id="rId116"/>
    <p:sldId id="1091" r:id="rId117"/>
    <p:sldId id="1223" r:id="rId118"/>
    <p:sldId id="1224" r:id="rId119"/>
    <p:sldId id="1225" r:id="rId120"/>
    <p:sldId id="1093" r:id="rId121"/>
    <p:sldId id="1094" r:id="rId122"/>
    <p:sldId id="1226" r:id="rId123"/>
    <p:sldId id="1096" r:id="rId124"/>
    <p:sldId id="1097" r:id="rId125"/>
    <p:sldId id="1120" r:id="rId126"/>
    <p:sldId id="1216" r:id="rId127"/>
    <p:sldId id="1217" r:id="rId128"/>
    <p:sldId id="1218" r:id="rId129"/>
    <p:sldId id="1219" r:id="rId130"/>
    <p:sldId id="1228" r:id="rId131"/>
    <p:sldId id="1229" r:id="rId132"/>
    <p:sldId id="1230" r:id="rId133"/>
    <p:sldId id="1231" r:id="rId134"/>
    <p:sldId id="1232" r:id="rId135"/>
    <p:sldId id="1237" r:id="rId136"/>
    <p:sldId id="1236" r:id="rId137"/>
    <p:sldId id="1233" r:id="rId138"/>
    <p:sldId id="1234" r:id="rId139"/>
    <p:sldId id="1238" r:id="rId140"/>
    <p:sldId id="1242" r:id="rId141"/>
    <p:sldId id="1241" r:id="rId142"/>
    <p:sldId id="1240" r:id="rId143"/>
    <p:sldId id="1239" r:id="rId144"/>
    <p:sldId id="1243" r:id="rId145"/>
    <p:sldId id="1244" r:id="rId146"/>
    <p:sldId id="1245" r:id="rId147"/>
    <p:sldId id="1246" r:id="rId148"/>
    <p:sldId id="1247" r:id="rId149"/>
    <p:sldId id="1248" r:id="rId150"/>
    <p:sldId id="1249" r:id="rId151"/>
    <p:sldId id="1250" r:id="rId152"/>
    <p:sldId id="1251" r:id="rId153"/>
    <p:sldId id="1252" r:id="rId154"/>
    <p:sldId id="1253" r:id="rId155"/>
    <p:sldId id="1254" r:id="rId156"/>
    <p:sldId id="1255" r:id="rId157"/>
    <p:sldId id="1256" r:id="rId158"/>
    <p:sldId id="1257" r:id="rId159"/>
    <p:sldId id="1258" r:id="rId160"/>
    <p:sldId id="1259" r:id="rId161"/>
    <p:sldId id="1260" r:id="rId162"/>
    <p:sldId id="1261" r:id="rId163"/>
    <p:sldId id="1263" r:id="rId164"/>
    <p:sldId id="1262" r:id="rId165"/>
    <p:sldId id="1264" r:id="rId166"/>
    <p:sldId id="1265" r:id="rId167"/>
    <p:sldId id="1266" r:id="rId168"/>
    <p:sldId id="1267" r:id="rId169"/>
    <p:sldId id="1268" r:id="rId170"/>
    <p:sldId id="1276" r:id="rId171"/>
    <p:sldId id="1277" r:id="rId172"/>
    <p:sldId id="1278" r:id="rId173"/>
    <p:sldId id="1279" r:id="rId174"/>
    <p:sldId id="1280" r:id="rId175"/>
    <p:sldId id="1281" r:id="rId176"/>
    <p:sldId id="1283" r:id="rId177"/>
    <p:sldId id="1282" r:id="rId178"/>
    <p:sldId id="1284" r:id="rId179"/>
    <p:sldId id="1286" r:id="rId180"/>
    <p:sldId id="1287" r:id="rId181"/>
    <p:sldId id="1288" r:id="rId182"/>
    <p:sldId id="1291" r:id="rId183"/>
    <p:sldId id="1318" r:id="rId184"/>
    <p:sldId id="1315" r:id="rId185"/>
    <p:sldId id="1316" r:id="rId186"/>
    <p:sldId id="1317" r:id="rId187"/>
    <p:sldId id="1321" r:id="rId188"/>
    <p:sldId id="1322" r:id="rId189"/>
    <p:sldId id="1323" r:id="rId190"/>
    <p:sldId id="1326" r:id="rId191"/>
    <p:sldId id="1327" r:id="rId192"/>
    <p:sldId id="1328" r:id="rId193"/>
    <p:sldId id="1325" r:id="rId194"/>
    <p:sldId id="1324" r:id="rId195"/>
    <p:sldId id="1289" r:id="rId196"/>
    <p:sldId id="1292" r:id="rId197"/>
    <p:sldId id="1293" r:id="rId198"/>
    <p:sldId id="1294" r:id="rId199"/>
    <p:sldId id="1295" r:id="rId200"/>
    <p:sldId id="1296" r:id="rId201"/>
    <p:sldId id="1297" r:id="rId202"/>
    <p:sldId id="1298" r:id="rId203"/>
    <p:sldId id="1299" r:id="rId204"/>
    <p:sldId id="1300" r:id="rId205"/>
    <p:sldId id="1301" r:id="rId206"/>
    <p:sldId id="1302" r:id="rId207"/>
    <p:sldId id="1304" r:id="rId208"/>
    <p:sldId id="1305" r:id="rId209"/>
    <p:sldId id="1306" r:id="rId210"/>
    <p:sldId id="1307" r:id="rId211"/>
    <p:sldId id="1308" r:id="rId212"/>
    <p:sldId id="1309" r:id="rId213"/>
    <p:sldId id="1310" r:id="rId214"/>
    <p:sldId id="1311" r:id="rId215"/>
    <p:sldId id="1312" r:id="rId216"/>
    <p:sldId id="1313" r:id="rId217"/>
    <p:sldId id="1314" r:id="rId218"/>
    <p:sldId id="1329" r:id="rId2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79926" autoAdjust="0"/>
  </p:normalViewPr>
  <p:slideViewPr>
    <p:cSldViewPr>
      <p:cViewPr varScale="1">
        <p:scale>
          <a:sx n="92" d="100"/>
          <a:sy n="92" d="100"/>
        </p:scale>
        <p:origin x="21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70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63" Type="http://schemas.openxmlformats.org/officeDocument/2006/relationships/slide" Target="slides/slide16.xml"/><Relationship Id="rId84" Type="http://schemas.openxmlformats.org/officeDocument/2006/relationships/slide" Target="slides/slide37.xml"/><Relationship Id="rId138" Type="http://schemas.openxmlformats.org/officeDocument/2006/relationships/slide" Target="slides/slide91.xml"/><Relationship Id="rId159" Type="http://schemas.openxmlformats.org/officeDocument/2006/relationships/slide" Target="slides/slide112.xml"/><Relationship Id="rId170" Type="http://schemas.openxmlformats.org/officeDocument/2006/relationships/slide" Target="slides/slide123.xml"/><Relationship Id="rId191" Type="http://schemas.openxmlformats.org/officeDocument/2006/relationships/slide" Target="slides/slide144.xml"/><Relationship Id="rId205" Type="http://schemas.openxmlformats.org/officeDocument/2006/relationships/slide" Target="slides/slide158.xml"/><Relationship Id="rId107" Type="http://schemas.openxmlformats.org/officeDocument/2006/relationships/slide" Target="slides/slide60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53" Type="http://schemas.openxmlformats.org/officeDocument/2006/relationships/slide" Target="slides/slide6.xml"/><Relationship Id="rId74" Type="http://schemas.openxmlformats.org/officeDocument/2006/relationships/slide" Target="slides/slide27.xml"/><Relationship Id="rId128" Type="http://schemas.openxmlformats.org/officeDocument/2006/relationships/slide" Target="slides/slide81.xml"/><Relationship Id="rId149" Type="http://schemas.openxmlformats.org/officeDocument/2006/relationships/slide" Target="slides/slide102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48.xml"/><Relationship Id="rId160" Type="http://schemas.openxmlformats.org/officeDocument/2006/relationships/slide" Target="slides/slide113.xml"/><Relationship Id="rId181" Type="http://schemas.openxmlformats.org/officeDocument/2006/relationships/slide" Target="slides/slide134.xml"/><Relationship Id="rId216" Type="http://schemas.openxmlformats.org/officeDocument/2006/relationships/slide" Target="slides/slide169.xml"/><Relationship Id="rId22" Type="http://schemas.openxmlformats.org/officeDocument/2006/relationships/slideMaster" Target="slideMasters/slideMaster22.xml"/><Relationship Id="rId43" Type="http://schemas.openxmlformats.org/officeDocument/2006/relationships/slideMaster" Target="slideMasters/slideMaster43.xml"/><Relationship Id="rId64" Type="http://schemas.openxmlformats.org/officeDocument/2006/relationships/slide" Target="slides/slide17.xml"/><Relationship Id="rId118" Type="http://schemas.openxmlformats.org/officeDocument/2006/relationships/slide" Target="slides/slide71.xml"/><Relationship Id="rId139" Type="http://schemas.openxmlformats.org/officeDocument/2006/relationships/slide" Target="slides/slide92.xml"/><Relationship Id="rId85" Type="http://schemas.openxmlformats.org/officeDocument/2006/relationships/slide" Target="slides/slide38.xml"/><Relationship Id="rId150" Type="http://schemas.openxmlformats.org/officeDocument/2006/relationships/slide" Target="slides/slide103.xml"/><Relationship Id="rId171" Type="http://schemas.openxmlformats.org/officeDocument/2006/relationships/slide" Target="slides/slide124.xml"/><Relationship Id="rId192" Type="http://schemas.openxmlformats.org/officeDocument/2006/relationships/slide" Target="slides/slide145.xml"/><Relationship Id="rId206" Type="http://schemas.openxmlformats.org/officeDocument/2006/relationships/slide" Target="slides/slide159.xml"/><Relationship Id="rId12" Type="http://schemas.openxmlformats.org/officeDocument/2006/relationships/slideMaster" Target="slideMasters/slideMaster12.xml"/><Relationship Id="rId33" Type="http://schemas.openxmlformats.org/officeDocument/2006/relationships/slideMaster" Target="slideMasters/slideMaster33.xml"/><Relationship Id="rId108" Type="http://schemas.openxmlformats.org/officeDocument/2006/relationships/slide" Target="slides/slide61.xml"/><Relationship Id="rId129" Type="http://schemas.openxmlformats.org/officeDocument/2006/relationships/slide" Target="slides/slide82.xml"/><Relationship Id="rId54" Type="http://schemas.openxmlformats.org/officeDocument/2006/relationships/slide" Target="slides/slide7.xml"/><Relationship Id="rId75" Type="http://schemas.openxmlformats.org/officeDocument/2006/relationships/slide" Target="slides/slide28.xml"/><Relationship Id="rId96" Type="http://schemas.openxmlformats.org/officeDocument/2006/relationships/slide" Target="slides/slide49.xml"/><Relationship Id="rId140" Type="http://schemas.openxmlformats.org/officeDocument/2006/relationships/slide" Target="slides/slide93.xml"/><Relationship Id="rId161" Type="http://schemas.openxmlformats.org/officeDocument/2006/relationships/slide" Target="slides/slide114.xml"/><Relationship Id="rId182" Type="http://schemas.openxmlformats.org/officeDocument/2006/relationships/slide" Target="slides/slide135.xml"/><Relationship Id="rId217" Type="http://schemas.openxmlformats.org/officeDocument/2006/relationships/slide" Target="slides/slide170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119" Type="http://schemas.openxmlformats.org/officeDocument/2006/relationships/slide" Target="slides/slide72.xml"/><Relationship Id="rId44" Type="http://schemas.openxmlformats.org/officeDocument/2006/relationships/slideMaster" Target="slideMasters/slideMaster44.xml"/><Relationship Id="rId65" Type="http://schemas.openxmlformats.org/officeDocument/2006/relationships/slide" Target="slides/slide18.xml"/><Relationship Id="rId86" Type="http://schemas.openxmlformats.org/officeDocument/2006/relationships/slide" Target="slides/slide39.xml"/><Relationship Id="rId130" Type="http://schemas.openxmlformats.org/officeDocument/2006/relationships/slide" Target="slides/slide83.xml"/><Relationship Id="rId151" Type="http://schemas.openxmlformats.org/officeDocument/2006/relationships/slide" Target="slides/slide104.xml"/><Relationship Id="rId172" Type="http://schemas.openxmlformats.org/officeDocument/2006/relationships/slide" Target="slides/slide125.xml"/><Relationship Id="rId193" Type="http://schemas.openxmlformats.org/officeDocument/2006/relationships/slide" Target="slides/slide146.xml"/><Relationship Id="rId207" Type="http://schemas.openxmlformats.org/officeDocument/2006/relationships/slide" Target="slides/slide160.xml"/><Relationship Id="rId13" Type="http://schemas.openxmlformats.org/officeDocument/2006/relationships/slideMaster" Target="slideMasters/slideMaster13.xml"/><Relationship Id="rId109" Type="http://schemas.openxmlformats.org/officeDocument/2006/relationships/slide" Target="slides/slide62.xml"/><Relationship Id="rId34" Type="http://schemas.openxmlformats.org/officeDocument/2006/relationships/slideMaster" Target="slideMasters/slideMaster34.xml"/><Relationship Id="rId55" Type="http://schemas.openxmlformats.org/officeDocument/2006/relationships/slide" Target="slides/slide8.xml"/><Relationship Id="rId76" Type="http://schemas.openxmlformats.org/officeDocument/2006/relationships/slide" Target="slides/slide29.xml"/><Relationship Id="rId97" Type="http://schemas.openxmlformats.org/officeDocument/2006/relationships/slide" Target="slides/slide50.xml"/><Relationship Id="rId120" Type="http://schemas.openxmlformats.org/officeDocument/2006/relationships/slide" Target="slides/slide73.xml"/><Relationship Id="rId141" Type="http://schemas.openxmlformats.org/officeDocument/2006/relationships/slide" Target="slides/slide94.xml"/><Relationship Id="rId7" Type="http://schemas.openxmlformats.org/officeDocument/2006/relationships/slideMaster" Target="slideMasters/slideMaster7.xml"/><Relationship Id="rId162" Type="http://schemas.openxmlformats.org/officeDocument/2006/relationships/slide" Target="slides/slide115.xml"/><Relationship Id="rId183" Type="http://schemas.openxmlformats.org/officeDocument/2006/relationships/slide" Target="slides/slide136.xml"/><Relationship Id="rId218" Type="http://schemas.openxmlformats.org/officeDocument/2006/relationships/slide" Target="slides/slide171.xml"/><Relationship Id="rId24" Type="http://schemas.openxmlformats.org/officeDocument/2006/relationships/slideMaster" Target="slideMasters/slideMaster24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19.xml"/><Relationship Id="rId87" Type="http://schemas.openxmlformats.org/officeDocument/2006/relationships/slide" Target="slides/slide40.xml"/><Relationship Id="rId110" Type="http://schemas.openxmlformats.org/officeDocument/2006/relationships/slide" Target="slides/slide63.xml"/><Relationship Id="rId131" Type="http://schemas.openxmlformats.org/officeDocument/2006/relationships/slide" Target="slides/slide84.xml"/><Relationship Id="rId152" Type="http://schemas.openxmlformats.org/officeDocument/2006/relationships/slide" Target="slides/slide105.xml"/><Relationship Id="rId173" Type="http://schemas.openxmlformats.org/officeDocument/2006/relationships/slide" Target="slides/slide126.xml"/><Relationship Id="rId194" Type="http://schemas.openxmlformats.org/officeDocument/2006/relationships/slide" Target="slides/slide147.xml"/><Relationship Id="rId208" Type="http://schemas.openxmlformats.org/officeDocument/2006/relationships/slide" Target="slides/slide161.xml"/><Relationship Id="rId14" Type="http://schemas.openxmlformats.org/officeDocument/2006/relationships/slideMaster" Target="slideMasters/slideMaster14.xml"/><Relationship Id="rId35" Type="http://schemas.openxmlformats.org/officeDocument/2006/relationships/slideMaster" Target="slideMasters/slideMaster35.xml"/><Relationship Id="rId56" Type="http://schemas.openxmlformats.org/officeDocument/2006/relationships/slide" Target="slides/slide9.xml"/><Relationship Id="rId77" Type="http://schemas.openxmlformats.org/officeDocument/2006/relationships/slide" Target="slides/slide30.xml"/><Relationship Id="rId100" Type="http://schemas.openxmlformats.org/officeDocument/2006/relationships/slide" Target="slides/slide53.xml"/><Relationship Id="rId8" Type="http://schemas.openxmlformats.org/officeDocument/2006/relationships/slideMaster" Target="slideMasters/slideMaster8.xml"/><Relationship Id="rId98" Type="http://schemas.openxmlformats.org/officeDocument/2006/relationships/slide" Target="slides/slide51.xml"/><Relationship Id="rId121" Type="http://schemas.openxmlformats.org/officeDocument/2006/relationships/slide" Target="slides/slide74.xml"/><Relationship Id="rId142" Type="http://schemas.openxmlformats.org/officeDocument/2006/relationships/slide" Target="slides/slide95.xml"/><Relationship Id="rId163" Type="http://schemas.openxmlformats.org/officeDocument/2006/relationships/slide" Target="slides/slide116.xml"/><Relationship Id="rId184" Type="http://schemas.openxmlformats.org/officeDocument/2006/relationships/slide" Target="slides/slide137.xml"/><Relationship Id="rId219" Type="http://schemas.openxmlformats.org/officeDocument/2006/relationships/slide" Target="slides/slide17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167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" Target="slides/slide20.xml"/><Relationship Id="rId116" Type="http://schemas.openxmlformats.org/officeDocument/2006/relationships/slide" Target="slides/slide69.xml"/><Relationship Id="rId137" Type="http://schemas.openxmlformats.org/officeDocument/2006/relationships/slide" Target="slides/slide90.xml"/><Relationship Id="rId158" Type="http://schemas.openxmlformats.org/officeDocument/2006/relationships/slide" Target="slides/slide111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" Target="slides/slide15.xml"/><Relationship Id="rId83" Type="http://schemas.openxmlformats.org/officeDocument/2006/relationships/slide" Target="slides/slide36.xml"/><Relationship Id="rId88" Type="http://schemas.openxmlformats.org/officeDocument/2006/relationships/slide" Target="slides/slide41.xml"/><Relationship Id="rId111" Type="http://schemas.openxmlformats.org/officeDocument/2006/relationships/slide" Target="slides/slide64.xml"/><Relationship Id="rId132" Type="http://schemas.openxmlformats.org/officeDocument/2006/relationships/slide" Target="slides/slide85.xml"/><Relationship Id="rId153" Type="http://schemas.openxmlformats.org/officeDocument/2006/relationships/slide" Target="slides/slide106.xml"/><Relationship Id="rId174" Type="http://schemas.openxmlformats.org/officeDocument/2006/relationships/slide" Target="slides/slide127.xml"/><Relationship Id="rId179" Type="http://schemas.openxmlformats.org/officeDocument/2006/relationships/slide" Target="slides/slide132.xml"/><Relationship Id="rId195" Type="http://schemas.openxmlformats.org/officeDocument/2006/relationships/slide" Target="slides/slide148.xml"/><Relationship Id="rId209" Type="http://schemas.openxmlformats.org/officeDocument/2006/relationships/slide" Target="slides/slide162.xml"/><Relationship Id="rId190" Type="http://schemas.openxmlformats.org/officeDocument/2006/relationships/slide" Target="slides/slide143.xml"/><Relationship Id="rId204" Type="http://schemas.openxmlformats.org/officeDocument/2006/relationships/slide" Target="slides/slide157.xml"/><Relationship Id="rId220" Type="http://schemas.openxmlformats.org/officeDocument/2006/relationships/notesMaster" Target="notesMasters/notesMaster1.xml"/><Relationship Id="rId225" Type="http://schemas.openxmlformats.org/officeDocument/2006/relationships/tableStyles" Target="tableStyles.xml"/><Relationship Id="rId15" Type="http://schemas.openxmlformats.org/officeDocument/2006/relationships/slideMaster" Target="slideMasters/slideMaster15.xml"/><Relationship Id="rId36" Type="http://schemas.openxmlformats.org/officeDocument/2006/relationships/slideMaster" Target="slideMasters/slideMaster36.xml"/><Relationship Id="rId57" Type="http://schemas.openxmlformats.org/officeDocument/2006/relationships/slide" Target="slides/slide10.xml"/><Relationship Id="rId106" Type="http://schemas.openxmlformats.org/officeDocument/2006/relationships/slide" Target="slides/slide59.xml"/><Relationship Id="rId127" Type="http://schemas.openxmlformats.org/officeDocument/2006/relationships/slide" Target="slides/slide80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52" Type="http://schemas.openxmlformats.org/officeDocument/2006/relationships/slide" Target="slides/slide5.xml"/><Relationship Id="rId73" Type="http://schemas.openxmlformats.org/officeDocument/2006/relationships/slide" Target="slides/slide26.xml"/><Relationship Id="rId78" Type="http://schemas.openxmlformats.org/officeDocument/2006/relationships/slide" Target="slides/slide31.xml"/><Relationship Id="rId94" Type="http://schemas.openxmlformats.org/officeDocument/2006/relationships/slide" Target="slides/slide47.xml"/><Relationship Id="rId99" Type="http://schemas.openxmlformats.org/officeDocument/2006/relationships/slide" Target="slides/slide52.xml"/><Relationship Id="rId101" Type="http://schemas.openxmlformats.org/officeDocument/2006/relationships/slide" Target="slides/slide54.xml"/><Relationship Id="rId122" Type="http://schemas.openxmlformats.org/officeDocument/2006/relationships/slide" Target="slides/slide75.xml"/><Relationship Id="rId143" Type="http://schemas.openxmlformats.org/officeDocument/2006/relationships/slide" Target="slides/slide96.xml"/><Relationship Id="rId148" Type="http://schemas.openxmlformats.org/officeDocument/2006/relationships/slide" Target="slides/slide101.xml"/><Relationship Id="rId164" Type="http://schemas.openxmlformats.org/officeDocument/2006/relationships/slide" Target="slides/slide117.xml"/><Relationship Id="rId169" Type="http://schemas.openxmlformats.org/officeDocument/2006/relationships/slide" Target="slides/slide122.xml"/><Relationship Id="rId185" Type="http://schemas.openxmlformats.org/officeDocument/2006/relationships/slide" Target="slides/slide13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33.xml"/><Relationship Id="rId210" Type="http://schemas.openxmlformats.org/officeDocument/2006/relationships/slide" Target="slides/slide163.xml"/><Relationship Id="rId215" Type="http://schemas.openxmlformats.org/officeDocument/2006/relationships/slide" Target="slides/slide168.xml"/><Relationship Id="rId26" Type="http://schemas.openxmlformats.org/officeDocument/2006/relationships/slideMaster" Target="slideMasters/slideMaster26.xml"/><Relationship Id="rId47" Type="http://schemas.openxmlformats.org/officeDocument/2006/relationships/slideMaster" Target="slideMasters/slideMaster47.xml"/><Relationship Id="rId68" Type="http://schemas.openxmlformats.org/officeDocument/2006/relationships/slide" Target="slides/slide21.xml"/><Relationship Id="rId89" Type="http://schemas.openxmlformats.org/officeDocument/2006/relationships/slide" Target="slides/slide42.xml"/><Relationship Id="rId112" Type="http://schemas.openxmlformats.org/officeDocument/2006/relationships/slide" Target="slides/slide65.xml"/><Relationship Id="rId133" Type="http://schemas.openxmlformats.org/officeDocument/2006/relationships/slide" Target="slides/slide86.xml"/><Relationship Id="rId154" Type="http://schemas.openxmlformats.org/officeDocument/2006/relationships/slide" Target="slides/slide107.xml"/><Relationship Id="rId175" Type="http://schemas.openxmlformats.org/officeDocument/2006/relationships/slide" Target="slides/slide128.xml"/><Relationship Id="rId196" Type="http://schemas.openxmlformats.org/officeDocument/2006/relationships/slide" Target="slides/slide149.xml"/><Relationship Id="rId200" Type="http://schemas.openxmlformats.org/officeDocument/2006/relationships/slide" Target="slides/slide153.xml"/><Relationship Id="rId16" Type="http://schemas.openxmlformats.org/officeDocument/2006/relationships/slideMaster" Target="slideMasters/slideMaster16.xml"/><Relationship Id="rId221" Type="http://schemas.openxmlformats.org/officeDocument/2006/relationships/handoutMaster" Target="handoutMasters/handoutMaster1.xml"/><Relationship Id="rId37" Type="http://schemas.openxmlformats.org/officeDocument/2006/relationships/slideMaster" Target="slideMasters/slideMaster37.xml"/><Relationship Id="rId58" Type="http://schemas.openxmlformats.org/officeDocument/2006/relationships/slide" Target="slides/slide11.xml"/><Relationship Id="rId79" Type="http://schemas.openxmlformats.org/officeDocument/2006/relationships/slide" Target="slides/slide32.xml"/><Relationship Id="rId102" Type="http://schemas.openxmlformats.org/officeDocument/2006/relationships/slide" Target="slides/slide55.xml"/><Relationship Id="rId123" Type="http://schemas.openxmlformats.org/officeDocument/2006/relationships/slide" Target="slides/slide76.xml"/><Relationship Id="rId144" Type="http://schemas.openxmlformats.org/officeDocument/2006/relationships/slide" Target="slides/slide97.xml"/><Relationship Id="rId90" Type="http://schemas.openxmlformats.org/officeDocument/2006/relationships/slide" Target="slides/slide43.xml"/><Relationship Id="rId165" Type="http://schemas.openxmlformats.org/officeDocument/2006/relationships/slide" Target="slides/slide118.xml"/><Relationship Id="rId186" Type="http://schemas.openxmlformats.org/officeDocument/2006/relationships/slide" Target="slides/slide139.xml"/><Relationship Id="rId211" Type="http://schemas.openxmlformats.org/officeDocument/2006/relationships/slide" Target="slides/slide164.xml"/><Relationship Id="rId27" Type="http://schemas.openxmlformats.org/officeDocument/2006/relationships/slideMaster" Target="slideMasters/slideMaster27.xml"/><Relationship Id="rId48" Type="http://schemas.openxmlformats.org/officeDocument/2006/relationships/slide" Target="slides/slide1.xml"/><Relationship Id="rId69" Type="http://schemas.openxmlformats.org/officeDocument/2006/relationships/slide" Target="slides/slide22.xml"/><Relationship Id="rId113" Type="http://schemas.openxmlformats.org/officeDocument/2006/relationships/slide" Target="slides/slide66.xml"/><Relationship Id="rId134" Type="http://schemas.openxmlformats.org/officeDocument/2006/relationships/slide" Target="slides/slide87.xml"/><Relationship Id="rId80" Type="http://schemas.openxmlformats.org/officeDocument/2006/relationships/slide" Target="slides/slide33.xml"/><Relationship Id="rId155" Type="http://schemas.openxmlformats.org/officeDocument/2006/relationships/slide" Target="slides/slide108.xml"/><Relationship Id="rId176" Type="http://schemas.openxmlformats.org/officeDocument/2006/relationships/slide" Target="slides/slide129.xml"/><Relationship Id="rId197" Type="http://schemas.openxmlformats.org/officeDocument/2006/relationships/slide" Target="slides/slide150.xml"/><Relationship Id="rId201" Type="http://schemas.openxmlformats.org/officeDocument/2006/relationships/slide" Target="slides/slide154.xml"/><Relationship Id="rId222" Type="http://schemas.openxmlformats.org/officeDocument/2006/relationships/presProps" Target="presProps.xml"/><Relationship Id="rId17" Type="http://schemas.openxmlformats.org/officeDocument/2006/relationships/slideMaster" Target="slideMasters/slideMaster17.xml"/><Relationship Id="rId38" Type="http://schemas.openxmlformats.org/officeDocument/2006/relationships/slideMaster" Target="slideMasters/slideMaster38.xml"/><Relationship Id="rId59" Type="http://schemas.openxmlformats.org/officeDocument/2006/relationships/slide" Target="slides/slide12.xml"/><Relationship Id="rId103" Type="http://schemas.openxmlformats.org/officeDocument/2006/relationships/slide" Target="slides/slide56.xml"/><Relationship Id="rId124" Type="http://schemas.openxmlformats.org/officeDocument/2006/relationships/slide" Target="slides/slide77.xml"/><Relationship Id="rId70" Type="http://schemas.openxmlformats.org/officeDocument/2006/relationships/slide" Target="slides/slide23.xml"/><Relationship Id="rId91" Type="http://schemas.openxmlformats.org/officeDocument/2006/relationships/slide" Target="slides/slide44.xml"/><Relationship Id="rId145" Type="http://schemas.openxmlformats.org/officeDocument/2006/relationships/slide" Target="slides/slide98.xml"/><Relationship Id="rId166" Type="http://schemas.openxmlformats.org/officeDocument/2006/relationships/slide" Target="slides/slide119.xml"/><Relationship Id="rId187" Type="http://schemas.openxmlformats.org/officeDocument/2006/relationships/slide" Target="slides/slide14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165.xml"/><Relationship Id="rId28" Type="http://schemas.openxmlformats.org/officeDocument/2006/relationships/slideMaster" Target="slideMasters/slideMaster28.xml"/><Relationship Id="rId49" Type="http://schemas.openxmlformats.org/officeDocument/2006/relationships/slide" Target="slides/slide2.xml"/><Relationship Id="rId114" Type="http://schemas.openxmlformats.org/officeDocument/2006/relationships/slide" Target="slides/slide67.xml"/><Relationship Id="rId60" Type="http://schemas.openxmlformats.org/officeDocument/2006/relationships/slide" Target="slides/slide13.xml"/><Relationship Id="rId81" Type="http://schemas.openxmlformats.org/officeDocument/2006/relationships/slide" Target="slides/slide34.xml"/><Relationship Id="rId135" Type="http://schemas.openxmlformats.org/officeDocument/2006/relationships/slide" Target="slides/slide88.xml"/><Relationship Id="rId156" Type="http://schemas.openxmlformats.org/officeDocument/2006/relationships/slide" Target="slides/slide109.xml"/><Relationship Id="rId177" Type="http://schemas.openxmlformats.org/officeDocument/2006/relationships/slide" Target="slides/slide130.xml"/><Relationship Id="rId198" Type="http://schemas.openxmlformats.org/officeDocument/2006/relationships/slide" Target="slides/slide151.xml"/><Relationship Id="rId202" Type="http://schemas.openxmlformats.org/officeDocument/2006/relationships/slide" Target="slides/slide155.xml"/><Relationship Id="rId223" Type="http://schemas.openxmlformats.org/officeDocument/2006/relationships/viewProps" Target="viewProps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50" Type="http://schemas.openxmlformats.org/officeDocument/2006/relationships/slide" Target="slides/slide3.xml"/><Relationship Id="rId104" Type="http://schemas.openxmlformats.org/officeDocument/2006/relationships/slide" Target="slides/slide57.xml"/><Relationship Id="rId125" Type="http://schemas.openxmlformats.org/officeDocument/2006/relationships/slide" Target="slides/slide78.xml"/><Relationship Id="rId146" Type="http://schemas.openxmlformats.org/officeDocument/2006/relationships/slide" Target="slides/slide99.xml"/><Relationship Id="rId167" Type="http://schemas.openxmlformats.org/officeDocument/2006/relationships/slide" Target="slides/slide120.xml"/><Relationship Id="rId188" Type="http://schemas.openxmlformats.org/officeDocument/2006/relationships/slide" Target="slides/slide141.xml"/><Relationship Id="rId71" Type="http://schemas.openxmlformats.org/officeDocument/2006/relationships/slide" Target="slides/slide24.xml"/><Relationship Id="rId92" Type="http://schemas.openxmlformats.org/officeDocument/2006/relationships/slide" Target="slides/slide45.xml"/><Relationship Id="rId213" Type="http://schemas.openxmlformats.org/officeDocument/2006/relationships/slide" Target="slides/slide166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40" Type="http://schemas.openxmlformats.org/officeDocument/2006/relationships/slideMaster" Target="slideMasters/slideMaster40.xml"/><Relationship Id="rId115" Type="http://schemas.openxmlformats.org/officeDocument/2006/relationships/slide" Target="slides/slide68.xml"/><Relationship Id="rId136" Type="http://schemas.openxmlformats.org/officeDocument/2006/relationships/slide" Target="slides/slide89.xml"/><Relationship Id="rId157" Type="http://schemas.openxmlformats.org/officeDocument/2006/relationships/slide" Target="slides/slide110.xml"/><Relationship Id="rId178" Type="http://schemas.openxmlformats.org/officeDocument/2006/relationships/slide" Target="slides/slide131.xml"/><Relationship Id="rId61" Type="http://schemas.openxmlformats.org/officeDocument/2006/relationships/slide" Target="slides/slide14.xml"/><Relationship Id="rId82" Type="http://schemas.openxmlformats.org/officeDocument/2006/relationships/slide" Target="slides/slide35.xml"/><Relationship Id="rId199" Type="http://schemas.openxmlformats.org/officeDocument/2006/relationships/slide" Target="slides/slide152.xml"/><Relationship Id="rId203" Type="http://schemas.openxmlformats.org/officeDocument/2006/relationships/slide" Target="slides/slide156.xml"/><Relationship Id="rId19" Type="http://schemas.openxmlformats.org/officeDocument/2006/relationships/slideMaster" Target="slideMasters/slideMaster19.xml"/><Relationship Id="rId224" Type="http://schemas.openxmlformats.org/officeDocument/2006/relationships/theme" Target="theme/theme1.xml"/><Relationship Id="rId30" Type="http://schemas.openxmlformats.org/officeDocument/2006/relationships/slideMaster" Target="slideMasters/slideMaster30.xml"/><Relationship Id="rId105" Type="http://schemas.openxmlformats.org/officeDocument/2006/relationships/slide" Target="slides/slide58.xml"/><Relationship Id="rId126" Type="http://schemas.openxmlformats.org/officeDocument/2006/relationships/slide" Target="slides/slide79.xml"/><Relationship Id="rId147" Type="http://schemas.openxmlformats.org/officeDocument/2006/relationships/slide" Target="slides/slide100.xml"/><Relationship Id="rId168" Type="http://schemas.openxmlformats.org/officeDocument/2006/relationships/slide" Target="slides/slide121.xml"/><Relationship Id="rId51" Type="http://schemas.openxmlformats.org/officeDocument/2006/relationships/slide" Target="slides/slide4.xml"/><Relationship Id="rId72" Type="http://schemas.openxmlformats.org/officeDocument/2006/relationships/slide" Target="slides/slide25.xml"/><Relationship Id="rId93" Type="http://schemas.openxmlformats.org/officeDocument/2006/relationships/slide" Target="slides/slide46.xml"/><Relationship Id="rId189" Type="http://schemas.openxmlformats.org/officeDocument/2006/relationships/slide" Target="slides/slide14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784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F5D96-4FFD-4684-ADDE-95B74EFA44E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6FCB0-0490-4B37-A906-85A86FC9E3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eedin.in/software/Windows.html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itchFamily="34" charset="0"/>
            </a:endParaRPr>
          </a:p>
        </p:txBody>
      </p:sp>
      <p:sp>
        <p:nvSpPr>
          <p:cNvPr id="34820" name="投影片編號版面配置區 3"/>
          <p:cNvSpPr txBox="1">
            <a:spLocks noGrp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6494D8A4-DF6E-4F57-A411-8CB42FE33644}" type="slidenum">
              <a:rPr lang="en-US" altLang="zh-TW" sz="1200" smtClean="0">
                <a:solidFill>
                  <a:srgbClr val="000000"/>
                </a:solidFill>
              </a:rPr>
              <a:t>1</a:t>
            </a:fld>
            <a:endParaRPr lang="en-US" altLang="zh-TW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8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02604B-1741-4160-81B0-24635089A25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478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集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線器：將多條乙太網路雙絞線，</a:t>
            </a:r>
            <a:r>
              <a:rPr lang="zh-TW" altLang="en-US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集合連接在同一段下的裝置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，直接用來連結電腦設備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spcBef>
                <a:spcPct val="0"/>
              </a:spcBef>
            </a:pPr>
            <a:r>
              <a:rPr lang="zh-TW" altLang="en-US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橋接器：用來連接二個或多個相同或不相同型態的區域網路</a:t>
            </a:r>
            <a:endParaRPr lang="en-US" altLang="zh-TW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spcBef>
                <a:spcPct val="0"/>
              </a:spcBef>
            </a:pPr>
            <a:r>
              <a:rPr lang="zh-TW" altLang="en-US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交換器：將多台電腦互連，組成區網</a:t>
            </a:r>
            <a:endParaRPr lang="en-US" altLang="zh-TW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spcBef>
                <a:spcPct val="0"/>
              </a:spcBef>
            </a:pPr>
            <a:r>
              <a:rPr lang="zh-TW" altLang="en-US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路由器：用來串接交換器，規劃網路區域</a:t>
            </a:r>
            <a:r>
              <a:rPr lang="zh-TW" altLang="en-US" dirty="0">
                <a:solidFill>
                  <a:srgbClr val="FFFF00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endParaRPr lang="en-US" altLang="zh-TW" dirty="0">
              <a:latin typeface="Arial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TW" altLang="en-US" dirty="0">
                <a:latin typeface="Arial" pitchFamily="34" charset="0"/>
              </a:rPr>
              <a:t>有線網路媒介常見的有銅線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、光纖，二者傳遞訊不一樣，銅線使用電壓，光纖使用光的折射；無線網路媒介是以電磁波</a:t>
            </a:r>
            <a:endParaRPr lang="en-US" altLang="zh-TW" dirty="0">
              <a:solidFill>
                <a:srgbClr val="FFFF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45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DBE0D1-623E-4104-B3AE-63C644E3A8D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03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>
              <a:latin typeface="Arial" pitchFamily="34" charset="0"/>
            </a:endParaRPr>
          </a:p>
        </p:txBody>
      </p:sp>
      <p:sp>
        <p:nvSpPr>
          <p:cNvPr id="266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2B9B43-442A-4774-9F32-FD51475B5DD5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24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70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>
              <a:latin typeface="新細明體" pitchFamily="18" charset="-12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92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>
              <a:latin typeface="新細明體" pitchFamily="18" charset="-120"/>
            </a:endParaRPr>
          </a:p>
        </p:txBody>
      </p:sp>
      <p:sp>
        <p:nvSpPr>
          <p:cNvPr id="286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71D907-2645-4956-AE6C-2135261B5E9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07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為交換器的</a:t>
            </a:r>
            <a:r>
              <a:rPr lang="zh-TW" altLang="en-US" b="1" dirty="0" smtClean="0">
                <a:latin typeface="微軟正黑體" pitchFamily="34" charset="-120"/>
                <a:ea typeface="微軟正黑體" pitchFamily="34" charset="-120"/>
              </a:rPr>
              <a:t>前身</a:t>
            </a:r>
            <a:endParaRPr lang="en-US" altLang="zh-TW" b="1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b="1" dirty="0" smtClean="0">
              <a:latin typeface="微軟正黑體" pitchFamily="34" charset="-120"/>
              <a:ea typeface="微軟正黑體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12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798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7E31FD-7D31-4D87-957E-682629C3A62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203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942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C5951-DC1B-47DC-B03A-E836118B02C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538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新細明體" pitchFamily="18" charset="-120"/>
              </a:rPr>
              <a:t>工作項目二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163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新細明體" pitchFamily="18" charset="-120"/>
              </a:rPr>
              <a:t>165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新細明體" pitchFamily="18" charset="-120"/>
              </a:rPr>
              <a:t>172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184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219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339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358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379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廠商要生產</a:t>
            </a:r>
            <a:r>
              <a:rPr lang="en-US" altLang="zh-TW" dirty="0" smtClean="0">
                <a:latin typeface="新細明體" pitchFamily="18" charset="-120"/>
              </a:rPr>
              <a:t>ROUTER </a:t>
            </a:r>
            <a:r>
              <a:rPr lang="zh-TW" altLang="en-US" dirty="0" smtClean="0">
                <a:latin typeface="新細明體" pitchFamily="18" charset="-120"/>
              </a:rPr>
              <a:t>要參考網路層規範    封包裡面是有</a:t>
            </a:r>
            <a:r>
              <a:rPr lang="en-US" altLang="zh-TW" dirty="0" smtClean="0">
                <a:latin typeface="新細明體" pitchFamily="18" charset="-120"/>
              </a:rPr>
              <a:t>IP</a:t>
            </a:r>
            <a:r>
              <a:rPr lang="zh-TW" altLang="en-US" dirty="0" smtClean="0">
                <a:latin typeface="新細明體" pitchFamily="18" charset="-120"/>
              </a:rPr>
              <a:t>資訊</a:t>
            </a:r>
            <a:endParaRPr lang="en-US" altLang="zh-TW" dirty="0" smtClean="0">
              <a:latin typeface="新細明體" pitchFamily="18" charset="-120"/>
            </a:endParaRPr>
          </a:p>
          <a:p>
            <a:pPr lvl="0">
              <a:defRPr/>
            </a:pPr>
            <a:r>
              <a:rPr lang="zh-TW" altLang="en-US" dirty="0" smtClean="0">
                <a:latin typeface="新細明體" pitchFamily="18" charset="-120"/>
              </a:rPr>
              <a:t>廠商要生產</a:t>
            </a:r>
            <a:r>
              <a:rPr lang="en-US" altLang="zh-TW" dirty="0" smtClean="0">
                <a:latin typeface="新細明體" pitchFamily="18" charset="-120"/>
              </a:rPr>
              <a:t>SWITCH </a:t>
            </a:r>
            <a:r>
              <a:rPr lang="zh-TW" altLang="en-US" dirty="0" smtClean="0">
                <a:latin typeface="新細明體" pitchFamily="18" charset="-120"/>
              </a:rPr>
              <a:t>要參考網路層規範     訊框裡面是有</a:t>
            </a:r>
            <a:r>
              <a:rPr lang="en-US" altLang="zh-TW" dirty="0" smtClean="0">
                <a:latin typeface="新細明體" pitchFamily="18" charset="-120"/>
              </a:rPr>
              <a:t>MAC</a:t>
            </a:r>
            <a:r>
              <a:rPr lang="zh-TW" altLang="en-US" dirty="0" smtClean="0">
                <a:latin typeface="新細明體" pitchFamily="18" charset="-120"/>
              </a:rPr>
              <a:t>資訊　它是一个用來确认網路設備位置的位址。</a:t>
            </a:r>
            <a:endParaRPr lang="en-US" altLang="zh-TW" dirty="0" smtClean="0">
              <a:latin typeface="新細明體" pitchFamily="18" charset="-120"/>
            </a:endParaRPr>
          </a:p>
          <a:p>
            <a:pPr lvl="0">
              <a:defRPr/>
            </a:pPr>
            <a:r>
              <a:rPr lang="zh-TW" altLang="en-US" dirty="0" smtClean="0"/>
              <a:t>封包是能夠在網路上面進行傳輸的最小資訊單位。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訊框：將自網路層收到的位元串流分割成可管理的資料單元稱為訊框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對話：半雙工（單向）　全雙工（雙向） 同步：允許程序加入檢查點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轉譯：由於不同的電腦使用不同的編碼系統，展現層的工作就是負責不同編碼的互動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程序：是在主機上執行的應用程式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zh-TW" altLang="en-US" dirty="0" smtClean="0">
                <a:latin typeface="新細明體" pitchFamily="18" charset="-120"/>
              </a:rPr>
              <a:t>應用層：郵件服務　目錄服務　檔案傳輸存取與管理　網路虛擬終端機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en-US" altLang="zh-TW" dirty="0" smtClean="0">
                <a:latin typeface="新細明體" pitchFamily="18" charset="-120"/>
              </a:rPr>
              <a:t>Mac</a:t>
            </a:r>
            <a:r>
              <a:rPr lang="zh-TW" altLang="en-US" dirty="0" smtClean="0">
                <a:latin typeface="新細明體" pitchFamily="18" charset="-120"/>
              </a:rPr>
              <a:t>位址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en-US" altLang="zh-TW" dirty="0" smtClean="0">
                <a:latin typeface="新細明體" pitchFamily="18" charset="-120"/>
              </a:rPr>
              <a:t>IP</a:t>
            </a:r>
            <a:r>
              <a:rPr lang="zh-TW" altLang="en-US" dirty="0" smtClean="0">
                <a:latin typeface="新細明體" pitchFamily="18" charset="-120"/>
              </a:rPr>
              <a:t>位址</a:t>
            </a:r>
            <a:endParaRPr lang="en-US" altLang="zh-TW" dirty="0" smtClean="0">
              <a:latin typeface="新細明體" pitchFamily="18" charset="-120"/>
            </a:endParaRPr>
          </a:p>
          <a:p>
            <a:r>
              <a:rPr lang="en-US" altLang="zh-TW" dirty="0" smtClean="0">
                <a:latin typeface="新細明體" pitchFamily="18" charset="-120"/>
              </a:rPr>
              <a:t>Port number</a:t>
            </a:r>
          </a:p>
          <a:p>
            <a:endParaRPr lang="en-US" altLang="zh-TW" dirty="0" smtClean="0">
              <a:latin typeface="新細明體" pitchFamily="18" charset="-12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02604B-1741-4160-81B0-24635089A25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816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22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C77FCD26-5D01-4670-8BCB-4B42C2EFD08E}" type="slidenum">
              <a:rPr lang="en-US" altLang="zh-TW" smtClean="0">
                <a:solidFill>
                  <a:srgbClr val="000000"/>
                </a:solidFill>
              </a:rPr>
              <a:t>10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83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22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C77FCD26-5D01-4670-8BCB-4B42C2EFD08E}" type="slidenum">
              <a:rPr lang="en-US" altLang="zh-TW" smtClean="0">
                <a:solidFill>
                  <a:srgbClr val="000000"/>
                </a:solidFill>
              </a:rPr>
              <a:t>11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491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12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665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13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465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14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981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C521662-19B2-4F96-BE79-C0EC81802182}" type="slidenum">
              <a:rPr lang="en-US" altLang="zh-TW" smtClean="0">
                <a:solidFill>
                  <a:srgbClr val="000000"/>
                </a:solidFill>
              </a:rPr>
              <a:t>15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554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167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Arial" pitchFamily="34" charset="0"/>
              </a:rPr>
              <a:t>169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>
              <a:latin typeface="Arial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defRPr/>
            </a:pPr>
            <a:fld id="{A7F136BC-F03F-4F7B-B653-6783D2F539DF}" type="slidenum">
              <a:rPr lang="en-US" altLang="zh-TW" smtClean="0">
                <a:solidFill>
                  <a:srgbClr val="000000"/>
                </a:solidFill>
              </a:rPr>
              <a:t>16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17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166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370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C521662-19B2-4F96-BE79-C0EC81802182}" type="slidenum">
              <a:rPr lang="en-US" altLang="zh-TW" smtClean="0">
                <a:solidFill>
                  <a:srgbClr val="000000"/>
                </a:solidFill>
              </a:rPr>
              <a:t>17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66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C521662-19B2-4F96-BE79-C0EC81802182}" type="slidenum">
              <a:rPr lang="en-US" altLang="zh-TW" smtClean="0">
                <a:solidFill>
                  <a:srgbClr val="000000"/>
                </a:solidFill>
              </a:rPr>
              <a:t>18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298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170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Arial" pitchFamily="34" charset="0"/>
              </a:rPr>
              <a:t>235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19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8060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169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新細明體" pitchFamily="18" charset="-120"/>
              </a:rPr>
              <a:t>178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186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343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344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957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2956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947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329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269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5329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075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494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28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2067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175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工作項目二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365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>
              <a:latin typeface="Arial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A7F136BC-F03F-4F7B-B653-6783D2F539DF}" type="slidenum">
              <a:rPr lang="en-US" altLang="zh-TW" smtClean="0">
                <a:solidFill>
                  <a:srgbClr val="000000"/>
                </a:solidFill>
              </a:rPr>
              <a:t>29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795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181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Arial" pitchFamily="34" charset="0"/>
              </a:rPr>
              <a:t>369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zh-TW" altLang="en-US" dirty="0">
              <a:latin typeface="Arial" pitchFamily="34" charset="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5156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181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Arial" pitchFamily="34" charset="0"/>
              </a:rPr>
              <a:t>183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zh-TW" altLang="en-US" dirty="0">
              <a:latin typeface="Arial" pitchFamily="34" charset="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501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72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236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356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>
              <a:latin typeface="Arial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32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6260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73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236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350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356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33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633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73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350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dirty="0" smtClean="0">
                <a:latin typeface="新細明體" pitchFamily="18" charset="-120"/>
              </a:rPr>
              <a:t>KK </a:t>
            </a:r>
            <a:r>
              <a:rPr lang="en-US" altLang="zh-TW" dirty="0">
                <a:latin typeface="新細明體" pitchFamily="18" charset="-120"/>
              </a:rPr>
              <a:t>[ˋ</a:t>
            </a:r>
            <a:r>
              <a:rPr lang="en-US" altLang="zh-TW" dirty="0" err="1">
                <a:latin typeface="新細明體" pitchFamily="18" charset="-120"/>
              </a:rPr>
              <a:t>ɑrɪɛntɪd</a:t>
            </a:r>
            <a:r>
              <a:rPr lang="en-US" altLang="zh-TW" dirty="0">
                <a:latin typeface="新細明體" pitchFamily="18" charset="-120"/>
              </a:rPr>
              <a:t>] DJ [ˋ</a:t>
            </a:r>
            <a:r>
              <a:rPr lang="en-US" altLang="zh-TW" dirty="0" err="1">
                <a:latin typeface="新細明體" pitchFamily="18" charset="-120"/>
              </a:rPr>
              <a:t>ɔ:rientid</a:t>
            </a:r>
            <a:r>
              <a:rPr lang="en-US" altLang="zh-TW" dirty="0">
                <a:latin typeface="新細明體" pitchFamily="18" charset="-120"/>
              </a:rPr>
              <a:t>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>
              <a:latin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>
                <a:latin typeface="新細明體" pitchFamily="18" charset="-120"/>
              </a:rPr>
              <a:t>經由連線請求、連線確認、連線成功的程序，便形成了三向式的握手程序</a:t>
            </a:r>
            <a:r>
              <a:rPr lang="en-US" altLang="zh-TW" dirty="0">
                <a:latin typeface="新細明體" pitchFamily="18" charset="-120"/>
              </a:rPr>
              <a:t>(3-way handshaking)</a:t>
            </a:r>
            <a:r>
              <a:rPr lang="zh-TW" altLang="en-US" dirty="0">
                <a:latin typeface="新細明體" pitchFamily="18" charset="-120"/>
              </a:rPr>
              <a:t>，而傳輸要結束時也是採用類似的程序。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>
                <a:latin typeface="新細明體" pitchFamily="18" charset="-120"/>
              </a:rPr>
              <a:t>要建立一個</a:t>
            </a:r>
            <a:r>
              <a:rPr lang="en-US" altLang="zh-TW" dirty="0">
                <a:latin typeface="新細明體" pitchFamily="18" charset="-120"/>
              </a:rPr>
              <a:t>TCP</a:t>
            </a:r>
            <a:r>
              <a:rPr lang="zh-TW" altLang="en-US" dirty="0">
                <a:latin typeface="新細明體" pitchFamily="18" charset="-120"/>
              </a:rPr>
              <a:t>連線時，利用封包內的同步旗標</a:t>
            </a:r>
            <a:r>
              <a:rPr lang="en-US" altLang="zh-TW" dirty="0">
                <a:latin typeface="新細明體" pitchFamily="18" charset="-120"/>
              </a:rPr>
              <a:t>(SYN , Synchronize)</a:t>
            </a:r>
            <a:r>
              <a:rPr lang="zh-TW" altLang="en-US" dirty="0">
                <a:latin typeface="新細明體" pitchFamily="18" charset="-120"/>
              </a:rPr>
              <a:t>欄位設為</a:t>
            </a:r>
            <a:r>
              <a:rPr lang="en-US" altLang="zh-TW" dirty="0">
                <a:latin typeface="新細明體" pitchFamily="18" charset="-120"/>
              </a:rPr>
              <a:t>1</a:t>
            </a:r>
            <a:r>
              <a:rPr lang="zh-TW" altLang="en-US" dirty="0">
                <a:latin typeface="新細明體" pitchFamily="18" charset="-120"/>
              </a:rPr>
              <a:t>，其它欄位為</a:t>
            </a:r>
            <a:r>
              <a:rPr lang="en-US" altLang="zh-TW" dirty="0">
                <a:latin typeface="新細明體" pitchFamily="18" charset="-120"/>
              </a:rPr>
              <a:t>0</a:t>
            </a:r>
            <a:r>
              <a:rPr lang="zh-TW" altLang="en-US" dirty="0">
                <a:latin typeface="新細明體" pitchFamily="18" charset="-120"/>
              </a:rPr>
              <a:t>，讓另一端的系統知道有人希望與他建立連線。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>
                <a:latin typeface="新細明體" pitchFamily="18" charset="-120"/>
              </a:rPr>
              <a:t>接收端收到這連線封包，並確認提供這個服務，它會將要回傳的封包</a:t>
            </a:r>
            <a:r>
              <a:rPr lang="en-US" altLang="zh-TW" dirty="0">
                <a:latin typeface="新細明體" pitchFamily="18" charset="-120"/>
              </a:rPr>
              <a:t>SYN</a:t>
            </a:r>
            <a:r>
              <a:rPr lang="zh-TW" altLang="en-US" dirty="0">
                <a:latin typeface="新細明體" pitchFamily="18" charset="-120"/>
              </a:rPr>
              <a:t>旗標欄位設為</a:t>
            </a:r>
            <a:r>
              <a:rPr lang="en-US" altLang="zh-TW" dirty="0">
                <a:latin typeface="新細明體" pitchFamily="18" charset="-120"/>
              </a:rPr>
              <a:t>1</a:t>
            </a:r>
            <a:r>
              <a:rPr lang="zh-TW" altLang="en-US" dirty="0">
                <a:latin typeface="新細明體" pitchFamily="18" charset="-120"/>
              </a:rPr>
              <a:t>，也會將確認旗標</a:t>
            </a:r>
            <a:r>
              <a:rPr lang="en-US" altLang="zh-TW" dirty="0">
                <a:latin typeface="新細明體" pitchFamily="18" charset="-120"/>
              </a:rPr>
              <a:t>(ACK, Acknowledge) </a:t>
            </a:r>
            <a:r>
              <a:rPr lang="zh-TW" altLang="en-US" dirty="0">
                <a:latin typeface="新細明體" pitchFamily="18" charset="-120"/>
              </a:rPr>
              <a:t>欄位設為</a:t>
            </a:r>
            <a:r>
              <a:rPr lang="en-US" altLang="zh-TW" dirty="0">
                <a:latin typeface="新細明體" pitchFamily="18" charset="-120"/>
              </a:rPr>
              <a:t>1</a:t>
            </a:r>
            <a:r>
              <a:rPr lang="zh-TW" altLang="en-US" dirty="0">
                <a:latin typeface="新細明體" pitchFamily="18" charset="-120"/>
              </a:rPr>
              <a:t>，讓傳送端知道它的傳輸已被收到且確認。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>
                <a:latin typeface="新細明體" pitchFamily="18" charset="-120"/>
              </a:rPr>
              <a:t>然後原系統會將</a:t>
            </a:r>
            <a:r>
              <a:rPr lang="en-US" altLang="zh-TW" dirty="0">
                <a:latin typeface="新細明體" pitchFamily="18" charset="-120"/>
              </a:rPr>
              <a:t>SYN</a:t>
            </a:r>
            <a:r>
              <a:rPr lang="zh-TW" altLang="en-US" dirty="0">
                <a:latin typeface="新細明體" pitchFamily="18" charset="-120"/>
              </a:rPr>
              <a:t>旗標欄位設為</a:t>
            </a:r>
            <a:r>
              <a:rPr lang="en-US" altLang="zh-TW" dirty="0">
                <a:latin typeface="新細明體" pitchFamily="18" charset="-120"/>
              </a:rPr>
              <a:t>0</a:t>
            </a:r>
            <a:r>
              <a:rPr lang="zh-TW" altLang="en-US" dirty="0">
                <a:latin typeface="新細明體" pitchFamily="18" charset="-120"/>
              </a:rPr>
              <a:t>，確認旗標</a:t>
            </a:r>
            <a:r>
              <a:rPr lang="en-US" altLang="zh-TW" dirty="0">
                <a:latin typeface="新細明體" pitchFamily="18" charset="-120"/>
              </a:rPr>
              <a:t>(ACK) </a:t>
            </a:r>
            <a:r>
              <a:rPr lang="zh-TW" altLang="en-US" dirty="0">
                <a:latin typeface="新細明體" pitchFamily="18" charset="-120"/>
              </a:rPr>
              <a:t>欄位設為</a:t>
            </a:r>
            <a:r>
              <a:rPr lang="en-US" altLang="zh-TW" dirty="0">
                <a:latin typeface="新細明體" pitchFamily="18" charset="-120"/>
              </a:rPr>
              <a:t>1</a:t>
            </a:r>
            <a:r>
              <a:rPr lang="zh-TW" altLang="en-US" dirty="0">
                <a:latin typeface="新細明體" pitchFamily="18" charset="-120"/>
              </a:rPr>
              <a:t>傳回。告知「我已確認你的確認動作，要開始傳送資料了」。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34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9489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工作項目一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238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399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D1B718-0799-4A80-8422-FC653EDB0F5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0340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ea typeface="+mn-ea"/>
              </a:rPr>
              <a:t>第</a:t>
            </a:r>
            <a:r>
              <a:rPr lang="en-US" altLang="zh-TW" dirty="0" smtClean="0">
                <a:ea typeface="+mn-ea"/>
              </a:rPr>
              <a:t>184</a:t>
            </a:r>
            <a:r>
              <a:rPr lang="zh-TW" altLang="en-US" dirty="0" smtClean="0">
                <a:ea typeface="+mn-ea"/>
              </a:rPr>
              <a:t>題</a:t>
            </a:r>
            <a:endParaRPr lang="en-US" altLang="zh-TW" dirty="0" smtClean="0">
              <a:ea typeface="+mn-ea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844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ea typeface="+mn-ea"/>
              </a:rPr>
              <a:t>第</a:t>
            </a:r>
            <a:r>
              <a:rPr lang="en-US" altLang="zh-TW" dirty="0" smtClean="0">
                <a:ea typeface="+mn-ea"/>
              </a:rPr>
              <a:t>185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新細明體" pitchFamily="18" charset="-120"/>
              </a:rPr>
              <a:t>357</a:t>
            </a:r>
            <a:r>
              <a:rPr lang="zh-TW" altLang="en-US" dirty="0" smtClean="0">
                <a:ea typeface="+mn-ea"/>
              </a:rPr>
              <a:t>題</a:t>
            </a:r>
            <a:endParaRPr lang="en-US" altLang="zh-TW" dirty="0" smtClean="0">
              <a:ea typeface="+mn-ea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9635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193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196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題</a:t>
            </a:r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0630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194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197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843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521662-19B2-4F96-BE79-C0EC8180218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39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716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859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工作項目一</a:t>
            </a:r>
            <a:endParaRPr lang="en-US" altLang="zh-TW" dirty="0" smtClean="0">
              <a:latin typeface="新細明體" pitchFamily="18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dirty="0" smtClean="0">
                <a:latin typeface="新細明體" pitchFamily="18" charset="-120"/>
              </a:rPr>
              <a:t>195</a:t>
            </a:r>
            <a:r>
              <a:rPr lang="zh-TW" altLang="en-US" dirty="0" smtClean="0">
                <a:latin typeface="新細明體" pitchFamily="18" charset="-120"/>
              </a:rPr>
              <a:t>題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工作項目二</a:t>
            </a:r>
            <a:endParaRPr lang="en-US" altLang="zh-TW" dirty="0" smtClean="0">
              <a:latin typeface="新細明體" pitchFamily="18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dirty="0" smtClean="0">
                <a:latin typeface="新細明體" pitchFamily="18" charset="-120"/>
              </a:rPr>
              <a:t>357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385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70D7150-8CF1-40FD-9665-812A4D31176C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t>40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0743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dirty="0" smtClean="0">
                <a:latin typeface="新細明體" pitchFamily="18" charset="-120"/>
              </a:rPr>
              <a:t>第</a:t>
            </a:r>
            <a:r>
              <a:rPr lang="en-US" altLang="zh-TW" smtClean="0">
                <a:latin typeface="新細明體" pitchFamily="18" charset="-120"/>
              </a:rPr>
              <a:t>374</a:t>
            </a:r>
            <a:r>
              <a:rPr lang="zh-TW" altLang="en-US" smtClean="0">
                <a:latin typeface="微軟正黑體" pitchFamily="34" charset="-120"/>
                <a:ea typeface="微軟正黑體" pitchFamily="34" charset="-120"/>
              </a:rPr>
              <a:t>題</a:t>
            </a:r>
            <a:endParaRPr lang="en-US" altLang="zh-TW" dirty="0" smtClean="0">
              <a:latin typeface="新細明體" pitchFamily="18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>
              <a:latin typeface="Arial" pitchFamily="34" charset="0"/>
            </a:endParaRPr>
          </a:p>
        </p:txBody>
      </p:sp>
      <p:sp>
        <p:nvSpPr>
          <p:cNvPr id="399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61D1B718-0799-4A80-8422-FC653EDB0F50}" type="slidenum">
              <a:rPr lang="en-US" altLang="zh-TW" smtClean="0">
                <a:solidFill>
                  <a:srgbClr val="000000"/>
                </a:solidFill>
              </a:rPr>
              <a:t>41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0318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工作項目一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90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Arial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>
                <a:latin typeface="Arial" pitchFamily="34" charset="0"/>
              </a:rPr>
              <a:t>第</a:t>
            </a:r>
            <a:r>
              <a:rPr lang="en-US" altLang="zh-TW" dirty="0">
                <a:latin typeface="Arial" pitchFamily="34" charset="0"/>
              </a:rPr>
              <a:t>8</a:t>
            </a:r>
            <a:r>
              <a:rPr lang="zh-TW" altLang="en-US" dirty="0">
                <a:latin typeface="Arial" pitchFamily="34" charset="0"/>
              </a:rPr>
              <a:t>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Arial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>
                <a:latin typeface="Arial" pitchFamily="34" charset="0"/>
              </a:rPr>
              <a:t>殼層（英語：</a:t>
            </a:r>
            <a:r>
              <a:rPr lang="en-US" altLang="zh-TW" dirty="0">
                <a:latin typeface="Arial" pitchFamily="34" charset="0"/>
              </a:rPr>
              <a:t>shell</a:t>
            </a:r>
            <a:r>
              <a:rPr lang="zh-TW" altLang="en-US" dirty="0">
                <a:latin typeface="Arial" pitchFamily="34" charset="0"/>
              </a:rPr>
              <a:t>）指「為使用者提供使用者介面」的軟體，通常指的是命令列介面的解析器。</a:t>
            </a:r>
            <a:endParaRPr lang="en-US" altLang="zh-TW" dirty="0">
              <a:latin typeface="Arial" pitchFamily="34" charset="0"/>
            </a:endParaRPr>
          </a:p>
        </p:txBody>
      </p:sp>
      <p:sp>
        <p:nvSpPr>
          <p:cNvPr id="686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D232695-3B53-4DB9-A901-C46A4B1E65FD}" type="slidenum">
              <a:rPr lang="en-US" altLang="zh-TW" smtClean="0">
                <a:solidFill>
                  <a:srgbClr val="000000"/>
                </a:solidFill>
              </a:rPr>
              <a:t>42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650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smtClean="0">
                <a:latin typeface="Arial" pitchFamily="34" charset="0"/>
              </a:rPr>
              <a:t>25</a:t>
            </a:r>
            <a:r>
              <a:rPr lang="zh-TW" altLang="en-US" smtClean="0">
                <a:latin typeface="Arial" pitchFamily="34" charset="0"/>
              </a:rPr>
              <a:t>題</a:t>
            </a:r>
            <a:endParaRPr lang="zh-TW" altLang="en-US" dirty="0" smtClean="0">
              <a:latin typeface="Arial" pitchFamily="34" charset="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en-US" altLang="zh-TW" dirty="0" smtClean="0">
                <a:latin typeface="新細明體" panose="02020500000000000000" pitchFamily="18" charset="-120"/>
              </a:rPr>
              <a:t>4bit </a:t>
            </a:r>
            <a:r>
              <a:rPr lang="en-US" altLang="zh-TW" dirty="0" err="1" smtClean="0">
                <a:latin typeface="新細明體" panose="02020500000000000000" pitchFamily="18" charset="-120"/>
              </a:rPr>
              <a:t>4bit</a:t>
            </a:r>
            <a:r>
              <a:rPr lang="en-US" altLang="zh-TW" dirty="0" smtClean="0">
                <a:latin typeface="新細明體" panose="02020500000000000000" pitchFamily="18" charset="-120"/>
              </a:rPr>
              <a:t> </a:t>
            </a:r>
            <a:r>
              <a:rPr lang="en-US" altLang="zh-TW" dirty="0" err="1" smtClean="0">
                <a:latin typeface="新細明體" panose="02020500000000000000" pitchFamily="18" charset="-120"/>
              </a:rPr>
              <a:t>4bit</a:t>
            </a:r>
            <a:r>
              <a:rPr lang="en-US" altLang="zh-TW" dirty="0" smtClean="0">
                <a:latin typeface="新細明體" panose="02020500000000000000" pitchFamily="18" charset="-120"/>
              </a:rPr>
              <a:t> </a:t>
            </a:r>
            <a:r>
              <a:rPr lang="en-US" altLang="zh-TW" dirty="0" err="1" smtClean="0">
                <a:latin typeface="新細明體" panose="02020500000000000000" pitchFamily="18" charset="-120"/>
              </a:rPr>
              <a:t>4bit</a:t>
            </a:r>
            <a:r>
              <a:rPr lang="en-US" altLang="zh-TW" dirty="0" smtClean="0">
                <a:latin typeface="新細明體" panose="02020500000000000000" pitchFamily="18" charset="-120"/>
              </a:rPr>
              <a:t>    16*8=128</a:t>
            </a:r>
          </a:p>
          <a:p>
            <a:r>
              <a:rPr lang="zh-TW" altLang="en-US" dirty="0" smtClean="0">
                <a:latin typeface="Arial" panose="020B0604020202020204" pitchFamily="34" charset="0"/>
              </a:rPr>
              <a:t>網際網路通訊協定第</a:t>
            </a:r>
            <a:r>
              <a:rPr lang="en-US" altLang="zh-TW" dirty="0" smtClean="0">
                <a:latin typeface="Arial" panose="020B0604020202020204" pitchFamily="34" charset="0"/>
              </a:rPr>
              <a:t>6</a:t>
            </a:r>
            <a:r>
              <a:rPr lang="zh-TW" altLang="en-US" dirty="0" smtClean="0">
                <a:latin typeface="Arial" panose="020B0604020202020204" pitchFamily="34" charset="0"/>
              </a:rPr>
              <a:t>版（英文：</a:t>
            </a:r>
            <a:r>
              <a:rPr lang="en-US" altLang="zh-TW" dirty="0" smtClean="0">
                <a:latin typeface="Arial" panose="020B0604020202020204" pitchFamily="34" charset="0"/>
              </a:rPr>
              <a:t>Internet Protocol version 6</a:t>
            </a:r>
            <a:r>
              <a:rPr lang="zh-TW" altLang="en-US" dirty="0" smtClean="0">
                <a:latin typeface="Arial" panose="020B0604020202020204" pitchFamily="34" charset="0"/>
              </a:rPr>
              <a:t>，縮寫：</a:t>
            </a:r>
            <a:r>
              <a:rPr lang="en-US" altLang="zh-TW" dirty="0" smtClean="0">
                <a:latin typeface="Arial" panose="020B0604020202020204" pitchFamily="34" charset="0"/>
              </a:rPr>
              <a:t>IPv6</a:t>
            </a:r>
            <a:r>
              <a:rPr lang="zh-TW" altLang="en-US" dirty="0" smtClean="0">
                <a:latin typeface="Arial" panose="020B0604020202020204" pitchFamily="34" charset="0"/>
              </a:rPr>
              <a:t>）是網際網路協定的最新版本，用於封包交換網際網路的網路層協議，旨在解決</a:t>
            </a:r>
            <a:r>
              <a:rPr lang="en-US" altLang="zh-TW" dirty="0" smtClean="0">
                <a:latin typeface="Arial" panose="020B0604020202020204" pitchFamily="34" charset="0"/>
              </a:rPr>
              <a:t>IPv4</a:t>
            </a:r>
            <a:r>
              <a:rPr lang="zh-TW" altLang="en-US" dirty="0" smtClean="0">
                <a:latin typeface="Arial" panose="020B0604020202020204" pitchFamily="34" charset="0"/>
              </a:rPr>
              <a:t>位址枯竭問題。</a:t>
            </a:r>
            <a:endParaRPr lang="en-US" altLang="zh-TW" dirty="0" smtClean="0">
              <a:latin typeface="新細明體" panose="02020500000000000000" pitchFamily="18" charset="-120"/>
            </a:endParaRPr>
          </a:p>
        </p:txBody>
      </p:sp>
      <p:sp>
        <p:nvSpPr>
          <p:cNvPr id="5580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9139BA55-2759-4C93-9C90-94FEB99EECBA}" type="slidenum">
              <a:rPr lang="en-US" altLang="zh-TW" smtClean="0">
                <a:solidFill>
                  <a:srgbClr val="000000"/>
                </a:solidFill>
              </a:rPr>
              <a:pPr/>
              <a:t>43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5560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>
                <a:latin typeface="Arial" pitchFamily="34" charset="0"/>
              </a:rPr>
              <a:t>工作項目一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>
                <a:latin typeface="Arial" pitchFamily="34" charset="0"/>
              </a:rPr>
              <a:t>第</a:t>
            </a:r>
            <a:r>
              <a:rPr lang="en-US" altLang="zh-TW" dirty="0">
                <a:latin typeface="Arial" pitchFamily="34" charset="0"/>
              </a:rPr>
              <a:t>89</a:t>
            </a:r>
            <a:r>
              <a:rPr lang="zh-TW" altLang="en-US" dirty="0">
                <a:latin typeface="Arial" pitchFamily="34" charset="0"/>
              </a:rPr>
              <a:t>題</a:t>
            </a:r>
            <a:endParaRPr lang="en-US" altLang="zh-TW" dirty="0">
              <a:latin typeface="Arial" pitchFamily="34" charset="0"/>
            </a:endParaRPr>
          </a:p>
        </p:txBody>
      </p:sp>
      <p:sp>
        <p:nvSpPr>
          <p:cNvPr id="686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9D232695-3B53-4DB9-A901-C46A4B1E65FD}" type="slidenum">
              <a:rPr lang="en-US" altLang="zh-TW" smtClean="0">
                <a:solidFill>
                  <a:srgbClr val="000000"/>
                </a:solidFill>
              </a:rPr>
              <a:t>44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685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</a:rPr>
              <a:t>https://free.com.tw/vpn-gate-client/</a:t>
            </a:r>
          </a:p>
        </p:txBody>
      </p:sp>
      <p:sp>
        <p:nvSpPr>
          <p:cNvPr id="1228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E2647B-9005-4604-A110-071A38DA2FD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4715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smtClean="0">
              <a:latin typeface="Arial" panose="020B0604020202020204" pitchFamily="34" charset="0"/>
            </a:endParaRPr>
          </a:p>
        </p:txBody>
      </p:sp>
      <p:sp>
        <p:nvSpPr>
          <p:cNvPr id="1249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4B5509-3B7B-4955-9BBD-08E8DBB802F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70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smtClean="0">
              <a:latin typeface="Arial" panose="020B0604020202020204" pitchFamily="34" charset="0"/>
            </a:endParaRPr>
          </a:p>
        </p:txBody>
      </p:sp>
      <p:sp>
        <p:nvSpPr>
          <p:cNvPr id="1269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426321-305C-468B-859B-6E942B3EB09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1876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smtClean="0">
              <a:latin typeface="Arial" panose="020B0604020202020204" pitchFamily="34" charset="0"/>
            </a:endParaRPr>
          </a:p>
        </p:txBody>
      </p:sp>
      <p:sp>
        <p:nvSpPr>
          <p:cNvPr id="1290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D1D810-A89C-4A9F-90E7-4554C9CE91E5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6361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smtClean="0">
              <a:latin typeface="Arial" panose="020B0604020202020204" pitchFamily="34" charset="0"/>
            </a:endParaRPr>
          </a:p>
        </p:txBody>
      </p:sp>
      <p:sp>
        <p:nvSpPr>
          <p:cNvPr id="1310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FF8E6B-75EE-41EF-8CC9-4144305B67D5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1007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 smtClean="0">
                <a:hlinkClick r:id="rId3"/>
              </a:rPr>
              <a:t>https://www.speedin.in/software/Windows.html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331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2982A9-4867-48E6-A544-087F594E380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4341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02604B-1741-4160-81B0-24635089A25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51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3676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>
                <a:latin typeface="Arial" pitchFamily="34" charset="0"/>
              </a:rPr>
              <a:t>66</a:t>
            </a:r>
            <a:r>
              <a:rPr lang="zh-TW" altLang="en-US" dirty="0">
                <a:latin typeface="Arial" pitchFamily="34" charset="0"/>
              </a:rPr>
              <a:t>題</a:t>
            </a:r>
            <a:endParaRPr lang="en-US" altLang="zh-TW" dirty="0">
              <a:latin typeface="Arial" pitchFamily="34" charset="0"/>
            </a:endParaRPr>
          </a:p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fld id="{57E809F8-C92D-427D-8DAA-E116C343C7CC}" type="slidenum">
              <a:rPr lang="en-US" altLang="zh-TW" smtClean="0">
                <a:solidFill>
                  <a:srgbClr val="000000"/>
                </a:solidFill>
              </a:rPr>
              <a:t>52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9105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2457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73C046-4AF7-470B-B6E5-88815A2C5C0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7539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2457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73C046-4AF7-470B-B6E5-88815A2C5C0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38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投影片圖像版面配置區 1">
            <a:extLst>
              <a:ext uri="{FF2B5EF4-FFF2-40B4-BE49-F238E27FC236}">
                <a16:creationId xmlns:a16="http://schemas.microsoft.com/office/drawing/2014/main" id="{2E4A18F7-E7D5-4EE1-8D3B-9B25904B06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6179" name="備忘稿版面配置區 2">
            <a:extLst>
              <a:ext uri="{FF2B5EF4-FFF2-40B4-BE49-F238E27FC236}">
                <a16:creationId xmlns:a16="http://schemas.microsoft.com/office/drawing/2014/main" id="{69BFE662-5EDE-4DB3-9F6F-75CD786A9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Code for Information Interchange</a:t>
            </a:r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306180" name="投影片編號版面配置區 3">
            <a:extLst>
              <a:ext uri="{FF2B5EF4-FFF2-40B4-BE49-F238E27FC236}">
                <a16:creationId xmlns:a16="http://schemas.microsoft.com/office/drawing/2014/main" id="{D02B70C9-003C-4B9F-865A-82CD817F0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6D633F-AE3D-462E-90E6-B59D98636E9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5569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投影片圖像版面配置區 1">
            <a:extLst>
              <a:ext uri="{FF2B5EF4-FFF2-40B4-BE49-F238E27FC236}">
                <a16:creationId xmlns:a16="http://schemas.microsoft.com/office/drawing/2014/main" id="{F122DB7B-CC7B-4975-9F72-978A3A4DB5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03" name="備忘稿版面配置區 2">
            <a:extLst>
              <a:ext uri="{FF2B5EF4-FFF2-40B4-BE49-F238E27FC236}">
                <a16:creationId xmlns:a16="http://schemas.microsoft.com/office/drawing/2014/main" id="{ED2C6F56-EE38-474F-9180-8B74B172A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Standard Code for Information Interchange</a:t>
            </a:r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307204" name="投影片編號版面配置區 3">
            <a:extLst>
              <a:ext uri="{FF2B5EF4-FFF2-40B4-BE49-F238E27FC236}">
                <a16:creationId xmlns:a16="http://schemas.microsoft.com/office/drawing/2014/main" id="{68E6EDB1-8E17-4B5D-86F1-E68121841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D0749C-B225-44F4-A59F-95A0727D603A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063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</p:txBody>
      </p:sp>
      <p:sp>
        <p:nvSpPr>
          <p:cNvPr id="2457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73C046-4AF7-470B-B6E5-88815A2C5C0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0178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70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68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</p:txBody>
      </p:sp>
      <p:sp>
        <p:nvSpPr>
          <p:cNvPr id="2170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4634C6-189F-4030-B05D-45B02DAE49AC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3435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69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9175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69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</p:txBody>
      </p:sp>
      <p:sp>
        <p:nvSpPr>
          <p:cNvPr id="686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232695-3B53-4DB9-A901-C46A4B1E65F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8133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71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2899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74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36FCB0-0490-4B37-A906-85A86FC9E3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9526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光</a:t>
            </a:r>
            <a:r>
              <a:rPr lang="zh-TW" altLang="en-US" dirty="0">
                <a:latin typeface="新細明體" panose="02020500000000000000" pitchFamily="18" charset="-120"/>
              </a:rPr>
              <a:t>訊號的傳輸稱為「光載波</a:t>
            </a:r>
            <a:r>
              <a:rPr lang="en-US" altLang="zh-TW" dirty="0">
                <a:latin typeface="新細明體" panose="02020500000000000000" pitchFamily="18" charset="-120"/>
              </a:rPr>
              <a:t>(OC-N</a:t>
            </a:r>
            <a:r>
              <a:rPr lang="zh-TW" altLang="en-US" dirty="0">
                <a:latin typeface="新細明體" panose="02020500000000000000" pitchFamily="18" charset="-120"/>
              </a:rPr>
              <a:t>：</a:t>
            </a:r>
            <a:r>
              <a:rPr lang="en-US" altLang="zh-TW" dirty="0">
                <a:latin typeface="新細明體" panose="02020500000000000000" pitchFamily="18" charset="-120"/>
              </a:rPr>
              <a:t>Optical Carrier level N)</a:t>
            </a:r>
            <a:r>
              <a:rPr lang="zh-TW" altLang="en-US" dirty="0">
                <a:latin typeface="新細明體" panose="02020500000000000000" pitchFamily="18" charset="-120"/>
              </a:rPr>
              <a:t>」，在</a:t>
            </a:r>
            <a:r>
              <a:rPr lang="en-US" altLang="zh-TW" dirty="0">
                <a:latin typeface="新細明體" panose="02020500000000000000" pitchFamily="18" charset="-120"/>
              </a:rPr>
              <a:t>SONET</a:t>
            </a:r>
            <a:r>
              <a:rPr lang="zh-TW" altLang="en-US" dirty="0">
                <a:latin typeface="新細明體" panose="02020500000000000000" pitchFamily="18" charset="-120"/>
              </a:rPr>
              <a:t>網路中的每一個位元都是使用一個脈衝的光訊號來傳送，所以</a:t>
            </a:r>
            <a:r>
              <a:rPr lang="en-US" altLang="zh-TW" dirty="0">
                <a:latin typeface="新細明體" panose="02020500000000000000" pitchFamily="18" charset="-120"/>
              </a:rPr>
              <a:t>OC-N</a:t>
            </a:r>
            <a:r>
              <a:rPr lang="zh-TW" altLang="en-US" dirty="0">
                <a:latin typeface="新細明體" panose="02020500000000000000" pitchFamily="18" charset="-120"/>
              </a:rPr>
              <a:t>的資料傳輸率和</a:t>
            </a:r>
            <a:r>
              <a:rPr lang="en-US" altLang="zh-TW" dirty="0">
                <a:latin typeface="新細明體" panose="02020500000000000000" pitchFamily="18" charset="-120"/>
              </a:rPr>
              <a:t>STS-N</a:t>
            </a:r>
            <a:r>
              <a:rPr lang="zh-TW" altLang="en-US" dirty="0">
                <a:latin typeface="新細明體" panose="02020500000000000000" pitchFamily="18" charset="-120"/>
              </a:rPr>
              <a:t>的資料傳輸率相同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898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美國</a:t>
            </a:r>
            <a:r>
              <a:rPr lang="zh-TW" altLang="en-US" dirty="0">
                <a:latin typeface="新細明體" panose="02020500000000000000" pitchFamily="18" charset="-120"/>
              </a:rPr>
              <a:t>國家標準協會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National Standards Institute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ANSI</a:t>
            </a: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6049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75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Arial" pitchFamily="34" charset="0"/>
            </a:endParaRPr>
          </a:p>
          <a:p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美國</a:t>
            </a:r>
            <a:r>
              <a:rPr lang="zh-TW" altLang="en-US" dirty="0">
                <a:latin typeface="新細明體" panose="02020500000000000000" pitchFamily="18" charset="-120"/>
              </a:rPr>
              <a:t>國家標準協會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American National Standards Institute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ANSI</a:t>
            </a: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18149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76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T1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1.544 Mbps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　　　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T2 6.312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Mbps</a:t>
            </a: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訊框中繼扮演業界標準 廣泛連接路由器與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</a:t>
            </a:r>
          </a:p>
          <a:p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zh-TW" altLang="en-US" dirty="0">
                <a:latin typeface="新細明體" panose="02020500000000000000" pitchFamily="18" charset="-120"/>
              </a:rPr>
              <a:t>在訊框中繼網路中，有些網路連線需要非常頻繁地流通，甚至是永久性的流通，此時，永久性虛擬線路（</a:t>
            </a:r>
            <a:r>
              <a:rPr lang="en-US" altLang="zh-TW" dirty="0">
                <a:latin typeface="新細明體" panose="02020500000000000000" pitchFamily="18" charset="-120"/>
              </a:rPr>
              <a:t>Permanent Virtual Circuit</a:t>
            </a:r>
            <a:r>
              <a:rPr lang="zh-TW" altLang="en-US" dirty="0">
                <a:latin typeface="新細明體" panose="02020500000000000000" pitchFamily="18" charset="-120"/>
              </a:rPr>
              <a:t>，</a:t>
            </a:r>
            <a:r>
              <a:rPr lang="en-US" altLang="zh-TW" dirty="0">
                <a:latin typeface="新細明體" panose="02020500000000000000" pitchFamily="18" charset="-120"/>
              </a:rPr>
              <a:t>PVC</a:t>
            </a:r>
            <a:r>
              <a:rPr lang="zh-TW" altLang="en-US" dirty="0">
                <a:latin typeface="新細明體" panose="02020500000000000000" pitchFamily="18" charset="-120"/>
              </a:rPr>
              <a:t>）就可以針對這種需求，對於資料終端設備之間的訊框中繼網路提供這樣的永久性連線。 </a:t>
            </a:r>
            <a:endParaRPr lang="en-US" altLang="zh-TW" dirty="0">
              <a:latin typeface="新細明體" panose="02020500000000000000" pitchFamily="18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KK[ˋ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pɝmənənt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KK[ˋ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sɝkɪt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資料約定速率（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dirty="0"/>
              <a:t/>
            </a:r>
            <a:br>
              <a:rPr lang="zh-TW" altLang="en-US" dirty="0"/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資料約定速率（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Committed Information Rate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）是指在一般的情況之下，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業者所保證能在虛擬線路上使用的平均頻寬，不過，這也代表在任何的情況之下，所使用的速率不應該低於這個約定的速率，而這個速率的單位是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kbit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 </a:t>
            </a:r>
            <a:endParaRPr lang="en-US" altLang="zh-TW" dirty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en-US" altLang="zh-TW" dirty="0">
                <a:latin typeface="新細明體" panose="02020500000000000000" pitchFamily="18" charset="-120"/>
              </a:rPr>
              <a:t>http://www.netadmin.com.tw/article_content.aspx?sn=1402170002&amp;jump=1</a:t>
            </a: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32520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76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3952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77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47724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itchFamily="34" charset="0"/>
              </a:rPr>
              <a:t>工作項目一</a:t>
            </a:r>
            <a:endParaRPr lang="en-US" altLang="zh-TW" dirty="0" smtClean="0">
              <a:latin typeface="Arial" pitchFamily="34" charset="0"/>
            </a:endParaRPr>
          </a:p>
          <a:p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78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dirty="0" smtClean="0">
                <a:latin typeface="Arial" pitchFamily="34" charset="0"/>
              </a:rPr>
              <a:t> </a:t>
            </a:r>
            <a:r>
              <a:rPr lang="en-US" altLang="zh-TW" dirty="0" smtClean="0">
                <a:latin typeface="Arial" pitchFamily="34" charset="0"/>
              </a:rPr>
              <a:t>79</a:t>
            </a:r>
            <a:r>
              <a:rPr lang="zh-TW" altLang="en-US" dirty="0" smtClean="0">
                <a:latin typeface="Arial" pitchFamily="34" charset="0"/>
              </a:rPr>
              <a:t>題</a:t>
            </a:r>
            <a:endParaRPr lang="en-US" altLang="zh-TW" dirty="0" smtClean="0">
              <a:latin typeface="Arial" pitchFamily="34" charset="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en-US" altLang="zh-TW" dirty="0">
                <a:latin typeface="新細明體" panose="02020500000000000000" pitchFamily="18" charset="-120"/>
              </a:rPr>
              <a:t>ATM(Asynchronous Transfer Mode) </a:t>
            </a:r>
            <a:r>
              <a:rPr lang="zh-TW" altLang="en-US" dirty="0">
                <a:latin typeface="新細明體" panose="02020500000000000000" pitchFamily="18" charset="-120"/>
              </a:rPr>
              <a:t>是由國際電話電報諮詢委員會 </a:t>
            </a:r>
            <a:r>
              <a:rPr lang="en-US" altLang="zh-TW" dirty="0">
                <a:latin typeface="新細明體" panose="02020500000000000000" pitchFamily="18" charset="-120"/>
              </a:rPr>
              <a:t>(CCITT) </a:t>
            </a:r>
            <a:r>
              <a:rPr lang="zh-TW" altLang="en-US" dirty="0">
                <a:latin typeface="新細明體" panose="02020500000000000000" pitchFamily="18" charset="-120"/>
              </a:rPr>
              <a:t>所制定具有高速分封及多工交換 </a:t>
            </a:r>
            <a:r>
              <a:rPr lang="en-US" altLang="zh-TW" dirty="0">
                <a:latin typeface="新細明體" panose="02020500000000000000" pitchFamily="18" charset="-120"/>
              </a:rPr>
              <a:t>(multiplexing&amp; switching) </a:t>
            </a:r>
            <a:r>
              <a:rPr lang="zh-TW" altLang="en-US" dirty="0">
                <a:latin typeface="新細明體" panose="02020500000000000000" pitchFamily="18" charset="-120"/>
              </a:rPr>
              <a:t>標準的高速網路傳輸協定，目前為</a:t>
            </a:r>
            <a:r>
              <a:rPr lang="en-US" altLang="zh-TW" dirty="0">
                <a:latin typeface="新細明體" panose="02020500000000000000" pitchFamily="18" charset="-120"/>
              </a:rPr>
              <a:t>ANSI</a:t>
            </a:r>
            <a:r>
              <a:rPr lang="zh-TW" altLang="en-US" dirty="0">
                <a:latin typeface="新細明體" panose="02020500000000000000" pitchFamily="18" charset="-120"/>
              </a:rPr>
              <a:t>及</a:t>
            </a:r>
            <a:r>
              <a:rPr lang="en-US" altLang="zh-TW" dirty="0">
                <a:latin typeface="新細明體" panose="02020500000000000000" pitchFamily="18" charset="-120"/>
              </a:rPr>
              <a:t>CCITT</a:t>
            </a:r>
            <a:r>
              <a:rPr lang="zh-TW" altLang="en-US" dirty="0">
                <a:latin typeface="新細明體" panose="02020500000000000000" pitchFamily="18" charset="-120"/>
              </a:rPr>
              <a:t>認可為</a:t>
            </a:r>
            <a:r>
              <a:rPr lang="en-US" altLang="zh-TW" dirty="0">
                <a:latin typeface="新細明體" panose="02020500000000000000" pitchFamily="18" charset="-120"/>
              </a:rPr>
              <a:t>B-ISDN(Broadband ISDN) </a:t>
            </a:r>
            <a:r>
              <a:rPr lang="zh-TW" altLang="en-US" dirty="0">
                <a:latin typeface="新細明體" panose="02020500000000000000" pitchFamily="18" charset="-120"/>
              </a:rPr>
              <a:t>寬頻整體服務數位網路的基礎。</a:t>
            </a:r>
            <a:endParaRPr lang="en-US" altLang="zh-TW" dirty="0">
              <a:latin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非同步傳送模式技術已普遍應用於廣域網路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(Wide Area Network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WAN)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寬頻、多媒體通信已被世人視為本世紀全球通信的主流，而非同步傳送模式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(ATM)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正是這通信主流的技術，利用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技術，包括語音、數據、視訊等資訊都可以在同一個網路上傳送。</a:t>
            </a: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網路進行遠距教學、遠距醫療、視訊會議等應用，同時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網路亦可作為網路連接的骨幹。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893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82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2375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83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CEE000-7156-4832-A918-0BC0BA7766D8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35647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83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IEEE802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標準中有二種以記號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傳遞的媒體存取模式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一個是以匯流排拓樸邏輯所構成的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，定義於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802.4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另一個是使用環狀拓樸邏輯的記號環網路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Ring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），定義於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802.5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9229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83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0778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84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942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A509B-2F05-4694-BC54-5AA86B02903B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498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84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>
              <a:ea typeface="新細明體" charset="-120"/>
            </a:endParaRPr>
          </a:p>
          <a:p>
            <a:endParaRPr lang="en-US" altLang="zh-TW" dirty="0">
              <a:ea typeface="新細明體" charset="-120"/>
            </a:endParaRPr>
          </a:p>
          <a:p>
            <a:r>
              <a:rPr lang="en-US" altLang="zh-TW" dirty="0" err="1">
                <a:ea typeface="新細明體" charset="-120"/>
              </a:rPr>
              <a:t>eMule</a:t>
            </a:r>
            <a:r>
              <a:rPr lang="zh-TW" altLang="en-US" dirty="0">
                <a:ea typeface="新細明體" charset="-120"/>
              </a:rPr>
              <a:t>是一款免費的</a:t>
            </a:r>
            <a:r>
              <a:rPr lang="en-US" altLang="zh-TW" dirty="0">
                <a:ea typeface="新細明體" charset="-120"/>
              </a:rPr>
              <a:t>p2p</a:t>
            </a:r>
            <a:r>
              <a:rPr lang="zh-TW" altLang="en-US" dirty="0">
                <a:ea typeface="新細明體" charset="-120"/>
              </a:rPr>
              <a:t>軟體，與用</a:t>
            </a:r>
            <a:r>
              <a:rPr lang="en-US" altLang="zh-TW" dirty="0">
                <a:ea typeface="新細明體" charset="-120"/>
              </a:rPr>
              <a:t>BT</a:t>
            </a:r>
            <a:r>
              <a:rPr lang="zh-TW" altLang="en-US" dirty="0">
                <a:ea typeface="新細明體" charset="-120"/>
              </a:rPr>
              <a:t>來下載分享檔案的不同之處是</a:t>
            </a:r>
            <a:r>
              <a:rPr lang="en-US" altLang="zh-TW" dirty="0" err="1">
                <a:ea typeface="新細明體" charset="-120"/>
              </a:rPr>
              <a:t>eMule</a:t>
            </a:r>
            <a:r>
              <a:rPr lang="zh-TW" altLang="en-US" dirty="0">
                <a:ea typeface="新細明體" charset="-120"/>
              </a:rPr>
              <a:t>不需要製作種子</a:t>
            </a:r>
            <a:r>
              <a:rPr lang="en-US" altLang="zh-TW" dirty="0">
                <a:ea typeface="新細明體" charset="-120"/>
              </a:rPr>
              <a:t>Torrent</a:t>
            </a:r>
            <a:r>
              <a:rPr lang="zh-TW" altLang="en-US" dirty="0">
                <a:ea typeface="新細明體" charset="-120"/>
              </a:rPr>
              <a:t>。</a:t>
            </a:r>
            <a:endParaRPr lang="en-US" altLang="zh-TW" dirty="0">
              <a:ea typeface="新細明體" charset="-120"/>
            </a:endParaRPr>
          </a:p>
          <a:p>
            <a:r>
              <a:rPr lang="zh-TW" altLang="en-US" dirty="0">
                <a:ea typeface="新細明體" charset="-120"/>
              </a:rPr>
              <a:t>迅雷是一套最多華人使用的</a:t>
            </a:r>
            <a:r>
              <a:rPr lang="en-US" altLang="zh-TW" dirty="0">
                <a:ea typeface="新細明體" charset="-120"/>
              </a:rPr>
              <a:t>P2P</a:t>
            </a:r>
            <a:r>
              <a:rPr lang="zh-TW" altLang="en-US" dirty="0">
                <a:ea typeface="新細明體" charset="-120"/>
              </a:rPr>
              <a:t>下載軟體，結合了傳統</a:t>
            </a:r>
            <a:r>
              <a:rPr lang="en-US" altLang="zh-TW" dirty="0">
                <a:ea typeface="新細明體" charset="-120"/>
              </a:rPr>
              <a:t>HTTP</a:t>
            </a:r>
            <a:r>
              <a:rPr lang="zh-TW" altLang="en-US" dirty="0">
                <a:ea typeface="新細明體" charset="-120"/>
              </a:rPr>
              <a:t>、</a:t>
            </a:r>
            <a:r>
              <a:rPr lang="en-US" altLang="zh-TW" dirty="0">
                <a:ea typeface="新細明體" charset="-120"/>
              </a:rPr>
              <a:t>FTP</a:t>
            </a:r>
            <a:r>
              <a:rPr lang="zh-TW" altLang="en-US" dirty="0">
                <a:ea typeface="新細明體" charset="-120"/>
              </a:rPr>
              <a:t>、</a:t>
            </a:r>
            <a:r>
              <a:rPr lang="en-US" altLang="zh-TW" dirty="0">
                <a:ea typeface="新細明體" charset="-120"/>
              </a:rPr>
              <a:t>BT</a:t>
            </a:r>
            <a:r>
              <a:rPr lang="zh-TW" altLang="en-US" dirty="0">
                <a:ea typeface="新細明體" charset="-120"/>
              </a:rPr>
              <a:t>、</a:t>
            </a:r>
            <a:r>
              <a:rPr lang="en-US" altLang="zh-TW" dirty="0" err="1">
                <a:ea typeface="新細明體" charset="-120"/>
              </a:rPr>
              <a:t>eMule</a:t>
            </a:r>
            <a:r>
              <a:rPr lang="zh-TW" altLang="en-US" dirty="0">
                <a:ea typeface="新細明體" charset="-120"/>
              </a:rPr>
              <a:t>等下載模式，讓你下載檔案時可以得到最快的下載速度，是目前最熱門的</a:t>
            </a:r>
            <a:r>
              <a:rPr lang="en-US" altLang="zh-TW" dirty="0">
                <a:ea typeface="新細明體" charset="-120"/>
              </a:rPr>
              <a:t>P2P</a:t>
            </a:r>
            <a:r>
              <a:rPr lang="zh-TW" altLang="en-US" dirty="0">
                <a:ea typeface="新細明體" charset="-120"/>
              </a:rPr>
              <a:t>軟體，快點來試看看吧。 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9626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2B05F-B3AC-47F2-865C-95D2111558FF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65367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85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84911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86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>
              <a:latin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新細明體" panose="02020500000000000000" pitchFamily="18" charset="-120"/>
              </a:rPr>
              <a:t>位於</a:t>
            </a:r>
            <a:r>
              <a:rPr lang="zh-TW" altLang="en-US" dirty="0">
                <a:latin typeface="新細明體" panose="02020500000000000000" pitchFamily="18" charset="-120"/>
              </a:rPr>
              <a:t>同一個</a:t>
            </a:r>
            <a:r>
              <a:rPr lang="en-US" altLang="zh-TW" dirty="0">
                <a:latin typeface="新細明體" panose="02020500000000000000" pitchFamily="18" charset="-120"/>
              </a:rPr>
              <a:t>ESS</a:t>
            </a:r>
            <a:r>
              <a:rPr lang="zh-TW" altLang="en-US" dirty="0">
                <a:latin typeface="新細明體" panose="02020500000000000000" pitchFamily="18" charset="-120"/>
              </a:rPr>
              <a:t>的接入點將使用相同的服務組標識符</a:t>
            </a:r>
            <a:endParaRPr lang="en-US" altLang="zh-TW" dirty="0">
              <a:latin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65723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87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4593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ea typeface="新細明體" charset="-120"/>
              </a:rPr>
              <a:t>工作項目一</a:t>
            </a:r>
            <a:endParaRPr lang="en-US" altLang="zh-TW" dirty="0" smtClean="0">
              <a:ea typeface="新細明體" charset="-120"/>
            </a:endParaRPr>
          </a:p>
          <a:p>
            <a:r>
              <a:rPr lang="zh-TW" altLang="en-US" dirty="0" smtClean="0">
                <a:ea typeface="新細明體" charset="-120"/>
              </a:rPr>
              <a:t>第</a:t>
            </a:r>
            <a:r>
              <a:rPr lang="en-US" altLang="zh-TW" dirty="0" smtClean="0">
                <a:ea typeface="新細明體" charset="-120"/>
              </a:rPr>
              <a:t>93</a:t>
            </a:r>
            <a:r>
              <a:rPr lang="zh-TW" altLang="en-US" dirty="0" smtClean="0">
                <a:ea typeface="新細明體" charset="-120"/>
              </a:rPr>
              <a:t>題</a:t>
            </a:r>
            <a:endParaRPr lang="en-US" altLang="zh-TW" dirty="0" smtClean="0">
              <a:ea typeface="新細明體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>
                <a:latin typeface="Arial" panose="020B0604020202020204" pitchFamily="34" charset="0"/>
              </a:rPr>
              <a:t>Distributed Denial of Services </a:t>
            </a:r>
            <a:r>
              <a:rPr lang="en-US" altLang="zh-TW" b="1" dirty="0">
                <a:latin typeface="Arial" panose="020B0604020202020204" pitchFamily="34" charset="0"/>
              </a:rPr>
              <a:t>DDOS</a:t>
            </a:r>
            <a:r>
              <a:rPr lang="en-US" altLang="zh-TW" dirty="0">
                <a:latin typeface="Arial" panose="020B0604020202020204" pitchFamily="34" charset="0"/>
              </a:rPr>
              <a:t> 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>
                <a:latin typeface="Arial" panose="020B0604020202020204" pitchFamily="34" charset="0"/>
              </a:rPr>
              <a:t>/</a:t>
            </a:r>
            <a:r>
              <a:rPr lang="en-US" altLang="zh-TW" dirty="0" err="1">
                <a:latin typeface="Arial" panose="020B0604020202020204" pitchFamily="34" charset="0"/>
              </a:rPr>
              <a:t>dɪn'ɑɪəl</a:t>
            </a:r>
            <a:r>
              <a:rPr lang="en-US" altLang="zh-TW" dirty="0">
                <a:latin typeface="Arial" panose="020B0604020202020204" pitchFamily="34" charset="0"/>
              </a:rPr>
              <a:t>/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61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232695-3B53-4DB9-A901-C46A4B1E65F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4319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工作項目一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233</a:t>
            </a:r>
            <a:r>
              <a:rPr lang="zh-TW" altLang="en-US" dirty="0" smtClean="0">
                <a:latin typeface="新細明體"/>
                <a:ea typeface="新細明體"/>
              </a:rPr>
              <a:t>、</a:t>
            </a:r>
            <a:r>
              <a:rPr lang="en-US" altLang="zh-TW" dirty="0" smtClean="0">
                <a:latin typeface="新細明體"/>
                <a:ea typeface="新細明體"/>
              </a:rPr>
              <a:t>236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ATM </a:t>
            </a:r>
            <a:r>
              <a:rPr lang="zh-TW" altLang="en-US" dirty="0"/>
              <a:t>交換器與交換器透過 </a:t>
            </a:r>
            <a:r>
              <a:rPr lang="en-US" altLang="zh-TW" dirty="0"/>
              <a:t>NNI (Network </a:t>
            </a:r>
            <a:r>
              <a:rPr lang="en-US" altLang="zh-TW" dirty="0" err="1"/>
              <a:t>Network</a:t>
            </a:r>
            <a:r>
              <a:rPr lang="en-US" altLang="zh-TW" dirty="0"/>
              <a:t> Interface) </a:t>
            </a:r>
            <a:r>
              <a:rPr lang="zh-TW" altLang="en-US" dirty="0"/>
              <a:t>規格溝通；而交換器與端點則透過 </a:t>
            </a:r>
            <a:r>
              <a:rPr lang="en-US" altLang="zh-TW" dirty="0"/>
              <a:t>UNI (User Network Interface) </a:t>
            </a:r>
            <a:r>
              <a:rPr lang="zh-TW" altLang="en-US" dirty="0"/>
              <a:t>規格溝通</a:t>
            </a:r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ED33A-7EDE-4C58-8E11-1CC778D527D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88295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工作項目一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233</a:t>
            </a:r>
            <a:r>
              <a:rPr lang="zh-TW" altLang="en-US" dirty="0" smtClean="0">
                <a:latin typeface="新細明體"/>
                <a:ea typeface="新細明體"/>
              </a:rPr>
              <a:t>、</a:t>
            </a:r>
            <a:r>
              <a:rPr lang="en-US" altLang="zh-TW" dirty="0" smtClean="0">
                <a:latin typeface="新細明體"/>
                <a:ea typeface="新細明體"/>
              </a:rPr>
              <a:t>236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</a:p>
          <a:p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ED33A-7EDE-4C58-8E11-1CC778D527D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58125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工作項目一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233</a:t>
            </a:r>
            <a:r>
              <a:rPr lang="zh-TW" altLang="en-US" dirty="0" smtClean="0">
                <a:latin typeface="新細明體"/>
                <a:ea typeface="新細明體"/>
              </a:rPr>
              <a:t>、</a:t>
            </a:r>
            <a:r>
              <a:rPr lang="en-US" altLang="zh-TW" dirty="0">
                <a:latin typeface="新細明體"/>
                <a:ea typeface="新細明體"/>
              </a:rPr>
              <a:t>236</a:t>
            </a:r>
            <a:r>
              <a:rPr lang="zh-TW" altLang="en-US" dirty="0">
                <a:latin typeface="Arial" panose="020B0604020202020204" pitchFamily="34" charset="0"/>
              </a:rPr>
              <a:t>題</a:t>
            </a:r>
          </a:p>
          <a:p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ED33A-7EDE-4C58-8E11-1CC778D527D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9841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工作項目一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233</a:t>
            </a:r>
            <a:r>
              <a:rPr lang="zh-TW" altLang="en-US" dirty="0" smtClean="0">
                <a:latin typeface="新細明體"/>
                <a:ea typeface="新細明體"/>
              </a:rPr>
              <a:t>、</a:t>
            </a:r>
            <a:r>
              <a:rPr lang="en-US" altLang="zh-TW" dirty="0" smtClean="0">
                <a:latin typeface="新細明體"/>
                <a:ea typeface="新細明體"/>
              </a:rPr>
              <a:t>236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</a:p>
          <a:p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532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ED33A-7EDE-4C58-8E11-1CC778D527D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61367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02604B-1741-4160-81B0-24635089A25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84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52283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159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10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指網絡中的各節點設備通過一個網絡集中設備（如集線器或交換機連接在一起。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dirty="0">
                <a:latin typeface="新細明體" panose="02020500000000000000" pitchFamily="18" charset="-120"/>
              </a:rPr>
              <a:t>拓撲一詞係指網路中各電腦的連結。有一部電腦與其它所有的電腦相連結，而其它的電腦之間均不相連結，　</a:t>
            </a:r>
            <a:endParaRPr lang="en-US" altLang="zh-TW" dirty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zh-TW" altLang="en-US" dirty="0">
                <a:latin typeface="Arial" panose="020B0604020202020204" pitchFamily="34" charset="0"/>
              </a:rPr>
              <a:t>星型結構的優點：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網絡結構簡單，便於管理、維護和調試。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控制簡單，添加或刪除某個站點非常容易。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集中管理，可方便地提供服務和網絡重新配置。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每個站點直接連到中央節點，容易檢測和隔離故障。</a:t>
            </a:r>
          </a:p>
          <a:p>
            <a:endParaRPr lang="en-US" altLang="zh-TW" dirty="0">
              <a:latin typeface="Arial" panose="020B0604020202020204" pitchFamily="34" charset="0"/>
            </a:endParaRPr>
          </a:p>
          <a:p>
            <a:r>
              <a:rPr lang="zh-TW" altLang="en-US" dirty="0">
                <a:latin typeface="Arial" panose="020B0604020202020204" pitchFamily="34" charset="0"/>
              </a:rPr>
              <a:t>星型結構的缺點：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線路利用率不高，一條線路只被該線路上的中央節點和一個節點使用。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中央節點負荷太重，而且當中央節點產生故障時，全網將不能工作，對中央節點的可靠性和冗餘度要求太高</a:t>
            </a:r>
          </a:p>
          <a:p>
            <a:r>
              <a:rPr lang="zh-TW" altLang="en-US" dirty="0">
                <a:latin typeface="Arial" panose="020B0604020202020204" pitchFamily="34" charset="0"/>
              </a:rPr>
              <a:t>安裝和維護費用高，需要大量電纜。</a:t>
            </a:r>
          </a:p>
        </p:txBody>
      </p:sp>
      <p:sp>
        <p:nvSpPr>
          <p:cNvPr id="92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2595BC-F130-4675-A880-A4BDBD3136BC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44641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160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381E474B-AA5F-46B6-B4E7-34EE33A35E4D}" type="slidenum">
              <a:rPr lang="en-US" altLang="zh-TW" smtClean="0">
                <a:solidFill>
                  <a:srgbClr val="000000"/>
                </a:solidFill>
              </a:rPr>
              <a:pPr/>
              <a:t>86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57358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13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zh-TW" altLang="en-US" dirty="0">
              <a:latin typeface="Arial" panose="020B0604020202020204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7F136BC-F03F-4F7B-B653-6783D2F539DF}" type="slidenum">
              <a:rPr lang="en-US" altLang="zh-TW" smtClean="0">
                <a:solidFill>
                  <a:srgbClr val="000000"/>
                </a:solidFill>
              </a:rPr>
              <a:pPr/>
              <a:t>87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84703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閘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道器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172.22.</a:t>
            </a:r>
            <a:r>
              <a:rPr lang="en-US" altLang="zh-TW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172.22.</a:t>
            </a:r>
            <a:r>
              <a:rPr lang="en-US" altLang="zh-TW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.4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3481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520B78AE-3110-45E3-8132-39EBDFEE90F3}" type="slidenum">
              <a:rPr lang="en-US" altLang="zh-TW" smtClean="0">
                <a:solidFill>
                  <a:srgbClr val="000000"/>
                </a:solidFill>
              </a:rPr>
              <a:pPr/>
              <a:t>88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18171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en-US" altLang="zh-TW" dirty="0" smtClean="0">
                <a:latin typeface="新細明體" panose="02020500000000000000" pitchFamily="18" charset="-120"/>
              </a:rPr>
              <a:t> </a:t>
            </a:r>
            <a:r>
              <a:rPr lang="zh-TW" altLang="en-US" dirty="0">
                <a:latin typeface="新細明體" panose="02020500000000000000" pitchFamily="18" charset="-120"/>
              </a:rPr>
              <a:t>每台電腦要先進行比對工作，若一樣才將資料收下並且處理資料，如果不一樣就丟棄，</a:t>
            </a:r>
            <a:r>
              <a:rPr lang="en-US" altLang="zh-TW" dirty="0">
                <a:latin typeface="新細明體" panose="02020500000000000000" pitchFamily="18" charset="-120"/>
              </a:rPr>
              <a:t>PC2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還是收到資料，電腦收到資料與資料處理是二件事，處理就好比將信件打開來看。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4710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2837DF-E79C-49E9-B981-8C6D9B2D645E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27874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491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C5BBD-CC66-4133-90A8-EBE94D6B4E96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34386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2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ea typeface="新細明體" charset="-120"/>
            </a:endParaRPr>
          </a:p>
          <a:p>
            <a:endParaRPr lang="en-US" altLang="zh-TW" dirty="0" smtClean="0">
              <a:ea typeface="新細明體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14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dirty="0" smtClean="0">
              <a:ea typeface="新細明體" charset="-120"/>
            </a:endParaRPr>
          </a:p>
          <a:p>
            <a:r>
              <a:rPr lang="en-US" altLang="zh-TW" dirty="0" smtClean="0">
                <a:ea typeface="新細明體" charset="-120"/>
              </a:rPr>
              <a:t>0~9  A B C D</a:t>
            </a:r>
            <a:r>
              <a:rPr lang="en-US" altLang="zh-TW" baseline="0" dirty="0" smtClean="0">
                <a:ea typeface="新細明體" charset="-120"/>
              </a:rPr>
              <a:t> E F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432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3711-AF22-4A8C-8D99-94078848D440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7077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348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4C45A1-F239-4F81-A1CC-BE7DAABBBA8E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81543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81876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62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62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2D0B12-AC33-45BF-BE4A-D6EDE50C6542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75215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62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3962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2D0B12-AC33-45BF-BE4A-D6EDE50C6542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5601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IEEE802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標準中有二種以記號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傳遞的媒體存取模式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一個是以匯流排拓樸邏輯所構成的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，定義於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802.4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另一個是使用環狀拓樸邏輯的記號環網路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Ring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），定義於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802.5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01011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84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>
              <a:latin typeface="新細明體" panose="02020500000000000000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>
              <a:latin typeface="新細明體" panose="02020500000000000000" pitchFamily="18" charset="-120"/>
            </a:endParaRPr>
          </a:p>
        </p:txBody>
      </p:sp>
      <p:sp>
        <p:nvSpPr>
          <p:cNvPr id="1884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CC21BA-45DA-4DC0-AE2D-DA274F0F56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48919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7F136BC-F03F-4F7B-B653-6783D2F539DF}" type="slidenum">
              <a:rPr lang="en-US" altLang="zh-TW" smtClean="0">
                <a:solidFill>
                  <a:srgbClr val="000000"/>
                </a:solidFill>
              </a:rPr>
              <a:pPr/>
              <a:t>98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00661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16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180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>
              <a:ea typeface="新細明體" charset="-120"/>
            </a:endParaRPr>
          </a:p>
        </p:txBody>
      </p:sp>
      <p:sp>
        <p:nvSpPr>
          <p:cNvPr id="2816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7DB9C5A7-A9EA-4901-A370-CDB812AA0FD8}" type="slidenum">
              <a:rPr lang="en-US" altLang="zh-TW">
                <a:solidFill>
                  <a:srgbClr val="000000"/>
                </a:solidFill>
              </a:rPr>
              <a:pPr/>
              <a:t>99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98196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A7F136BC-F03F-4F7B-B653-6783D2F539DF}" type="slidenum">
              <a:rPr lang="en-US" altLang="zh-TW" smtClean="0">
                <a:solidFill>
                  <a:srgbClr val="000000"/>
                </a:solidFill>
              </a:rPr>
              <a:pPr/>
              <a:t>100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21110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348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366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593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453532-18B1-4097-9395-24003D0E4A19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48394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6758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EEE5B6-1942-4856-8406-8FE0307BC141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25996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6963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235488-418A-47BD-BD87-ED0508F1D529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34387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716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BA0C-011F-4866-90BC-CD429888A5D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13243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9626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D62382AD-5683-4BCB-809E-F6A1D3CD4D32}" type="slidenum">
              <a:rPr lang="en-US" altLang="zh-TW" smtClean="0">
                <a:solidFill>
                  <a:srgbClr val="000000"/>
                </a:solidFill>
              </a:rPr>
              <a:pPr/>
              <a:t>105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1964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597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9E8F16CB-481A-4D1E-9B50-FC321A329C1A}" type="slidenum">
              <a:rPr lang="en-US" altLang="zh-TW" smtClean="0">
                <a:solidFill>
                  <a:srgbClr val="000000"/>
                </a:solidFill>
              </a:rPr>
              <a:pPr/>
              <a:t>106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6657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188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9830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CB698-BBD4-44F9-813F-8CC51B20B1C6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17447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188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目前</a:t>
            </a:r>
            <a:r>
              <a:rPr lang="en-US" altLang="zh-TW" dirty="0">
                <a:latin typeface="新細明體" panose="02020500000000000000" pitchFamily="18" charset="-120"/>
              </a:rPr>
              <a:t>MAC table</a:t>
            </a:r>
            <a:r>
              <a:rPr lang="zh-TW" altLang="en-US" dirty="0">
                <a:latin typeface="新細明體" panose="02020500000000000000" pitchFamily="18" charset="-120"/>
              </a:rPr>
              <a:t>學習到三筆資料，每一筆資料代表交換器知道哪一個連結埠接上那一個電腦</a:t>
            </a:r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en-US" altLang="zh-TW" dirty="0">
                <a:latin typeface="新細明體" panose="02020500000000000000" pitchFamily="18" charset="-120"/>
              </a:rPr>
              <a:t>MAC</a:t>
            </a:r>
            <a:r>
              <a:rPr lang="zh-TW" altLang="en-US" dirty="0">
                <a:latin typeface="新細明體" panose="02020500000000000000" pitchFamily="18" charset="-120"/>
              </a:rPr>
              <a:t> </a:t>
            </a:r>
            <a:r>
              <a:rPr lang="en-US" altLang="zh-TW" dirty="0">
                <a:latin typeface="新細明體" panose="02020500000000000000" pitchFamily="18" charset="-120"/>
              </a:rPr>
              <a:t>Table</a:t>
            </a:r>
            <a:r>
              <a:rPr lang="zh-TW" altLang="en-US" dirty="0">
                <a:latin typeface="新細明體" panose="02020500000000000000" pitchFamily="18" charset="-120"/>
              </a:rPr>
              <a:t>若查不到</a:t>
            </a:r>
            <a:r>
              <a:rPr lang="en-US" altLang="zh-TW" dirty="0">
                <a:latin typeface="新細明體" panose="02020500000000000000" pitchFamily="18" charset="-120"/>
              </a:rPr>
              <a:t>PC3</a:t>
            </a:r>
            <a:r>
              <a:rPr lang="zh-TW" altLang="en-US" dirty="0">
                <a:latin typeface="新細明體" panose="02020500000000000000" pitchFamily="18" charset="-120"/>
              </a:rPr>
              <a:t>的</a:t>
            </a:r>
            <a:r>
              <a:rPr lang="en-US" altLang="zh-TW" dirty="0">
                <a:latin typeface="新細明體" panose="02020500000000000000" pitchFamily="18" charset="-120"/>
              </a:rPr>
              <a:t>MAC Address</a:t>
            </a:r>
            <a:r>
              <a:rPr lang="zh-TW" altLang="en-US" dirty="0">
                <a:latin typeface="新細明體" panose="02020500000000000000" pitchFamily="18" charset="-120"/>
              </a:rPr>
              <a:t>，此時交換器的做法與集線器一樣，只好將資料傳送給所有連結在交換器的電腦，也就是交換器會將</a:t>
            </a:r>
            <a:r>
              <a:rPr lang="en-US" altLang="zh-TW" dirty="0">
                <a:latin typeface="新細明體" panose="02020500000000000000" pitchFamily="18" charset="-120"/>
              </a:rPr>
              <a:t>PC</a:t>
            </a:r>
            <a:r>
              <a:rPr lang="zh-TW" altLang="en-US" dirty="0">
                <a:latin typeface="新細明體" panose="02020500000000000000" pitchFamily="18" charset="-120"/>
              </a:rPr>
              <a:t>１的資料往</a:t>
            </a:r>
            <a:r>
              <a:rPr lang="en-US" altLang="zh-TW" dirty="0">
                <a:latin typeface="新細明體" panose="02020500000000000000" pitchFamily="18" charset="-120"/>
              </a:rPr>
              <a:t>fa0/2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fa0/3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fa0/4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三個連結埠送出，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PC4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PC1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的資料時，做法跟集線器一樣。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6CFAAB-88FE-4176-904E-49720A149B36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04621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515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0EAE8F-3EA7-427B-ACB6-65288EEA204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55926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broadcast domain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536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6334D-D210-4DE6-8017-8D869F2EE22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13998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在不同</a:t>
            </a:r>
            <a:r>
              <a:rPr lang="zh-TW" altLang="en-US" dirty="0">
                <a:latin typeface="新細明體" panose="02020500000000000000" pitchFamily="18" charset="-120"/>
              </a:rPr>
              <a:t>廣播區域下的電腦，是無法接收到對方送出的廣播資料，二個網路設備沒有串接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556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1ED40B-90F5-4EBF-B584-9442E08C58BE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63805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7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2C0A87-3600-4D54-9F5E-30868D38821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67227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8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7E31FD-7D31-4D87-957E-682629C3A62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3872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190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15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1KB=1024Bytes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1MB=1024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1024Bytes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1GB=1024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1024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1024Bytes</a:t>
            </a: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二進位的每一個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都稱為位元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Binary digit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，簡稱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，是電腦儲存訊息的最小單位。因為位元只有二種變化，因為位元只有二種變化，不足以表示所有數字　字母及特殊符號，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次方＝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256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87523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190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14997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206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29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3300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6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06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42CCBBA2-9D8F-4A20-9E52-C316AD01652E}" type="slidenum">
              <a:rPr lang="en-US" altLang="zh-TW">
                <a:solidFill>
                  <a:srgbClr val="000000"/>
                </a:solidFill>
              </a:rPr>
              <a:pPr/>
              <a:t>117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52182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70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70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8D639B-1343-4FD1-86A3-CA4F189791FB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18925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921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96A6D-894F-43BF-9E7A-0D2E93AA4A0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57154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74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ea typeface="新細明體" charset="-120"/>
            </a:endParaRPr>
          </a:p>
          <a:p>
            <a:r>
              <a:rPr lang="en-US" altLang="zh-TW" dirty="0" smtClean="0">
                <a:ea typeface="新細明體" charset="-120"/>
              </a:rPr>
              <a:t>KK </a:t>
            </a:r>
            <a:r>
              <a:rPr lang="en-US" altLang="zh-TW" dirty="0">
                <a:ea typeface="新細明體" charset="-120"/>
              </a:rPr>
              <a:t>[ˋ</a:t>
            </a:r>
            <a:r>
              <a:rPr lang="en-US" altLang="zh-TW" dirty="0" err="1">
                <a:ea typeface="新細明體" charset="-120"/>
              </a:rPr>
              <a:t>twɪstɪd</a:t>
            </a:r>
            <a:r>
              <a:rPr lang="en-US" altLang="zh-TW" dirty="0">
                <a:ea typeface="新細明體" charset="-120"/>
              </a:rPr>
              <a:t>]</a:t>
            </a: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474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C9DAC9-B703-43DA-93AC-DB86710428D1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989635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43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>
              <a:ea typeface="新細明體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ea typeface="新細明體" charset="-120"/>
              </a:rPr>
              <a:t>VDSL</a:t>
            </a:r>
            <a:r>
              <a:rPr lang="zh-TW" altLang="en-US" dirty="0" smtClean="0">
                <a:ea typeface="新細明體" charset="-120"/>
              </a:rPr>
              <a:t>（英文：</a:t>
            </a:r>
            <a:r>
              <a:rPr lang="en-US" altLang="zh-TW" dirty="0" smtClean="0">
                <a:ea typeface="新細明體" charset="-120"/>
              </a:rPr>
              <a:t>Very-high-bit-rate digital subscriber line</a:t>
            </a:r>
            <a:r>
              <a:rPr lang="zh-TW" altLang="en-US" dirty="0" smtClean="0">
                <a:ea typeface="新細明體" charset="-120"/>
              </a:rPr>
              <a:t>），又稱超高速數位用戶迴路，是一種非對稱</a:t>
            </a:r>
            <a:r>
              <a:rPr lang="en-US" altLang="zh-TW" dirty="0" smtClean="0">
                <a:ea typeface="新細明體" charset="-120"/>
              </a:rPr>
              <a:t>DSL</a:t>
            </a:r>
            <a:r>
              <a:rPr lang="zh-TW" altLang="en-US" dirty="0" smtClean="0">
                <a:ea typeface="新細明體" charset="-120"/>
              </a:rPr>
              <a:t>，曾是速度最快的</a:t>
            </a:r>
            <a:r>
              <a:rPr lang="en-US" altLang="zh-TW" dirty="0" err="1" smtClean="0">
                <a:ea typeface="新細明體" charset="-120"/>
              </a:rPr>
              <a:t>xDSL</a:t>
            </a:r>
            <a:r>
              <a:rPr lang="zh-TW" altLang="en-US" dirty="0" smtClean="0">
                <a:ea typeface="新細明體" charset="-120"/>
              </a:rPr>
              <a:t>技術，顧名思義較高速數位用戶迴路（高速數位用戶迴路）為快，通過一對</a:t>
            </a:r>
            <a:r>
              <a:rPr lang="en-US" altLang="zh-TW" dirty="0" smtClean="0">
                <a:ea typeface="新細明體" charset="-120"/>
              </a:rPr>
              <a:t>VDSL</a:t>
            </a:r>
            <a:r>
              <a:rPr lang="zh-TW" altLang="en-US" dirty="0" smtClean="0">
                <a:ea typeface="新細明體" charset="-120"/>
              </a:rPr>
              <a:t>裝置，用作光纖結點到附近用戶的最後引線。「光纖到戶」時代前最後一公里的寬頻上網解決方案。</a:t>
            </a:r>
            <a:endParaRPr lang="en-US" altLang="zh-TW" dirty="0" smtClean="0">
              <a:ea typeface="新細明體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>
              <a:ea typeface="新細明體" charset="-12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ea typeface="新細明體" charset="-120"/>
              </a:rPr>
              <a:t>Asynchronous </a:t>
            </a:r>
            <a:r>
              <a:rPr lang="en-US" altLang="zh-TW" dirty="0">
                <a:ea typeface="新細明體" charset="-120"/>
              </a:rPr>
              <a:t>Transfer Mode</a:t>
            </a:r>
            <a:r>
              <a:rPr lang="zh-TW" altLang="en-US" dirty="0">
                <a:ea typeface="新細明體" charset="-120"/>
              </a:rPr>
              <a:t>，</a:t>
            </a:r>
            <a:r>
              <a:rPr lang="en-US" altLang="zh-TW" dirty="0">
                <a:ea typeface="新細明體" charset="-120"/>
              </a:rPr>
              <a:t>ATM</a:t>
            </a: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31437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134930D1-C236-4231-A1E5-3066E876BE1F}" type="slidenum">
              <a:rPr lang="en-US" altLang="zh-TW">
                <a:solidFill>
                  <a:srgbClr val="000000"/>
                </a:solidFill>
              </a:rPr>
              <a:pPr/>
              <a:t>121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670842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6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340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06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CBBA2-9D8F-4A20-9E52-C316AD01652E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46715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59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charset="-120"/>
              <a:ea typeface="新細明體" charset="-120"/>
            </a:endParaRPr>
          </a:p>
        </p:txBody>
      </p:sp>
      <p:sp>
        <p:nvSpPr>
          <p:cNvPr id="4659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F1C63B-30C2-4D5C-980D-61F94AECE342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57243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28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345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4628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1A2361-8AE7-4C1B-8FFE-93192DA886ED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94507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28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346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24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28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無</a:t>
            </a:r>
            <a:r>
              <a:rPr lang="zh-TW" altLang="en-US" dirty="0">
                <a:latin typeface="Arial" panose="020B0604020202020204" pitchFamily="34" charset="0"/>
              </a:rPr>
              <a:t>類別域間路由（</a:t>
            </a:r>
            <a:r>
              <a:rPr lang="en-US" altLang="zh-TW" dirty="0">
                <a:latin typeface="Arial" panose="020B0604020202020204" pitchFamily="34" charset="0"/>
              </a:rPr>
              <a:t>Classless Inter-Domain Routing</a:t>
            </a:r>
            <a:r>
              <a:rPr lang="zh-TW" altLang="en-US" dirty="0">
                <a:latin typeface="Arial" panose="020B0604020202020204" pitchFamily="34" charset="0"/>
              </a:rPr>
              <a:t>、</a:t>
            </a:r>
            <a:r>
              <a:rPr lang="en-US" altLang="zh-TW" dirty="0">
                <a:latin typeface="Arial" panose="020B0604020202020204" pitchFamily="34" charset="0"/>
              </a:rPr>
              <a:t>CIDR</a:t>
            </a:r>
            <a:r>
              <a:rPr lang="zh-TW" altLang="en-US" dirty="0">
                <a:latin typeface="Arial" panose="020B0604020202020204" pitchFamily="34" charset="0"/>
              </a:rPr>
              <a:t>）是一個用於給用戶分配</a:t>
            </a:r>
            <a:r>
              <a:rPr lang="en-US" altLang="zh-TW" dirty="0">
                <a:latin typeface="Arial" panose="020B0604020202020204" pitchFamily="34" charset="0"/>
              </a:rPr>
              <a:t>IP</a:t>
            </a:r>
            <a:r>
              <a:rPr lang="zh-TW" altLang="en-US" dirty="0">
                <a:latin typeface="Arial" panose="020B0604020202020204" pitchFamily="34" charset="0"/>
              </a:rPr>
              <a:t>位址以及在網際網路上有效地路由</a:t>
            </a:r>
            <a:r>
              <a:rPr lang="en-US" altLang="zh-TW" dirty="0">
                <a:latin typeface="Arial" panose="020B0604020202020204" pitchFamily="34" charset="0"/>
              </a:rPr>
              <a:t>IP</a:t>
            </a:r>
            <a:r>
              <a:rPr lang="zh-TW" altLang="en-US" dirty="0">
                <a:latin typeface="Arial" panose="020B0604020202020204" pitchFamily="34" charset="0"/>
              </a:rPr>
              <a:t>封包的對</a:t>
            </a:r>
            <a:r>
              <a:rPr lang="en-US" altLang="zh-TW" dirty="0">
                <a:latin typeface="Arial" panose="020B0604020202020204" pitchFamily="34" charset="0"/>
              </a:rPr>
              <a:t>IP</a:t>
            </a:r>
            <a:r>
              <a:rPr lang="zh-TW" altLang="en-US" dirty="0">
                <a:latin typeface="Arial" panose="020B0604020202020204" pitchFamily="34" charset="0"/>
              </a:rPr>
              <a:t>位址進行歸類的方法。</a:t>
            </a:r>
            <a:endParaRPr lang="en-US" altLang="zh-TW" dirty="0">
              <a:latin typeface="Arial" panose="020B0604020202020204" pitchFamily="34" charset="0"/>
            </a:endParaRPr>
          </a:p>
          <a:p>
            <a:r>
              <a:rPr lang="en-US" altLang="zh-TW" dirty="0">
                <a:latin typeface="Arial" panose="020B0604020202020204" pitchFamily="34" charset="0"/>
              </a:rPr>
              <a:t>10.0.0.0/8</a:t>
            </a:r>
          </a:p>
          <a:p>
            <a:r>
              <a:rPr lang="en-US" altLang="zh-TW" dirty="0">
                <a:latin typeface="Arial" panose="020B0604020202020204" pitchFamily="34" charset="0"/>
              </a:rPr>
              <a:t>172.16.0.0</a:t>
            </a:r>
          </a:p>
          <a:p>
            <a:endParaRPr lang="en-US" altLang="zh-TW" dirty="0">
              <a:latin typeface="Arial" panose="020B0604020202020204" pitchFamily="34" charset="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4628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1A2361-8AE7-4C1B-8FFE-93192DA886ED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3307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737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3582E-0D0D-4E0E-8356-86122B061E6C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22188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27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7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A66E84-7692-4087-ABBB-09D22C2A09EC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29697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354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  <a:p>
            <a:r>
              <a:rPr lang="zh-TW" altLang="en-US" dirty="0" smtClean="0">
                <a:latin typeface="新細明體" panose="02020500000000000000" pitchFamily="18" charset="-120"/>
              </a:rPr>
              <a:t>在</a:t>
            </a:r>
            <a:r>
              <a:rPr lang="zh-TW" altLang="en-US" dirty="0">
                <a:latin typeface="新細明體" panose="02020500000000000000" pitchFamily="18" charset="-120"/>
              </a:rPr>
              <a:t>碰撞前由</a:t>
            </a:r>
            <a:r>
              <a:rPr lang="en-US" altLang="zh-TW" dirty="0">
                <a:latin typeface="新細明體" panose="02020500000000000000" pitchFamily="18" charset="-120"/>
              </a:rPr>
              <a:t>PC3</a:t>
            </a:r>
            <a:r>
              <a:rPr lang="zh-TW" altLang="en-US" dirty="0">
                <a:latin typeface="新細明體" panose="02020500000000000000" pitchFamily="18" charset="-120"/>
              </a:rPr>
              <a:t>使用</a:t>
            </a:r>
            <a:r>
              <a:rPr lang="en-US" altLang="zh-TW" dirty="0">
                <a:latin typeface="新細明體" panose="02020500000000000000" pitchFamily="18" charset="-120"/>
              </a:rPr>
              <a:t>CD</a:t>
            </a:r>
            <a:r>
              <a:rPr lang="zh-TW" altLang="en-US" dirty="0">
                <a:latin typeface="新細明體" panose="02020500000000000000" pitchFamily="18" charset="-120"/>
              </a:rPr>
              <a:t>技術先偵測到匯流排中即將有碰撞，</a:t>
            </a:r>
            <a:r>
              <a:rPr lang="en-US" altLang="zh-TW" dirty="0">
                <a:latin typeface="新細明體" panose="02020500000000000000" pitchFamily="18" charset="-120"/>
              </a:rPr>
              <a:t>PC3</a:t>
            </a:r>
            <a:r>
              <a:rPr lang="zh-TW" altLang="en-US" dirty="0">
                <a:latin typeface="新細明體" panose="02020500000000000000" pitchFamily="18" charset="-120"/>
              </a:rPr>
              <a:t>會發出一個</a:t>
            </a:r>
            <a:r>
              <a:rPr lang="en-US" altLang="zh-TW" dirty="0">
                <a:latin typeface="新細明體" panose="02020500000000000000" pitchFamily="18" charset="-120"/>
              </a:rPr>
              <a:t>JAM</a:t>
            </a:r>
            <a:r>
              <a:rPr lang="zh-TW" altLang="en-US" dirty="0">
                <a:latin typeface="新細明體" panose="02020500000000000000" pitchFamily="18" charset="-120"/>
              </a:rPr>
              <a:t>訊號將匯流排清空，此時</a:t>
            </a:r>
            <a:r>
              <a:rPr lang="en-US" altLang="zh-TW" dirty="0">
                <a:latin typeface="新細明體" panose="02020500000000000000" pitchFamily="18" charset="-120"/>
              </a:rPr>
              <a:t>PC1</a:t>
            </a:r>
            <a:r>
              <a:rPr lang="zh-TW" altLang="en-US" dirty="0">
                <a:latin typeface="新細明體" panose="02020500000000000000" pitchFamily="18" charset="-120"/>
              </a:rPr>
              <a:t>與</a:t>
            </a:r>
            <a:r>
              <a:rPr lang="en-US" altLang="zh-TW" dirty="0">
                <a:latin typeface="新細明體" panose="02020500000000000000" pitchFamily="18" charset="-120"/>
              </a:rPr>
              <a:t>PC4</a:t>
            </a:r>
            <a:r>
              <a:rPr lang="zh-TW" altLang="en-US" dirty="0">
                <a:latin typeface="新細明體" panose="02020500000000000000" pitchFamily="18" charset="-120"/>
              </a:rPr>
              <a:t>資料是沒送成功</a:t>
            </a:r>
            <a:endParaRPr lang="en-US" altLang="zh-TW" dirty="0">
              <a:latin typeface="新細明體" panose="02020500000000000000" pitchFamily="18" charset="-120"/>
            </a:endParaRPr>
          </a:p>
          <a:p>
            <a:r>
              <a:rPr lang="en-US" altLang="zh-TW" dirty="0">
                <a:latin typeface="新細明體" panose="02020500000000000000" pitchFamily="18" charset="-120"/>
              </a:rPr>
              <a:t>CD</a:t>
            </a:r>
            <a:r>
              <a:rPr lang="zh-TW" altLang="en-US" dirty="0">
                <a:latin typeface="新細明體" panose="02020500000000000000" pitchFamily="18" charset="-120"/>
              </a:rPr>
              <a:t>偵測碰接快要發生時，會發出一個</a:t>
            </a:r>
            <a:r>
              <a:rPr lang="en-US" altLang="zh-TW" dirty="0">
                <a:latin typeface="新細明體" panose="02020500000000000000" pitchFamily="18" charset="-120"/>
              </a:rPr>
              <a:t>JAM</a:t>
            </a:r>
            <a:r>
              <a:rPr lang="zh-TW" altLang="en-US" dirty="0">
                <a:latin typeface="新細明體" panose="02020500000000000000" pitchFamily="18" charset="-120"/>
              </a:rPr>
              <a:t>訊號，趕快清除碰撞資料，讓匯流排趕快可以使用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778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B06235-302A-47EF-BA90-397D55986F50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43665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349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362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5837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E156288-043B-4A33-8737-9BE2896EFA27}" type="slidenum">
              <a:rPr lang="en-US" altLang="zh-TW" smtClean="0">
                <a:solidFill>
                  <a:srgbClr val="000000"/>
                </a:solidFill>
              </a:rPr>
              <a:pPr/>
              <a:t>129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9388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59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355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charset="-120"/>
              <a:ea typeface="新細明體" charset="-120"/>
            </a:endParaRPr>
          </a:p>
        </p:txBody>
      </p:sp>
      <p:sp>
        <p:nvSpPr>
          <p:cNvPr id="4659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F1C63B-30C2-4D5C-980D-61F94AECE342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882347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355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368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B473FB94-AB60-4E8E-B068-FC2A24D7EFA5}" type="slidenum">
              <a:rPr lang="en-US" altLang="zh-TW">
                <a:solidFill>
                  <a:srgbClr val="000000"/>
                </a:solidFill>
              </a:rPr>
              <a:pPr/>
              <a:t>131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69244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9216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96A6D-894F-43BF-9E7A-0D2E93AA4A0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30717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 smtClean="0">
              <a:latin typeface="新細明體" panose="02020500000000000000" pitchFamily="18" charset="-120"/>
            </a:endParaRPr>
          </a:p>
        </p:txBody>
      </p:sp>
      <p:sp>
        <p:nvSpPr>
          <p:cNvPr id="1300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4779917F-28A0-4176-87D1-7D52A6325448}" type="slidenum">
              <a:rPr lang="en-US" altLang="zh-TW" smtClean="0">
                <a:solidFill>
                  <a:srgbClr val="000000"/>
                </a:solidFill>
              </a:rPr>
              <a:pPr/>
              <a:t>133</a:t>
            </a:fld>
            <a:endParaRPr lang="en-US" altLang="zh-TW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83831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368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371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Terabyte (TB) = 1024 GB.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KK[ˋ</a:t>
            </a:r>
            <a:r>
              <a:rPr lang="en-US" altLang="zh-TW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tɛrəbaɪt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F52813E1-608A-48E3-B8FA-35975A33C974}" type="slidenum">
              <a:rPr lang="en-US" altLang="zh-TW" smtClean="0">
                <a:solidFill>
                  <a:srgbClr val="000000"/>
                </a:solidFill>
              </a:rPr>
              <a:pPr/>
              <a:t>134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01708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97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011E24-7F29-4EC7-B7F2-42E40FE236B7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44878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373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在預設的情況下，使用</a:t>
            </a:r>
            <a:r>
              <a:rPr lang="en-US" altLang="zh-TW" dirty="0" smtClean="0">
                <a:latin typeface="Arial" panose="020B0604020202020204" pitchFamily="34" charset="0"/>
              </a:rPr>
              <a:t>Windows 7 </a:t>
            </a:r>
            <a:r>
              <a:rPr lang="zh-TW" altLang="en-US" dirty="0" smtClean="0">
                <a:latin typeface="Arial" panose="020B0604020202020204" pitchFamily="34" charset="0"/>
              </a:rPr>
              <a:t>「命令提示字元」是不能無法下「</a:t>
            </a:r>
            <a:r>
              <a:rPr lang="en-US" altLang="zh-TW" dirty="0" smtClean="0">
                <a:latin typeface="Arial" panose="020B0604020202020204" pitchFamily="34" charset="0"/>
              </a:rPr>
              <a:t>telnet</a:t>
            </a:r>
            <a:r>
              <a:rPr lang="zh-TW" altLang="en-US" dirty="0" smtClean="0">
                <a:latin typeface="Arial" panose="020B0604020202020204" pitchFamily="34" charset="0"/>
              </a:rPr>
              <a:t>」指令的。因此要先對</a:t>
            </a:r>
            <a:r>
              <a:rPr lang="en-US" altLang="zh-TW" dirty="0" smtClean="0">
                <a:latin typeface="Arial" panose="020B0604020202020204" pitchFamily="34" charset="0"/>
              </a:rPr>
              <a:t>Windows 7 </a:t>
            </a:r>
            <a:r>
              <a:rPr lang="zh-TW" altLang="en-US" dirty="0" smtClean="0">
                <a:latin typeface="Arial" panose="020B0604020202020204" pitchFamily="34" charset="0"/>
              </a:rPr>
              <a:t>做開啟「</a:t>
            </a:r>
            <a:r>
              <a:rPr lang="en-US" altLang="zh-TW" dirty="0" smtClean="0">
                <a:latin typeface="Arial" panose="020B0604020202020204" pitchFamily="34" charset="0"/>
              </a:rPr>
              <a:t>telnet</a:t>
            </a:r>
            <a:r>
              <a:rPr lang="zh-TW" altLang="en-US" dirty="0" smtClean="0">
                <a:latin typeface="Arial" panose="020B0604020202020204" pitchFamily="34" charset="0"/>
              </a:rPr>
              <a:t>」指令的動作</a:t>
            </a: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EA1F80-5CE8-4E05-852E-931CF9FE538D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77641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215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1069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6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215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06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42CCBBA2-9D8F-4A20-9E52-C316AD01652E}" type="slidenum">
              <a:rPr lang="en-US" altLang="zh-TW">
                <a:solidFill>
                  <a:srgbClr val="000000"/>
                </a:solidFill>
              </a:rPr>
              <a:pPr/>
              <a:t>138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53843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6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228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06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42CCBBA2-9D8F-4A20-9E52-C316AD01652E}" type="slidenum">
              <a:rPr lang="en-US" altLang="zh-TW">
                <a:solidFill>
                  <a:srgbClr val="000000"/>
                </a:solidFill>
              </a:rPr>
              <a:pPr/>
              <a:t>139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66937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65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247</a:t>
            </a:r>
            <a:r>
              <a:rPr lang="zh-TW" altLang="en-US" b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endParaRPr lang="en-US" altLang="zh-TW" b="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ea typeface="新細明體" charset="-120"/>
            </a:endParaRP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4065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42CCBBA2-9D8F-4A20-9E52-C316AD01652E}" type="slidenum">
              <a:rPr lang="en-US" altLang="zh-TW">
                <a:solidFill>
                  <a:srgbClr val="000000"/>
                </a:solidFill>
              </a:rPr>
              <a:pPr/>
              <a:t>140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78505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1069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多少子網路？因為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240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個位元為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1(11110000)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，所以答案是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zh-TW" sz="1200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－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＝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2(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減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是因為全都為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的子網路位元在預設上是無效的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1069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    </a:t>
            </a: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1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72826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    </a:t>
            </a: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1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58455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    </a:t>
            </a: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1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65711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    </a:t>
            </a: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1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365479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    </a:t>
            </a: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12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12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12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9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  <a:endParaRPr lang="en-US" altLang="zh-TW" sz="9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66175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anose="02020500000000000000" pitchFamily="18" charset="-12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813E1-608A-48E3-B8FA-35975A33C97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33465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新細明體" pitchFamily="18" charset="-120"/>
            </a:endParaRPr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02604B-1741-4160-81B0-24635089A25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50838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17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0035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8C48E9-5044-4439-B66C-B18F5CAC01C9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66396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0240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12AE4-AF42-4348-B011-311C383C5515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948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044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5789F6-F24C-44D7-AB2D-5DBEBBADDA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94287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zh-TW" altLang="en-US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透過</a:t>
            </a:r>
            <a:r>
              <a:rPr lang="en-US" altLang="zh-TW" dirty="0" err="1" smtClean="0">
                <a:latin typeface="Arial" panose="020B0604020202020204" pitchFamily="34" charset="0"/>
              </a:rPr>
              <a:t>HiNet</a:t>
            </a:r>
            <a:r>
              <a:rPr lang="en-US" altLang="zh-TW" dirty="0" smtClean="0">
                <a:latin typeface="Arial" panose="020B0604020202020204" pitchFamily="34" charset="0"/>
              </a:rPr>
              <a:t> Proxy</a:t>
            </a:r>
            <a:r>
              <a:rPr lang="zh-TW" altLang="en-US" dirty="0" smtClean="0">
                <a:latin typeface="Arial" panose="020B0604020202020204" pitchFamily="34" charset="0"/>
              </a:rPr>
              <a:t>扮演代理者與</a:t>
            </a:r>
            <a:r>
              <a:rPr lang="en-US" altLang="zh-TW" dirty="0" smtClean="0">
                <a:latin typeface="Arial" panose="020B0604020202020204" pitchFamily="34" charset="0"/>
              </a:rPr>
              <a:t>cache server (</a:t>
            </a:r>
            <a:r>
              <a:rPr lang="zh-TW" altLang="en-US" dirty="0" smtClean="0">
                <a:latin typeface="Arial" panose="020B0604020202020204" pitchFamily="34" charset="0"/>
              </a:rPr>
              <a:t>快取伺服器</a:t>
            </a:r>
            <a:r>
              <a:rPr lang="en-US" altLang="zh-TW" dirty="0" smtClean="0">
                <a:latin typeface="Arial" panose="020B0604020202020204" pitchFamily="34" charset="0"/>
              </a:rPr>
              <a:t>)</a:t>
            </a:r>
            <a:r>
              <a:rPr lang="zh-TW" altLang="en-US" dirty="0" smtClean="0">
                <a:latin typeface="Arial" panose="020B0604020202020204" pitchFamily="34" charset="0"/>
              </a:rPr>
              <a:t>的角色，它將透過</a:t>
            </a:r>
            <a:r>
              <a:rPr lang="en-US" altLang="zh-TW" dirty="0" smtClean="0">
                <a:latin typeface="Arial" panose="020B0604020202020204" pitchFamily="34" charset="0"/>
              </a:rPr>
              <a:t>proxy</a:t>
            </a:r>
            <a:r>
              <a:rPr lang="zh-TW" altLang="en-US" dirty="0" smtClean="0">
                <a:latin typeface="Arial" panose="020B0604020202020204" pitchFamily="34" charset="0"/>
              </a:rPr>
              <a:t>讀取的資料存一份在</a:t>
            </a:r>
            <a:r>
              <a:rPr lang="en-US" altLang="zh-TW" dirty="0" smtClean="0">
                <a:latin typeface="Arial" panose="020B0604020202020204" pitchFamily="34" charset="0"/>
              </a:rPr>
              <a:t>cache</a:t>
            </a:r>
            <a:r>
              <a:rPr lang="zh-TW" altLang="en-US" dirty="0" smtClean="0">
                <a:latin typeface="Arial" panose="020B0604020202020204" pitchFamily="34" charset="0"/>
              </a:rPr>
              <a:t>中。當有使用者提出需求時，它會先檢查自己的</a:t>
            </a:r>
            <a:r>
              <a:rPr lang="en-US" altLang="zh-TW" dirty="0" smtClean="0">
                <a:latin typeface="Arial" panose="020B0604020202020204" pitchFamily="34" charset="0"/>
              </a:rPr>
              <a:t>cache</a:t>
            </a:r>
            <a:r>
              <a:rPr lang="zh-TW" altLang="en-US" dirty="0" smtClean="0">
                <a:latin typeface="Arial" panose="020B0604020202020204" pitchFamily="34" charset="0"/>
              </a:rPr>
              <a:t>中是否有這份資料；若有，</a:t>
            </a:r>
            <a:r>
              <a:rPr lang="en-US" altLang="zh-TW" dirty="0" smtClean="0">
                <a:latin typeface="Arial" panose="020B0604020202020204" pitchFamily="34" charset="0"/>
              </a:rPr>
              <a:t>Proxy Server</a:t>
            </a:r>
            <a:r>
              <a:rPr lang="zh-TW" altLang="en-US" dirty="0" smtClean="0">
                <a:latin typeface="Arial" panose="020B0604020202020204" pitchFamily="34" charset="0"/>
              </a:rPr>
              <a:t>就可立即傳回這份資料；若沒有，再向外查詢，取得資料後存一份在</a:t>
            </a:r>
            <a:r>
              <a:rPr lang="en-US" altLang="zh-TW" dirty="0" smtClean="0">
                <a:latin typeface="Arial" panose="020B0604020202020204" pitchFamily="34" charset="0"/>
              </a:rPr>
              <a:t>cache</a:t>
            </a:r>
            <a:r>
              <a:rPr lang="zh-TW" altLang="en-US" dirty="0" smtClean="0">
                <a:latin typeface="Arial" panose="020B0604020202020204" pitchFamily="34" charset="0"/>
              </a:rPr>
              <a:t>並傳給使用者。因此在</a:t>
            </a:r>
            <a:r>
              <a:rPr lang="en-US" altLang="zh-TW" dirty="0" err="1" smtClean="0">
                <a:latin typeface="Arial" panose="020B0604020202020204" pitchFamily="34" charset="0"/>
              </a:rPr>
              <a:t>HiNet</a:t>
            </a:r>
            <a:r>
              <a:rPr lang="en-US" altLang="zh-TW" dirty="0" smtClean="0">
                <a:latin typeface="Arial" panose="020B0604020202020204" pitchFamily="34" charset="0"/>
              </a:rPr>
              <a:t> Proxy Server</a:t>
            </a:r>
            <a:r>
              <a:rPr lang="zh-TW" altLang="en-US" dirty="0" smtClean="0">
                <a:latin typeface="Arial" panose="020B0604020202020204" pitchFamily="34" charset="0"/>
              </a:rPr>
              <a:t>的大容量快取服務下，你想讀取的資料，都有可能在</a:t>
            </a:r>
            <a:r>
              <a:rPr lang="en-US" altLang="zh-TW" dirty="0" smtClean="0">
                <a:latin typeface="Arial" panose="020B0604020202020204" pitchFamily="34" charset="0"/>
              </a:rPr>
              <a:t>cache</a:t>
            </a:r>
            <a:r>
              <a:rPr lang="zh-TW" altLang="en-US" dirty="0" smtClean="0">
                <a:latin typeface="Arial" panose="020B0604020202020204" pitchFamily="34" charset="0"/>
              </a:rPr>
              <a:t>已經有了，便不需多花時間存取重複的資料。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065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E1E83F-0C3B-4460-87FF-8B5F37D96F9A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153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698242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085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BC1107-0431-483A-8949-8A496C79F1DE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154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62155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105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BCC9B0-54A9-4B39-8524-6CD7075B5469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69955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126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6895A9-3607-4BA0-9B66-470553A6FCB4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48580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146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59BA13-9ACE-419B-8596-40BF88E3C41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157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79052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1674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160993-39A9-41A6-BFB3-D377E7FD1B5A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158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39944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1878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C0A289-02A3-4986-954F-292F795B2C2A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84685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2083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5EAF7C-8C9A-456B-952F-68F36262330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911124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10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1372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9463E3-7488-4C3D-BF3F-EF4244B40DDE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161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67648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88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anose="020B0604020202020204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26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2089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FA6715-A675-4F8E-815E-F5939E338C72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162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072995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2109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B0E58-2F80-4B19-B48B-6EA79E5727F8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163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80552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23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TW" dirty="0" smtClean="0">
                <a:latin typeface="Arial" pitchFamily="34" charset="0"/>
              </a:rPr>
              <a:t>90011</a:t>
            </a:r>
            <a:r>
              <a:rPr lang="zh-TW" altLang="en-US" dirty="0" smtClean="0">
                <a:latin typeface="Arial" pitchFamily="34" charset="0"/>
              </a:rPr>
              <a:t>工作項目二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r>
              <a:rPr lang="zh-TW" altLang="en-US" dirty="0" smtClean="0">
                <a:latin typeface="Arial" pitchFamily="34" charset="0"/>
              </a:rPr>
              <a:t>第</a:t>
            </a:r>
            <a:r>
              <a:rPr lang="en-US" altLang="zh-TW" dirty="0" smtClean="0">
                <a:latin typeface="Arial" pitchFamily="34" charset="0"/>
              </a:rPr>
              <a:t>16</a:t>
            </a:r>
            <a:r>
              <a:rPr lang="zh-TW" altLang="en-US" dirty="0" smtClean="0">
                <a:latin typeface="Arial" pitchFamily="34" charset="0"/>
              </a:rPr>
              <a:t>題</a:t>
            </a: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latinLnBrk="1" hangingPunct="1">
              <a:lnSpc>
                <a:spcPct val="150000"/>
              </a:lnSpc>
              <a:spcBef>
                <a:spcPct val="0"/>
              </a:spcBef>
            </a:pP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2129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EA0BAA-AE15-4B41-B860-944561E6387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865836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665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65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en-US" altLang="zh-TW" dirty="0" smtClean="0">
                <a:latin typeface="Arial" panose="020B0604020202020204" pitchFamily="34" charset="0"/>
              </a:rPr>
              <a:t>KK [ˋ</a:t>
            </a:r>
            <a:r>
              <a:rPr lang="en-US" altLang="zh-TW" dirty="0" err="1" smtClean="0">
                <a:latin typeface="Arial" panose="020B0604020202020204" pitchFamily="34" charset="0"/>
              </a:rPr>
              <a:t>kwɑdrətʃɚ</a:t>
            </a:r>
            <a:r>
              <a:rPr lang="en-US" altLang="zh-TW" dirty="0" smtClean="0">
                <a:latin typeface="Arial" panose="020B0604020202020204" pitchFamily="34" charset="0"/>
              </a:rPr>
              <a:t>] 【</a:t>
            </a:r>
            <a:r>
              <a:rPr lang="zh-TW" altLang="en-US" dirty="0" smtClean="0">
                <a:latin typeface="Arial" panose="020B0604020202020204" pitchFamily="34" charset="0"/>
              </a:rPr>
              <a:t>物</a:t>
            </a:r>
            <a:r>
              <a:rPr lang="en-US" altLang="zh-TW" dirty="0" smtClean="0">
                <a:latin typeface="Arial" panose="020B0604020202020204" pitchFamily="34" charset="0"/>
              </a:rPr>
              <a:t>】</a:t>
            </a:r>
            <a:r>
              <a:rPr lang="zh-TW" altLang="en-US" dirty="0" smtClean="0">
                <a:latin typeface="Arial" panose="020B0604020202020204" pitchFamily="34" charset="0"/>
              </a:rPr>
              <a:t>九十度相位差　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en-US" altLang="zh-TW" dirty="0" smtClean="0">
                <a:latin typeface="Arial" panose="020B0604020202020204" pitchFamily="34" charset="0"/>
              </a:rPr>
              <a:t>KK [ˋ</a:t>
            </a:r>
            <a:r>
              <a:rPr lang="en-US" altLang="zh-TW" dirty="0" err="1" smtClean="0">
                <a:latin typeface="Arial" panose="020B0604020202020204" pitchFamily="34" charset="0"/>
              </a:rPr>
              <a:t>kærɪɚ</a:t>
            </a:r>
            <a:r>
              <a:rPr lang="en-US" altLang="zh-TW" dirty="0" smtClean="0">
                <a:latin typeface="Arial" panose="020B0604020202020204" pitchFamily="34" charset="0"/>
              </a:rPr>
              <a:t>]    KK [ˋ</a:t>
            </a:r>
            <a:r>
              <a:rPr lang="en-US" altLang="zh-TW" dirty="0" err="1" smtClean="0">
                <a:latin typeface="Arial" panose="020B0604020202020204" pitchFamily="34" charset="0"/>
              </a:rPr>
              <a:t>æmplə</a:t>
            </a:r>
            <a:r>
              <a:rPr lang="el-GR" altLang="zh-TW" dirty="0" smtClean="0">
                <a:latin typeface="Arial" panose="020B0604020202020204" pitchFamily="34" charset="0"/>
              </a:rPr>
              <a:t>͵</a:t>
            </a:r>
            <a:r>
              <a:rPr lang="en-US" altLang="zh-TW" dirty="0" err="1" smtClean="0">
                <a:latin typeface="Arial" panose="020B0604020202020204" pitchFamily="34" charset="0"/>
              </a:rPr>
              <a:t>tjud</a:t>
            </a:r>
            <a:r>
              <a:rPr lang="en-US" altLang="zh-TW" dirty="0" smtClean="0">
                <a:latin typeface="Arial" panose="020B0604020202020204" pitchFamily="34" charset="0"/>
              </a:rPr>
              <a:t>] </a:t>
            </a:r>
            <a:r>
              <a:rPr lang="zh-TW" altLang="en-US" dirty="0" smtClean="0">
                <a:latin typeface="Arial" panose="020B0604020202020204" pitchFamily="34" charset="0"/>
              </a:rPr>
              <a:t>廣大，廣闊   </a:t>
            </a:r>
            <a:r>
              <a:rPr lang="en-US" altLang="zh-TW" dirty="0" smtClean="0">
                <a:latin typeface="Arial" panose="020B0604020202020204" pitchFamily="34" charset="0"/>
              </a:rPr>
              <a:t>KK [</a:t>
            </a:r>
            <a:r>
              <a:rPr lang="el-GR" altLang="zh-TW" dirty="0" smtClean="0">
                <a:latin typeface="Arial" panose="020B0604020202020204" pitchFamily="34" charset="0"/>
              </a:rPr>
              <a:t>͵</a:t>
            </a:r>
            <a:r>
              <a:rPr lang="en-US" altLang="zh-TW" dirty="0" err="1" smtClean="0">
                <a:latin typeface="Arial" panose="020B0604020202020204" pitchFamily="34" charset="0"/>
              </a:rPr>
              <a:t>mɑdʒəˋleʃən</a:t>
            </a:r>
            <a:r>
              <a:rPr lang="en-US" altLang="zh-TW" dirty="0" smtClean="0">
                <a:latin typeface="Arial" panose="020B0604020202020204" pitchFamily="34" charset="0"/>
              </a:rPr>
              <a:t>] </a:t>
            </a:r>
            <a:r>
              <a:rPr lang="zh-TW" altLang="en-US" dirty="0" smtClean="0">
                <a:latin typeface="Arial" panose="020B0604020202020204" pitchFamily="34" charset="0"/>
              </a:rPr>
              <a:t>調節；調整　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en-US" altLang="zh-TW" dirty="0" smtClean="0">
                <a:latin typeface="Arial" panose="020B0604020202020204" pitchFamily="34" charset="0"/>
              </a:rPr>
              <a:t>KK [</a:t>
            </a:r>
            <a:r>
              <a:rPr lang="en-US" altLang="zh-TW" dirty="0" err="1" smtClean="0">
                <a:latin typeface="Arial" panose="020B0604020202020204" pitchFamily="34" charset="0"/>
              </a:rPr>
              <a:t>dɪˋskrit</a:t>
            </a:r>
            <a:r>
              <a:rPr lang="en-US" altLang="zh-TW" dirty="0" smtClean="0">
                <a:latin typeface="Arial" panose="020B0604020202020204" pitchFamily="34" charset="0"/>
              </a:rPr>
              <a:t>] </a:t>
            </a:r>
            <a:r>
              <a:rPr lang="zh-TW" altLang="en-US" dirty="0" smtClean="0">
                <a:latin typeface="Arial" panose="020B0604020202020204" pitchFamily="34" charset="0"/>
              </a:rPr>
              <a:t>分離的；不連接的　　</a:t>
            </a:r>
            <a:r>
              <a:rPr lang="en-US" altLang="zh-TW" dirty="0" smtClean="0">
                <a:latin typeface="Arial" panose="020B0604020202020204" pitchFamily="34" charset="0"/>
              </a:rPr>
              <a:t>KK [ton] </a:t>
            </a:r>
            <a:r>
              <a:rPr lang="zh-TW" altLang="en-US" dirty="0" smtClean="0">
                <a:latin typeface="Arial" panose="020B0604020202020204" pitchFamily="34" charset="0"/>
              </a:rPr>
              <a:t>音，音色</a:t>
            </a:r>
          </a:p>
          <a:p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2666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5268CD-7996-4302-BD31-0D356E1E7835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165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966263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485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endParaRPr lang="en-US" altLang="zh-TW" dirty="0" smtClean="0">
              <a:latin typeface="新細明體" panose="02020500000000000000" pitchFamily="18" charset="-120"/>
            </a:endParaRPr>
          </a:p>
        </p:txBody>
      </p:sp>
      <p:sp>
        <p:nvSpPr>
          <p:cNvPr id="33485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6F32AF-DD92-4448-B5F2-9ADC64DB921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166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230488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68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369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002E0-1C03-4ECC-93F8-0D8D1D5A229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167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101192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894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3894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924C42-B4B9-4D2D-A8E2-33BA7984142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168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48348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09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4099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964EB7-A332-46E1-9720-C59F1893DE66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169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189493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304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430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61C1E1-FAD3-434C-8BF6-5838A8CDF617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170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919856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509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dirty="0" smtClean="0">
                <a:latin typeface="Arial" panose="020B0604020202020204" pitchFamily="34" charset="0"/>
              </a:rPr>
              <a:t>工作項目三</a:t>
            </a:r>
            <a:endParaRPr lang="en-US" altLang="zh-TW" dirty="0" smtClean="0">
              <a:latin typeface="Arial" panose="020B0604020202020204" pitchFamily="34" charset="0"/>
            </a:endParaRPr>
          </a:p>
          <a:p>
            <a:r>
              <a:rPr lang="zh-TW" altLang="en-US" dirty="0" smtClean="0">
                <a:latin typeface="Arial" panose="020B0604020202020204" pitchFamily="34" charset="0"/>
              </a:rPr>
              <a:t>第</a:t>
            </a:r>
            <a:r>
              <a:rPr lang="en-US" altLang="zh-TW" dirty="0" smtClean="0">
                <a:latin typeface="Arial" panose="020B0604020202020204" pitchFamily="34" charset="0"/>
              </a:rPr>
              <a:t>66</a:t>
            </a:r>
            <a:r>
              <a:rPr lang="zh-TW" altLang="en-US" dirty="0" smtClean="0">
                <a:latin typeface="Arial" panose="020B0604020202020204" pitchFamily="34" charset="0"/>
              </a:rPr>
              <a:t>題</a:t>
            </a:r>
            <a:endParaRPr lang="en-US" altLang="zh-TW" dirty="0" smtClean="0">
              <a:latin typeface="Arial" panose="020B0604020202020204" pitchFamily="34" charset="0"/>
            </a:endParaRPr>
          </a:p>
        </p:txBody>
      </p:sp>
      <p:sp>
        <p:nvSpPr>
          <p:cNvPr id="34509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2109F5-961F-4259-9A3E-A20D8E1B35CF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171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98562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857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Arial" pitchFamily="34" charset="0"/>
            </a:endParaRPr>
          </a:p>
        </p:txBody>
      </p:sp>
      <p:sp>
        <p:nvSpPr>
          <p:cNvPr id="4085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6F8A4F-33CB-4473-BEA0-AD5480A79DCB}" type="slidenum">
              <a:rPr kumimoji="1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172</a:t>
            </a:fld>
            <a:endParaRPr kumimoji="1" lang="en-US" altLang="zh-TW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60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7A0CC-0746-4142-A40A-42E95C11D04D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023593-938C-4A03-8E4E-C9B39E2A9389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solidFill>
            <a:srgbClr val="800000"/>
          </a:solidFill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5AB58-8A78-4172-9B4A-8031AB9429A1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E70EA-22FB-4774-AF93-BAFCE85AA6B5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FBC07-BC97-4410-836C-CE68E5FD3204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749F0-B582-4765-BAF7-94DAD9EA70A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63D28-6C0C-4E2C-894B-259D4B78086F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6ADA1-BDE0-48BE-A91C-1CBB92913026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43788-88BE-4BCD-ADBA-B41006DFA6EB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94C49-900D-47AF-8C44-965F6F65CBCE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A5571-E3A0-4EB6-B5DA-91D27753B00B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C2251-55B0-437B-964B-692F9C2C45B6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BB4F-E2B2-43E2-8778-FFBF66124C77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9F924-FF08-4E00-B914-F15A75AFFCB8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7788C-5116-484C-A228-86DE25FEFDF9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C3CA-B25F-4AD2-9D13-3F404784E2D4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B5915-66AA-4C43-8CEE-4B87C3E74BB0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CBA79-25E1-46CC-BE23-50D1748B04A2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534F1-3C54-4C15-86FF-B986EDDFC5EC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5A882-9FAD-44EC-870F-66FA60FF9440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A4E7A-9592-4738-810F-DC02D0D45E9C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5D258-D882-4448-AC4C-DCD511830A1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F08EB-6BDE-4403-8A3F-32DA150B7D2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97CEA-5D04-4752-BEF0-F5106C93E3B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1E75B-F84F-46A3-B2A3-00750E7FB63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43277-51F2-496A-92B4-0B59D6BD750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C4A4F-59E0-41CD-A92F-005A2FBECEED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D04D2-676E-445E-808E-129C9A89820D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DF34D-26C3-47B8-BA78-7C1D196EC30D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15CA1-E692-4FC5-925B-2634D987F7B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4B14-50D9-46C8-AE69-7B33A8AAC0C6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85E43-0806-4F41-A1C5-0194DC5EE80E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32D79-1FA3-45AE-9F5C-E936C7ED8572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EAF3A-1301-4144-814D-375A863B78B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A3A71-8641-4C3B-BF18-746717D7F3F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412C1-4C92-456F-BD93-F02D76DF6DC4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FA40A-E4E3-4140-AB0F-EB10743DB49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AB20F-BBCE-481D-9D70-67EA802664E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9BE42-10C1-40EA-8011-7B7F8027C02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767A3-14F9-421C-BB67-F9799146E53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DEEF9-F560-4F92-BA67-408DF9DE8A4A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3AB25-A015-4389-A03C-48EBB344214F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0F764-848E-4D8A-80E9-B3645DF60D3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AA63D-691C-4AF9-8BBA-319D611EC769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4688E-DB5C-4733-94CE-7D84E3171D8D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0F24C-27D8-469B-83FA-74D40CD14C6F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72FBAE-7EAB-40FB-8DE9-230A11D09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27A56E-0655-499D-8E2D-C19087BB713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B8C37B-D019-43B4-A581-68522A3118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C114FB-A282-433F-B031-88800F8FA40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B53559-DCCB-4FDC-A94E-448D3033E92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CECAFA-3245-4592-9D28-6147EDC0EA3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3A5296D-532A-4309-9B21-74E3AF7376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CD927D-846F-43DC-B126-7D0C20A1ED1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9A598E-7042-4B82-B032-5628EF027B4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D9B258-72DF-4A5F-9BBF-91ABB586D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86C294C-F479-4259-B718-B9402377797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D36F01-F7E3-483D-887C-130EB694176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72FBAE-7EAB-40FB-8DE9-230A11D09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27A56E-0655-499D-8E2D-C19087BB713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B8C37B-D019-43B4-A581-68522A3118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C114FB-A282-433F-B031-88800F8FA40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B53559-DCCB-4FDC-A94E-448D3033E92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CECAFA-3245-4592-9D28-6147EDC0EA3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3A5296D-532A-4309-9B21-74E3AF7376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CD927D-846F-43DC-B126-7D0C20A1ED1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9A598E-7042-4B82-B032-5628EF027B4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D9B258-72DF-4A5F-9BBF-91ABB586D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86C294C-F479-4259-B718-B9402377797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D36F01-F7E3-483D-887C-130EB694176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672FBAE-7EAB-40FB-8DE9-230A11D09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27A56E-0655-499D-8E2D-C19087BB713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0B8C37B-D019-43B4-A581-68522A3118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C114FB-A282-433F-B031-88800F8FA40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B53559-DCCB-4FDC-A94E-448D3033E92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CECAFA-3245-4592-9D28-6147EDC0EA3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3A5296D-532A-4309-9B21-74E3AF7376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CD927D-846F-43DC-B126-7D0C20A1ED1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9A598E-7042-4B82-B032-5628EF027B4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BD9B258-72DF-4A5F-9BBF-91ABB586D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86C294C-F479-4259-B718-B9402377797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D36F01-F7E3-483D-887C-130EB694176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14743D6-55F9-4273-B070-876F1409B2A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2B6275-C82F-49DB-971A-E951601B5D6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22C4F6-7B98-4884-9460-AB37150CEBA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3C7ACDE-BD5B-47B7-ABE2-E7628766085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D02906-9216-4812-B065-009957507C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758EFE-92E1-40C5-A88D-F9D145AD47A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EA69D4-EB00-46BC-B225-31087A0FF8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32AC653-4A26-41FF-A672-F9D10BED5D0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3C3080-608C-46D1-A85C-63DB350E34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6D4029E-342D-406A-B1A0-E60979AD314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FC81A50-CF85-4FA5-82B3-B7F2DB0B9A2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F1ACA55-3965-444A-B5E1-4F3CAC8E15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7172B-9091-47DF-9270-5CA40BB4D3C9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72843-7AE0-42D4-A7CE-89D3856E818B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1AC82-DEB8-4AED-8F2D-4DE14CC702C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0D148-9802-4880-8DB3-E97A24C7149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A2037-5199-409C-9D45-7F69CE58080D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C418C-7504-44C0-AE3C-B4E8E91084FC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0E05D-8CFB-42DB-9A7C-0B3DD4DEE2E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BD6F3-B7CB-46D2-861E-61B28D01D5D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11CB6-BFE7-406F-BBC7-9A64BE3D085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F447E-031E-413E-AB15-71454430AF96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256DB-F862-460E-B96E-A58BEAC835B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F861E-B363-4C80-8F38-627EB9B23F0B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2A3A71-8641-4C3B-BF18-746717D7F3F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119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9412C1-4C92-456F-BD93-F02D76DF6DC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26935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CFA40A-E4E3-4140-AB0F-EB10743DB49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70075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AB20F-BBCE-481D-9D70-67EA802664E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83850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E9BE42-10C1-40EA-8011-7B7F8027C02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54658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767A3-14F9-421C-BB67-F9799146E5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8758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4DEEF9-F560-4F92-BA67-408DF9DE8A4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9839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73AB25-A015-4389-A03C-48EBB344214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5862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40F764-848E-4D8A-80E9-B3645DF60D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70096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AA63D-691C-4AF9-8BBA-319D611EC76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62185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4688E-DB5C-4733-94CE-7D84E3171D8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3628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0F24C-27D8-469B-83FA-74D40CD14C6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14281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2765F5-4F80-4852-AF56-86135B9B9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9CC0B7-1995-48CA-8903-29BD06B30A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EE431F-B067-4A86-956A-1321306408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A2C516-0346-40A1-AF09-4253BC6A32E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3449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DF45E3-2E7D-4800-B04A-4CEFFD461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664223-F4F0-46E3-B464-35A1C0A47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3C1A1-38A9-4DA1-9019-283ECA515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8B5559-551E-4F2B-8067-D7B4DA7975A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19435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C506D2-02E4-4A8D-A5A8-D680E33829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D8EA99-6DB2-41F0-881F-7282ACD2C5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42C2B3-EB4E-4968-B779-61C650792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EF1777-5286-47A6-BFB0-8E1860F54DA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06743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8DB5A-E72A-4A00-B31A-D5BB4AD2AE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6E7D1-C49C-4295-B1EC-5F88F3482F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38D13-D33E-4AD0-8209-B6124E8742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2E527-6268-484F-A13C-EE61C9AB866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6697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7574237-BCE6-425F-A259-BB6BD44402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7025ED-DAEA-48DD-8F3D-C52522FC2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7D28DC-3FD2-4055-92DC-908CA2663E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95ED6F-AAF5-4482-8FD0-55113BFE022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42677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C61F031-4D1D-4253-9BC8-772D72AC40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21920A-DBB7-48F1-9699-647C09AE4D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D6CF8A-19D1-490E-998A-64DF7D33A5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D210C-7725-499C-A00A-920BEC6456C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54934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BD3636-98EC-4CFF-A5FF-D202BF24E2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578C982-A727-40DB-83D1-1E275C404E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24B7CF-BB05-4E3A-A58B-C6BA3A78B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1356F4-2CD4-41DF-B425-462259191CE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4969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BB886-B388-43E4-9C38-9F17B9F35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78342-2DEC-4B3A-BA75-204C685A2D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94EE4-BD05-4B39-8C0A-8474FF789F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3D1FC2-CF6E-4819-86C4-D95E002A5C7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48171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D0790-D6A4-45C4-9515-DA5D74A23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1646B6-4D14-4B9F-89B2-0B221A5A83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BA5DCD-41A0-4210-8B62-A2C47BADE1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D5251-83DB-4645-AF3A-706D2BE0DF8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56340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ACB098-EB91-4E69-AC78-A81A0F14A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57B662-733A-4D3D-AA5B-6EE5E52971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29B06A-F45F-4E11-894A-B54BCED1C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4712CB-2653-457B-8E0F-6E6C7A8F591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84862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BA1F32-BF13-4E55-A552-2D4B3F5CE0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8BD49A-C2DC-4AD9-BDF0-295DD9E8E3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7D7820-45EF-4193-B873-B067F5970F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05E210-53DC-4937-A44A-22D33ED5DA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53910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78FB4BD-95C9-488A-8C56-C655C627F3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8DB7AB-9F6D-4F9B-897E-1A460082CB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EBC3F0-C934-4C19-80D9-CE1AFCDC34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062266-0D36-4F6B-89D5-03B4F9C1E1E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85678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E52093-2497-44AE-A0FE-D1495526EFC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18248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47D45-45C6-41E6-98DE-E0FD4F094C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04860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4D491-2217-4C01-ABAC-A20D38CE56B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34076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1F3B9A-ADE2-42D4-AA22-EE53E4E7FED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10431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46B368-7D16-4CF4-A47D-2DCA149AE2A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56955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68EFA-BF99-4927-9046-48B6D3F8AF5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7120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3AFDE5-ABB5-4AA4-9687-2BE90C2B9DC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72646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ED7F77-8278-4BF8-8F05-BFA2CF40FBD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0106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39F28B-836E-4B3F-8A8E-5EA09653FBB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05154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5C5F77-DFC5-4F28-855E-B322CC7FB2A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2568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84081A-2E9A-4D51-B005-402F0637AF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73746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9C320A-B8B7-447D-8625-A39FD279FCB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09545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430409-9E13-423D-AD6B-F87F6E89BAA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01042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F4B5E-CE83-4425-8967-EB95E68FDC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0325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F2F2C0-A0F6-4D6A-B04B-1BED2C682AD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7489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22C0E-D238-4936-9B78-E91106059A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16379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D82162-7F2A-4F18-94E1-E6F6EAB5647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71255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460EBA-6EC0-4421-B8EE-9C037A741DD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47627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588DAC-F06F-46D3-871B-70490791078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54744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2CF317-A9EE-4617-B4EA-CF072F0D6EA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976745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80A28A-0108-402B-A61E-341CBD48F99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45834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DD562C-F6B3-4576-916F-DBC64CBFD3C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04021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4B83B-E4AB-4B56-949B-DAF8096382E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29831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9E43C-03FB-4434-B396-8D2E878CCC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59525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30627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1379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23623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70602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38709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71876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535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38496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05200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98289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30845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F08EB-6BDE-4403-8A3F-32DA150B7D2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89992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7CEA-5D04-4752-BEF0-F5106C93E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55202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1E75B-F84F-46A3-B2A3-00750E7FB6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49417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43277-51F2-496A-92B4-0B59D6BD750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26883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C4A4F-59E0-41CD-A92F-005A2FBECEE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11855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4D04D2-676E-445E-808E-129C9A8982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6271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DF34D-26C3-47B8-BA78-7C1D196EC3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738391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15CA1-E692-4FC5-925B-2634D987F7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00689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F4B14-50D9-46C8-AE69-7B33A8AAC0C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96722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85E43-0806-4F41-A1C5-0194DC5EE80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274674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D32D79-1FA3-45AE-9F5C-E936C7ED857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4724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EAF3A-1301-4144-814D-375A863B78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548235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13EC5E-C4F9-417B-A0CD-3B43A55B111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63011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405679-46DC-47B9-9401-4A51DACA708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0669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A9A0AB-CC2D-40D7-942E-D11BA968B08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29964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8A550D-C94E-441F-A699-2D16E30A99A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51692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28F6C4-7340-4406-8DAB-98EC788AF01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16531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A13264-714D-4FF9-AC0D-ECD389B9763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5732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14D32-D57E-48FB-8F33-1055E5B968C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02014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09FCFB-C6D4-4361-A1F1-41F5D3558FD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16641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32AAF-DC31-4387-98E8-D6F19FE80CD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59938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3D0355-7B8D-4421-98F9-F63F63B2EE0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6212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BCE181-8061-4B96-A2BA-DA485F26541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684241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650989-F30C-4F39-893E-C91EA244A7B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645369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C19A90-84B4-4800-A921-69D1780209C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89526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6D86A-7EF8-4CC3-8AB1-3979D19139D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36120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EA2A5-922E-4E16-B13A-AD70AA2144D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157497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C0A89B-6DF2-4269-B530-57E9CA385B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50513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75F20-D5DA-4671-AEC0-AC312120CFE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442399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837C3-F606-4D58-86CE-29E5734E0F6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61076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032A1A-61F7-4D8C-BB22-2CDFB76E984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1181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82A8B5-37C5-45E9-A88F-3BDACFFB735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67144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4BAAF-D1EA-4F30-AD5B-F4843CE92F0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510015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D3AD1-1919-4C2E-A896-952258A066D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27555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D6784D-4156-4491-B027-F6A1B6ABFF5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895257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628BA3-98B3-4973-89FB-05FDDE4C09F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23406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70C150-7A24-4363-9FD7-1CC87AA07E8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13389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53FA69-569F-40C1-B7EE-8FF7E9EB3A9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08339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4B3343-549D-4C9A-9D86-1BD7D759498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75582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9D2EC-7AFD-45F6-B081-88A3A2AF3E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42119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DC6AA-C103-43AC-AD14-F161CAA2337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54809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3927F-B46B-4117-8E90-99808EC582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31643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C8758F-2FDF-468B-AFA7-3E17410759E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751402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0DF1BA-8D60-4EB6-8F71-5488E02592D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02383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00B938-FABC-4377-B6E0-ACFB795A37F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32602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9C0FBE-5E37-4551-8B2E-4C5304EB858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161016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3F9598-EABC-4622-88BF-752598DD6A9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05607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4E6CFC-C17C-4A25-8934-C9085EBFB6F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36914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F08EB-6BDE-4403-8A3F-32DA150B7D2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400647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7CEA-5D04-4752-BEF0-F5106C93E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10002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1E75B-F84F-46A3-B2A3-00750E7FB6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030629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43277-51F2-496A-92B4-0B59D6BD750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95634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C4A4F-59E0-41CD-A92F-005A2FBECEE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091576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4D04D2-676E-445E-808E-129C9A8982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74871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DF34D-26C3-47B8-BA78-7C1D196EC3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93007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15CA1-E692-4FC5-925B-2634D987F7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67360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F4B14-50D9-46C8-AE69-7B33A8AAC0C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79180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85E43-0806-4F41-A1C5-0194DC5EE80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81908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D32D79-1FA3-45AE-9F5C-E936C7ED857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955587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EAF3A-1301-4144-814D-375A863B78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32520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F08EB-6BDE-4403-8A3F-32DA150B7D2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5878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7CEA-5D04-4752-BEF0-F5106C93E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6998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1E75B-F84F-46A3-B2A3-00750E7FB6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586832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43277-51F2-496A-92B4-0B59D6BD750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5706345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C4A4F-59E0-41CD-A92F-005A2FBECEE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283328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4D04D2-676E-445E-808E-129C9A8982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222734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DF34D-26C3-47B8-BA78-7C1D196EC3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70856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15CA1-E692-4FC5-925B-2634D987F7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17569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F4B14-50D9-46C8-AE69-7B33A8AAC0C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61288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85E43-0806-4F41-A1C5-0194DC5EE80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511232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D32D79-1FA3-45AE-9F5C-E936C7ED857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36285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EAF3A-1301-4144-814D-375A863B78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919820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F08EB-6BDE-4403-8A3F-32DA150B7D2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195472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7CEA-5D04-4752-BEF0-F5106C93E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00125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E1E75B-F84F-46A3-B2A3-00750E7FB6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393677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C43277-51F2-496A-92B4-0B59D6BD750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260462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C4A4F-59E0-41CD-A92F-005A2FBECEE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237985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4D04D2-676E-445E-808E-129C9A8982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453865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DF34D-26C3-47B8-BA78-7C1D196EC3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816762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15CA1-E692-4FC5-925B-2634D987F7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521289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F4B14-50D9-46C8-AE69-7B33A8AAC0C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366509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85E43-0806-4F41-A1C5-0194DC5EE80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17997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D32D79-1FA3-45AE-9F5C-E936C7ED857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223274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EAF3A-1301-4144-814D-375A863B78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22306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3FF7C-66DB-4E90-8D86-D2ACEDD3CC7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15026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7CE50-FE54-465E-B89C-C56B09A4F3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08633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C4464E-DB52-4CEF-88F4-586855E16DA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084052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AAEBA8-5A75-4CE7-9841-9E4E68EE81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43597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C3CAD-44DB-4112-9CB9-E603192CF59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640696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FE498E-766B-4086-B483-012FB21A1D4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457774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3FFCD-626A-4BD5-AEAC-2B11536A491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28430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FE54-D9AA-444C-90CF-0488CC00DBE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663647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DC900A-5496-4965-87F6-F6B3AE22BF0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350253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545F7-BF0D-4013-B252-370116B4012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384451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C48A9-C9C5-413C-ABF6-575E1427C3B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76031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11B759-B78D-4C89-AC2E-E598BC0D4CD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82629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14FB1-00E8-4330-B39F-E8323584ED8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32396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69AB45-F799-490E-93A7-5DAB86DF39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919388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B725AF-C7EE-43CC-851D-403DF98103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89354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76D4B-EF5F-44C6-A130-340504C4BF9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699358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0E6F3-63C0-4E8E-A7E5-B5A50331CF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64557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7E64CF-A3F3-4E42-B5A9-14CA4443076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590568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BD330D-DD70-4877-9786-E7436B5BA8F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92000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735A60-8B83-4FCD-B2EA-22AC5D6DAC3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68154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40CF05-2A7B-434F-865B-5A42DEC6363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831059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0D7B9C-660B-4975-91F6-C7ACE09777E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468131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B08FCF-5A84-4412-BF92-062DD15A693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134681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5039B4-DBC3-45D0-9E60-648E8106A74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022170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71323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2180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431241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5650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251123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971380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88385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955454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949584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396416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799834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183509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785591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689903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265172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28764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621719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21405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496104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789252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289866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459620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458276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166829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3FF7C-66DB-4E90-8D86-D2ACEDD3CC7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182785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7CE50-FE54-465E-B89C-C56B09A4F3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530160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C4464E-DB52-4CEF-88F4-586855E16DA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970913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AAEBA8-5A75-4CE7-9841-9E4E68EE81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673491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C3CAD-44DB-4112-9CB9-E603192CF59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416031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FE498E-766B-4086-B483-012FB21A1D4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153129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3FFCD-626A-4BD5-AEAC-2B11536A491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289768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FE54-D9AA-444C-90CF-0488CC00DBE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175394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DC900A-5496-4965-87F6-F6B3AE22BF0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679511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545F7-BF0D-4013-B252-370116B4012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065521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C48A9-C9C5-413C-ABF6-575E1427C3B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715162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11B759-B78D-4C89-AC2E-E598BC0D4CD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016419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3FF7C-66DB-4E90-8D86-D2ACEDD3CC7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620057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7CE50-FE54-465E-B89C-C56B09A4F3B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530044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C4464E-DB52-4CEF-88F4-586855E16DA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388816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AAEBA8-5A75-4CE7-9841-9E4E68EE81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312438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EC3CAD-44DB-4112-9CB9-E603192CF59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768984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FE498E-766B-4086-B483-012FB21A1D4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479572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3FFCD-626A-4BD5-AEAC-2B11536A491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372208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FE54-D9AA-444C-90CF-0488CC00DBE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770646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DC900A-5496-4965-87F6-F6B3AE22BF0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403915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545F7-BF0D-4013-B252-370116B4012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30547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C48A9-C9C5-413C-ABF6-575E1427C3B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144873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11B759-B78D-4C89-AC2E-E598BC0D4CD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713661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198566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9872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948896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746390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68698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198536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183443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772655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557364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841464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87985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78050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639304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730688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646310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737506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276243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2787555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138465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561464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304263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731339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522519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741519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768223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749612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301339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587108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254402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405890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03794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293531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892832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139174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710280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431009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72FBAE-7EAB-40FB-8DE9-230A11D09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597631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27A56E-0655-499D-8E2D-C19087BB713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012912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8C37B-D019-43B4-A581-68522A3118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525329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C114FB-A282-433F-B031-88800F8FA40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858687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B53559-DCCB-4FDC-A94E-448D3033E92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753317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CECAFA-3245-4592-9D28-6147EDC0EA3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38556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5296D-532A-4309-9B21-74E3AF7376C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46504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D927D-846F-43DC-B126-7D0C20A1ED1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48013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9A598E-7042-4B82-B032-5628EF027B4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43007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D9B258-72DF-4A5F-9BBF-91ABB586D0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136956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6C294C-F479-4259-B718-B9402377797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324278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/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D36F01-F7E3-483D-887C-130EB694176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149178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C6C6A-859E-4DDB-A568-6DF7337A3CE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893489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18B14C-BAB9-41A3-B556-8EF5C02082F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05173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98EA22-D5E5-4CD7-8896-0BEA5AB5AA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23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FAC4DA-B2DF-4F84-8F6D-78C04F75822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232856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475B80-C8AA-4A66-8647-38AB5B46A64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280352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7E811E-F3E2-41CE-9602-37BFB8EA777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91301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0D4A3-9FB3-4EDA-8228-991D4E8183E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024539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FCEB8-2BB3-4532-B544-AC75F120BA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116932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624F0-9CF9-499F-884A-97D00778C39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986110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9562CC-0CD1-4080-AADE-A1207FBFBD9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546440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A9F04-5F1D-44F0-B348-F03650A63AD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444681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159C3-9F99-47F4-99E7-0C6334E243C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614087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C6C6A-859E-4DDB-A568-6DF7337A3CE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887987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18B14C-BAB9-41A3-B556-8EF5C02082F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038510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98EA22-D5E5-4CD7-8896-0BEA5AB5AA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685159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FAC4DA-B2DF-4F84-8F6D-78C04F75822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159862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475B80-C8AA-4A66-8647-38AB5B46A64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298698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7E811E-F3E2-41CE-9602-37BFB8EA777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390452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0D4A3-9FB3-4EDA-8228-991D4E8183E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575127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FCEB8-2BB3-4532-B544-AC75F120BA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763891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624F0-9CF9-499F-884A-97D00778C39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069514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9562CC-0CD1-4080-AADE-A1207FBFBD9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493580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A9F04-5F1D-44F0-B348-F03650A63AD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064245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159C3-9F99-47F4-99E7-0C6334E243C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966875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6D4C2-1DA9-4324-A439-99693A13117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3273931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869DD-59EA-481B-9AA1-14A8A0ED51F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751407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683065-46B9-4E8A-B6CF-9413F367B1D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006389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9AF84F-66A6-4A70-B991-3E99C0EC58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428316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C4FB4-4D28-42D8-BAEB-6F9C379F7C1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167080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EB2D2B-C0CA-4A7E-83D6-B4B25C599AF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3716610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E3448-6262-4527-AAFE-1D4AD0EF271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7191386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FC6CF-201C-45C7-841B-7E818260F05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381260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E9D44-26A0-4B02-BC7F-553150DA5D3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67623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2693A7-F22C-4691-9DFD-06484747CA2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30216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95CFE6-D778-4EC3-AFAF-45847CD4656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800570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C991F4-BD57-4CE8-A018-1EE961FF4A2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926564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F3FAD5-A7C1-4090-BB60-9BF524D050B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96008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391A5B-8FD0-4B7D-B331-06C086A4693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1164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E73265-01EF-4CB3-B3D0-75D021152E9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29903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C581EE-4CBD-47E6-B429-DA598FC1E54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554487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2A934F-BE7B-4A05-9621-2A024C05477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585128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2A35B-D8E2-48D8-8931-8A34547CD25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386551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761CFD-52A0-4B74-BD94-7802E7EA731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274493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36EF64-70EF-44FC-9A4D-9FCBCC4469C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502962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201AE-E9AB-4B58-B0D2-0340E0CD0BA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462330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C20124-9FF8-43D5-9E4D-11C5FA85DAD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742466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C29A5-39B0-41F0-812D-2FB33C31CBB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006275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1CF918-8A63-4537-B03B-AE1516D1A98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517105"/>
      </p:ext>
    </p:extLst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18A0F6-7EA3-4BB3-8362-6A362B7F127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653463"/>
      </p:ext>
    </p:extLst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7C36C6-BF31-424D-B086-BD6597DCF11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217771"/>
      </p:ext>
    </p:extLst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01A09-9AE3-4E1E-9A8A-E754F816B9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038757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1FC0CB-CE25-49BC-AF8C-3BF8F39393F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13665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CAF92-3A07-4052-B88B-BBAD739DD8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216352"/>
      </p:ext>
    </p:extLst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B54136-09E7-4509-A10B-84733623033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188801"/>
      </p:ext>
    </p:extLst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70C1F-E95B-422E-B161-CFAECDD182E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990679"/>
      </p:ext>
    </p:extLst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59EEE-A399-4EC1-AF64-DEE5A33513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023249"/>
      </p:ext>
    </p:extLst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588222-7BB5-46C3-942B-767E363FEE2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009699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F8D5BF-2B48-4A9E-B118-094029213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5399606"/>
      </p:ext>
    </p:extLst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75189-9785-4CED-99B1-B68D5B53635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135200"/>
      </p:ext>
    </p:extLst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39B738-BEC0-4C11-B572-023BB50577E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29513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3506F-E27D-4A0D-92EB-D6B87D685EF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980220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856001-9CA9-47E6-B622-EB4B71E3351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581517"/>
      </p:ext>
    </p:extLst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9F6BA-5D24-45AD-88CC-22BB267FFD3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694311"/>
      </p:ext>
    </p:extLst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F70CA-013D-49C2-94E3-F49E0E33A8A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287512"/>
      </p:ext>
    </p:extLst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8EB13-E57A-4DCD-A4B9-16178364CB3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567260"/>
      </p:ext>
    </p:extLst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A4E6C3-544D-4E25-8A74-5C01E59474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116053"/>
      </p:ext>
    </p:extLst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08D0D-C883-4CAE-A471-601413A7BB9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14547"/>
      </p:ext>
    </p:extLst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746ED-A8F8-473F-BE8C-C76474DE6F8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672090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B2F7-00A5-4269-B542-69E5D5A54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738480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8E62EF-5A4A-4021-BB50-780D152E432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612265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8B3912-2A16-4EEB-85D1-443FBEE0C0D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259388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92D-23AD-4795-AEBE-95E2A2235AA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103291"/>
      </p:ext>
    </p:extLst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3CE5FB-380D-4D65-8376-B7282C2EF15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418021"/>
      </p:ext>
    </p:extLst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B9C047-77BB-4C8B-A20D-54C083F190A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60776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DA2D66-FBE8-4E7D-B915-9CB3330E0D1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207653"/>
      </p:ext>
    </p:extLst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BD7532-A0F9-43F5-8253-6F618F01268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438810"/>
      </p:ext>
    </p:extLst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F33D56-4262-4E65-920F-DFF5F0358F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588939"/>
      </p:ext>
    </p:extLst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2AA84-4228-4367-B60B-0BFDC959DFD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141183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272FC6-BF93-48BE-83F7-5A71E547BC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249098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08A07A-A1EA-4993-B7AF-9BBF161FAD1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895648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053F8-B4A6-441D-8B9C-5D2FD7E5D84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960933"/>
      </p:ext>
    </p:extLst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61F6CA-082D-43BC-A9CC-CDB9A008F48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71546"/>
      </p:ext>
    </p:extLst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20AF-09EC-4E6A-A58F-AC069819402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3270"/>
      </p:ext>
    </p:extLst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74DC25-9D9E-43F3-81AC-70098741BF4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514322"/>
      </p:ext>
    </p:extLst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323BFC-84EF-4FF9-9714-D30E223BEEB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339165"/>
      </p:ext>
    </p:extLst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4A9D52-36D3-4E77-AAF2-F8A810AEC25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570698"/>
      </p:ext>
    </p:extLst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99711A-AB5F-416E-96AB-3732131136B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721608"/>
      </p:ext>
    </p:extLst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5C962A-9DEB-4BEE-9470-6A6DA6419AE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683613"/>
      </p:ext>
    </p:extLst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3C5D52-EC7F-429C-AA2E-ABD6A971167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360325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4237F1-5F41-46BF-9D4F-94C0D5D2F5D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3421974"/>
      </p:ext>
    </p:extLst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AB21E-A292-450A-830D-B0245439FF1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677116"/>
      </p:ext>
    </p:extLst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19D619-86E2-4BF8-BF84-900D763B2EA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344309"/>
      </p:ext>
    </p:extLst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4D4B-A768-4D29-8025-884BDE3A1F0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732623"/>
      </p:ext>
    </p:extLst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BF354A-50F7-4109-B8BD-02EC59C74CF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519431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F7D8DD-11A9-4BB2-85AC-2BB524E81BE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096567"/>
      </p:ext>
    </p:extLst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900BE0-75A9-48CE-B228-F65506223F7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949370"/>
      </p:ext>
    </p:extLst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D8772-D869-42AA-A16D-16DA9304671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98558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EBEDD5-4F6A-4F60-B12E-AC22C6AE102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765168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A6FCD-8C4A-4EED-9E64-D57996B2485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669724"/>
      </p:ext>
    </p:extLst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75853-10D6-47CD-86C8-F4B47C37865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42968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23DC4E-1BB2-4C63-9586-271D0472467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157129"/>
      </p:ext>
    </p:extLst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7D9B0A-1A50-4119-AC09-73D2207258B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51722"/>
      </p:ext>
    </p:extLst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459D2-2B17-40DF-B570-57CBB5787FE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429087"/>
      </p:ext>
    </p:extLst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8F1BB-7E0F-4249-BADF-7A0CEC3A4E8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655076"/>
      </p:ext>
    </p:extLst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9AD02-13E3-4577-A3ED-A9CC3E5FC7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952680"/>
      </p:ext>
    </p:extLst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ABDE8-FBB2-46FB-96A0-4453205BB1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378190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72505A-B996-46D5-A268-FF14609D9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240284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094332-FBF7-4605-ADAA-BA51F0C2F3B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571563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3506F-E27D-4A0D-92EB-D6B87D685EF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893136"/>
      </p:ext>
    </p:extLst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856001-9CA9-47E6-B622-EB4B71E3351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120432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29F6BA-5D24-45AD-88CC-22BB267FFD3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470801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F70CA-013D-49C2-94E3-F49E0E33A8A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681879"/>
      </p:ext>
    </p:extLst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18EB13-E57A-4DCD-A4B9-16178364CB3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162091"/>
      </p:ext>
    </p:extLst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A4E6C3-544D-4E25-8A74-5C01E594746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142048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08D0D-C883-4CAE-A471-601413A7BB9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472360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A746ED-A8F8-473F-BE8C-C76474DE6F8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892302"/>
      </p:ext>
    </p:extLst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B2F7-00A5-4269-B542-69E5D5A54E8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434896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8E62EF-5A4A-4021-BB50-780D152E432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43464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8B3912-2A16-4EEB-85D1-443FBEE0C0D0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53513"/>
      </p:ext>
    </p:extLst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92D-23AD-4795-AEBE-95E2A2235AA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385893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5C563-E2FB-4219-9BA5-1F6D7804623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53391"/>
      </p:ext>
    </p:extLst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93821-725D-47D1-9BC2-6B5071786E8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3427212"/>
      </p:ext>
    </p:extLst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BE255-DE72-4811-BD7D-DC12C3E7ABD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479096"/>
      </p:ext>
    </p:extLst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9B4BC7-B0B8-44EA-AA3B-729BC7578CA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09983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17564-FAFF-41A7-BE03-936E3117AB6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172656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E6BAFC-D4C5-4249-A40D-899FFD312F9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532438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E3D01-C9A8-4470-856E-57A18029D07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943401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C4C7C6-5037-4193-91EB-BA0308B9B13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896146"/>
      </p:ext>
    </p:extLst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CC2E37-CDBB-4B33-9C23-F334F843B91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378018"/>
      </p:ext>
    </p:extLst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C32538-E732-4CA1-8CF1-EC6238CBF19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556574"/>
      </p:ext>
    </p:extLst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EC6279-0FB9-4FBB-B3DB-9FAB4E8BB14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360972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4167E8-0D16-49A7-AD18-2B200153239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334828"/>
      </p:ext>
    </p:extLst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8B2DA2-FED0-4C3A-B174-39F81B85149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470504"/>
      </p:ext>
    </p:extLst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13CCBF-81F0-43AD-9333-9CA1FA4E30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119100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21B975-90C3-4696-AC64-FC9A5EE0305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6084452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4D0864-1CC5-497F-80B3-CEEA5D0465E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960597"/>
      </p:ext>
    </p:extLst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916482-D3FF-4702-868B-43BE8ECF904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383125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926EC9-0476-4FC2-99E8-A36F46778AE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47541"/>
      </p:ext>
    </p:extLst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23F8FD-CEAF-4D3D-BD59-8FAB13324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956237"/>
      </p:ext>
    </p:extLst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6C5772-B08D-40EB-B8E2-7EBA173FC25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570348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C99A04-C58A-4699-A4A8-C3300581000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185817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F03FB7-52E5-4CD6-AA62-7462147E24F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906451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91AB51-5CA6-47EA-B8B2-F04171D2DCD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19196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038C5E-E67C-4556-933E-6ED9F3107E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297078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60C855-377F-4680-9854-3CE3A587A91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223834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3DEBA1-AF55-4F73-A577-54D735DA62E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178258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501F50-D6F8-4207-8398-A6910A105A3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903899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B89BC5-A81A-4430-90FF-12BF7A48550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381064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C88503-FC18-4C53-A728-475FEF43BE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020563"/>
      </p:ext>
    </p:extLst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BD08BF-398D-4428-923C-76E7B24AC4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374522"/>
      </p:ext>
    </p:extLst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9F2837-9BE0-4CCD-BD80-06F5B6386ED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205458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484E7D-9E4B-4AFF-97D7-0365BA52545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267894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E9781A-2F9D-4BBD-B7FB-AEA8983D2B1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806265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27F086-9CF6-4F2C-9B2B-5FDACC9F50A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5337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C4EABC-E6EB-4A7B-BB36-6250958031A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32916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2D98E8-A1EE-4547-98AF-3B3B036C664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852223"/>
      </p:ext>
    </p:extLst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A13154-74A7-4DE1-93F1-BC8D2533AB7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453271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118B2B-C7D0-4CB2-AFD0-1BF4C3505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9146669"/>
      </p:ext>
    </p:extLst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2FB28-08BE-4F81-B944-A2BECBB7FA5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117909"/>
      </p:ext>
    </p:extLst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497690-401D-4086-AA3D-C187557C7F7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016460"/>
      </p:ext>
    </p:extLst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603B2A-73B3-4709-97F2-5CDB0741B6F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2165444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C2A837-A016-4EF3-B04C-2D627016F32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685300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C71B4-FAEE-4C58-9512-171CDA1A865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349327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3BBBF4-7624-4644-BAE5-C48047784DC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977990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3C5A9E-A2BC-4667-BD94-84725F6B657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281939"/>
      </p:ext>
    </p:extLst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35E3AC-AC09-4B7B-943F-8672E612C5A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731576"/>
      </p:ext>
    </p:extLst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CE327C-96AF-4E8C-88A2-0F0DBE514FF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4736315"/>
      </p:ext>
    </p:extLst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D2CD0A-886A-453C-AEAD-A2EE9A71D05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77891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C6C6A-859E-4DDB-A568-6DF7337A3CE3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59552"/>
      </p:ext>
    </p:extLst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18B14C-BAB9-41A3-B556-8EF5C02082F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055688"/>
      </p:ext>
    </p:extLst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98EA22-D5E5-4CD7-8896-0BEA5AB5AA0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848323"/>
      </p:ext>
    </p:extLst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FAC4DA-B2DF-4F84-8F6D-78C04F75822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747809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475B80-C8AA-4A66-8647-38AB5B46A64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52829"/>
      </p:ext>
    </p:extLst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7E811E-F3E2-41CE-9602-37BFB8EA777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253547"/>
      </p:ext>
    </p:extLst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00D4A3-9FB3-4EDA-8228-991D4E8183E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20362"/>
      </p:ext>
    </p:extLst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FCEB8-2BB3-4532-B544-AC75F120BA2B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126675"/>
      </p:ext>
    </p:extLst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624F0-9CF9-499F-884A-97D00778C39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965096"/>
      </p:ext>
    </p:extLst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9562CC-0CD1-4080-AADE-A1207FBFBD9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924439"/>
      </p:ext>
    </p:extLst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A9F04-5F1D-44F0-B348-F03650A63AD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526096"/>
      </p:ext>
    </p:extLst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159C3-9F99-47F4-99E7-0C6334E243CE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054154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5E9707-8B65-44F3-8622-13FD23B53E16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621291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F9AC5-1F78-4EC8-9A17-3C9C6FC71C2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046708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C0BEB4-ED7E-4DF5-812A-B469AFDDB5F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631154"/>
      </p:ext>
    </p:extLst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98227A-07B5-4960-AB55-F5B5EDC9CFA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308310"/>
      </p:ext>
    </p:extLst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2A052-479D-4FD4-8AD6-0D158B92240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977147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10C377-58BF-44FE-9129-8499BC6982B8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892441"/>
      </p:ext>
    </p:extLst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73B86-56C9-4854-A688-F1E7D5F7F8A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88139"/>
      </p:ext>
    </p:extLst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1535B2-F6E3-49EC-ADDD-76924E3C957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827012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E75EE-DEBC-45AE-A139-8D7064E0DAD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983911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6E6D7C-3CA0-4C70-97F0-DA444C70A2E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408289"/>
      </p:ext>
    </p:extLst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F0FB2-66E3-4141-9CC0-4E6087ABA14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3068607"/>
      </p:ext>
    </p:extLst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917F35-80BA-43EF-82FB-30B3139C65BA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74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4.xml"/><Relationship Id="rId12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9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8.xml"/><Relationship Id="rId12" Type="http://schemas.openxmlformats.org/officeDocument/2006/relationships/slideLayout" Target="../slideLayouts/slideLayout213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11" Type="http://schemas.openxmlformats.org/officeDocument/2006/relationships/slideLayout" Target="../slideLayouts/slideLayout212.xml"/><Relationship Id="rId5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1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20.xml"/><Relationship Id="rId12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9.xml"/><Relationship Id="rId11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18.xml"/><Relationship Id="rId10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17.xml"/><Relationship Id="rId9" Type="http://schemas.openxmlformats.org/officeDocument/2006/relationships/slideLayout" Target="../slideLayouts/slideLayout22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/><Relationship Id="rId13" Type="http://schemas.openxmlformats.org/officeDocument/2006/relationships/theme" Target="../theme/theme21.xml"/><Relationship Id="rId3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4.xml"/><Relationship Id="rId12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7.xml"/><Relationship Id="rId13" Type="http://schemas.openxmlformats.org/officeDocument/2006/relationships/theme" Target="../theme/theme22.xml"/><Relationship Id="rId3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56.xml"/><Relationship Id="rId12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55.xml"/><Relationship Id="rId11" Type="http://schemas.openxmlformats.org/officeDocument/2006/relationships/slideLayout" Target="../slideLayouts/slideLayout260.xml"/><Relationship Id="rId5" Type="http://schemas.openxmlformats.org/officeDocument/2006/relationships/slideLayout" Target="../slideLayouts/slideLayout254.xml"/><Relationship Id="rId10" Type="http://schemas.openxmlformats.org/officeDocument/2006/relationships/slideLayout" Target="../slideLayouts/slideLayout259.xml"/><Relationship Id="rId4" Type="http://schemas.openxmlformats.org/officeDocument/2006/relationships/slideLayout" Target="../slideLayouts/slideLayout253.xml"/><Relationship Id="rId9" Type="http://schemas.openxmlformats.org/officeDocument/2006/relationships/slideLayout" Target="../slideLayouts/slideLayout258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9.xml"/><Relationship Id="rId13" Type="http://schemas.openxmlformats.org/officeDocument/2006/relationships/theme" Target="../theme/theme23.xml"/><Relationship Id="rId3" Type="http://schemas.openxmlformats.org/officeDocument/2006/relationships/slideLayout" Target="../slideLayouts/slideLayout264.xml"/><Relationship Id="rId7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72.xml"/><Relationship Id="rId5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70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1.xml"/><Relationship Id="rId13" Type="http://schemas.openxmlformats.org/officeDocument/2006/relationships/theme" Target="../theme/theme24.xml"/><Relationship Id="rId3" Type="http://schemas.openxmlformats.org/officeDocument/2006/relationships/slideLayout" Target="../slideLayouts/slideLayout276.xml"/><Relationship Id="rId7" Type="http://schemas.openxmlformats.org/officeDocument/2006/relationships/slideLayout" Target="../slideLayouts/slideLayout280.xml"/><Relationship Id="rId12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74.xml"/><Relationship Id="rId6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78.xml"/><Relationship Id="rId10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77.xml"/><Relationship Id="rId9" Type="http://schemas.openxmlformats.org/officeDocument/2006/relationships/slideLayout" Target="../slideLayouts/slideLayout282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3.xml"/><Relationship Id="rId13" Type="http://schemas.openxmlformats.org/officeDocument/2006/relationships/theme" Target="../theme/theme25.xml"/><Relationship Id="rId3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92.xml"/><Relationship Id="rId12" Type="http://schemas.openxmlformats.org/officeDocument/2006/relationships/slideLayout" Target="../slideLayouts/slideLayout297.xml"/><Relationship Id="rId2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86.xml"/><Relationship Id="rId6" Type="http://schemas.openxmlformats.org/officeDocument/2006/relationships/slideLayout" Target="../slideLayouts/slideLayout291.xml"/><Relationship Id="rId11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90.xml"/><Relationship Id="rId10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89.xml"/><Relationship Id="rId9" Type="http://schemas.openxmlformats.org/officeDocument/2006/relationships/slideLayout" Target="../slideLayouts/slideLayout294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13" Type="http://schemas.openxmlformats.org/officeDocument/2006/relationships/theme" Target="../theme/theme26.xml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7.xml"/><Relationship Id="rId13" Type="http://schemas.openxmlformats.org/officeDocument/2006/relationships/theme" Target="../theme/theme27.xml"/><Relationship Id="rId3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316.xml"/><Relationship Id="rId12" Type="http://schemas.openxmlformats.org/officeDocument/2006/relationships/slideLayout" Target="../slideLayouts/slideLayout321.xml"/><Relationship Id="rId2" Type="http://schemas.openxmlformats.org/officeDocument/2006/relationships/slideLayout" Target="../slideLayouts/slideLayout311.xml"/><Relationship Id="rId1" Type="http://schemas.openxmlformats.org/officeDocument/2006/relationships/slideLayout" Target="../slideLayouts/slideLayout310.xml"/><Relationship Id="rId6" Type="http://schemas.openxmlformats.org/officeDocument/2006/relationships/slideLayout" Target="../slideLayouts/slideLayout315.xml"/><Relationship Id="rId11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4.xml"/><Relationship Id="rId10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3.xml"/><Relationship Id="rId9" Type="http://schemas.openxmlformats.org/officeDocument/2006/relationships/slideLayout" Target="../slideLayouts/slideLayout318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9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324.xml"/><Relationship Id="rId7" Type="http://schemas.openxmlformats.org/officeDocument/2006/relationships/slideLayout" Target="../slideLayouts/slideLayout328.xml"/><Relationship Id="rId12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23.xml"/><Relationship Id="rId1" Type="http://schemas.openxmlformats.org/officeDocument/2006/relationships/slideLayout" Target="../slideLayouts/slideLayout322.xml"/><Relationship Id="rId6" Type="http://schemas.openxmlformats.org/officeDocument/2006/relationships/slideLayout" Target="../slideLayouts/slideLayout327.xml"/><Relationship Id="rId11" Type="http://schemas.openxmlformats.org/officeDocument/2006/relationships/slideLayout" Target="../slideLayouts/slideLayout332.xml"/><Relationship Id="rId5" Type="http://schemas.openxmlformats.org/officeDocument/2006/relationships/slideLayout" Target="../slideLayouts/slideLayout326.xml"/><Relationship Id="rId10" Type="http://schemas.openxmlformats.org/officeDocument/2006/relationships/slideLayout" Target="../slideLayouts/slideLayout331.xml"/><Relationship Id="rId4" Type="http://schemas.openxmlformats.org/officeDocument/2006/relationships/slideLayout" Target="../slideLayouts/slideLayout325.xml"/><Relationship Id="rId9" Type="http://schemas.openxmlformats.org/officeDocument/2006/relationships/slideLayout" Target="../slideLayouts/slideLayout330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1.xml"/><Relationship Id="rId13" Type="http://schemas.openxmlformats.org/officeDocument/2006/relationships/theme" Target="../theme/theme29.xml"/><Relationship Id="rId3" Type="http://schemas.openxmlformats.org/officeDocument/2006/relationships/slideLayout" Target="../slideLayouts/slideLayout336.xml"/><Relationship Id="rId7" Type="http://schemas.openxmlformats.org/officeDocument/2006/relationships/slideLayout" Target="../slideLayouts/slideLayout340.xml"/><Relationship Id="rId12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35.xml"/><Relationship Id="rId1" Type="http://schemas.openxmlformats.org/officeDocument/2006/relationships/slideLayout" Target="../slideLayouts/slideLayout334.xml"/><Relationship Id="rId6" Type="http://schemas.openxmlformats.org/officeDocument/2006/relationships/slideLayout" Target="../slideLayouts/slideLayout339.xml"/><Relationship Id="rId11" Type="http://schemas.openxmlformats.org/officeDocument/2006/relationships/slideLayout" Target="../slideLayouts/slideLayout344.xml"/><Relationship Id="rId5" Type="http://schemas.openxmlformats.org/officeDocument/2006/relationships/slideLayout" Target="../slideLayouts/slideLayout338.xml"/><Relationship Id="rId10" Type="http://schemas.openxmlformats.org/officeDocument/2006/relationships/slideLayout" Target="../slideLayouts/slideLayout343.xml"/><Relationship Id="rId4" Type="http://schemas.openxmlformats.org/officeDocument/2006/relationships/slideLayout" Target="../slideLayouts/slideLayout337.xml"/><Relationship Id="rId9" Type="http://schemas.openxmlformats.org/officeDocument/2006/relationships/slideLayout" Target="../slideLayouts/slideLayout342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3.xml"/><Relationship Id="rId13" Type="http://schemas.openxmlformats.org/officeDocument/2006/relationships/theme" Target="../theme/theme30.xml"/><Relationship Id="rId3" Type="http://schemas.openxmlformats.org/officeDocument/2006/relationships/slideLayout" Target="../slideLayouts/slideLayout348.xml"/><Relationship Id="rId7" Type="http://schemas.openxmlformats.org/officeDocument/2006/relationships/slideLayout" Target="../slideLayouts/slideLayout352.xml"/><Relationship Id="rId12" Type="http://schemas.openxmlformats.org/officeDocument/2006/relationships/slideLayout" Target="../slideLayouts/slideLayout357.xml"/><Relationship Id="rId2" Type="http://schemas.openxmlformats.org/officeDocument/2006/relationships/slideLayout" Target="../slideLayouts/slideLayout347.xml"/><Relationship Id="rId1" Type="http://schemas.openxmlformats.org/officeDocument/2006/relationships/slideLayout" Target="../slideLayouts/slideLayout346.xml"/><Relationship Id="rId6" Type="http://schemas.openxmlformats.org/officeDocument/2006/relationships/slideLayout" Target="../slideLayouts/slideLayout351.xml"/><Relationship Id="rId11" Type="http://schemas.openxmlformats.org/officeDocument/2006/relationships/slideLayout" Target="../slideLayouts/slideLayout356.xml"/><Relationship Id="rId5" Type="http://schemas.openxmlformats.org/officeDocument/2006/relationships/slideLayout" Target="../slideLayouts/slideLayout350.xml"/><Relationship Id="rId10" Type="http://schemas.openxmlformats.org/officeDocument/2006/relationships/slideLayout" Target="../slideLayouts/slideLayout355.xml"/><Relationship Id="rId4" Type="http://schemas.openxmlformats.org/officeDocument/2006/relationships/slideLayout" Target="../slideLayouts/slideLayout349.xml"/><Relationship Id="rId9" Type="http://schemas.openxmlformats.org/officeDocument/2006/relationships/slideLayout" Target="../slideLayouts/slideLayout354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5.xml"/><Relationship Id="rId13" Type="http://schemas.openxmlformats.org/officeDocument/2006/relationships/theme" Target="../theme/theme31.xml"/><Relationship Id="rId3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64.xml"/><Relationship Id="rId12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59.xml"/><Relationship Id="rId1" Type="http://schemas.openxmlformats.org/officeDocument/2006/relationships/slideLayout" Target="../slideLayouts/slideLayout358.xml"/><Relationship Id="rId6" Type="http://schemas.openxmlformats.org/officeDocument/2006/relationships/slideLayout" Target="../slideLayouts/slideLayout363.xml"/><Relationship Id="rId11" Type="http://schemas.openxmlformats.org/officeDocument/2006/relationships/slideLayout" Target="../slideLayouts/slideLayout368.xml"/><Relationship Id="rId5" Type="http://schemas.openxmlformats.org/officeDocument/2006/relationships/slideLayout" Target="../slideLayouts/slideLayout362.xml"/><Relationship Id="rId10" Type="http://schemas.openxmlformats.org/officeDocument/2006/relationships/slideLayout" Target="../slideLayouts/slideLayout367.xml"/><Relationship Id="rId4" Type="http://schemas.openxmlformats.org/officeDocument/2006/relationships/slideLayout" Target="../slideLayouts/slideLayout361.xml"/><Relationship Id="rId9" Type="http://schemas.openxmlformats.org/officeDocument/2006/relationships/slideLayout" Target="../slideLayouts/slideLayout366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7.xml"/><Relationship Id="rId13" Type="http://schemas.openxmlformats.org/officeDocument/2006/relationships/theme" Target="../theme/theme32.xml"/><Relationship Id="rId3" Type="http://schemas.openxmlformats.org/officeDocument/2006/relationships/slideLayout" Target="../slideLayouts/slideLayout372.xml"/><Relationship Id="rId7" Type="http://schemas.openxmlformats.org/officeDocument/2006/relationships/slideLayout" Target="../slideLayouts/slideLayout376.xml"/><Relationship Id="rId12" Type="http://schemas.openxmlformats.org/officeDocument/2006/relationships/slideLayout" Target="../slideLayouts/slideLayout381.xml"/><Relationship Id="rId2" Type="http://schemas.openxmlformats.org/officeDocument/2006/relationships/slideLayout" Target="../slideLayouts/slideLayout371.xml"/><Relationship Id="rId1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75.xml"/><Relationship Id="rId11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3.xml"/><Relationship Id="rId9" Type="http://schemas.openxmlformats.org/officeDocument/2006/relationships/slideLayout" Target="../slideLayouts/slideLayout378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9.xml"/><Relationship Id="rId13" Type="http://schemas.openxmlformats.org/officeDocument/2006/relationships/theme" Target="../theme/theme33.xml"/><Relationship Id="rId3" Type="http://schemas.openxmlformats.org/officeDocument/2006/relationships/slideLayout" Target="../slideLayouts/slideLayout384.xml"/><Relationship Id="rId7" Type="http://schemas.openxmlformats.org/officeDocument/2006/relationships/slideLayout" Target="../slideLayouts/slideLayout388.xml"/><Relationship Id="rId12" Type="http://schemas.openxmlformats.org/officeDocument/2006/relationships/slideLayout" Target="../slideLayouts/slideLayout393.xml"/><Relationship Id="rId2" Type="http://schemas.openxmlformats.org/officeDocument/2006/relationships/slideLayout" Target="../slideLayouts/slideLayout383.xml"/><Relationship Id="rId1" Type="http://schemas.openxmlformats.org/officeDocument/2006/relationships/slideLayout" Target="../slideLayouts/slideLayout382.xml"/><Relationship Id="rId6" Type="http://schemas.openxmlformats.org/officeDocument/2006/relationships/slideLayout" Target="../slideLayouts/slideLayout387.xml"/><Relationship Id="rId11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86.xml"/><Relationship Id="rId10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85.xml"/><Relationship Id="rId9" Type="http://schemas.openxmlformats.org/officeDocument/2006/relationships/slideLayout" Target="../slideLayouts/slideLayout390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1.xml"/><Relationship Id="rId13" Type="http://schemas.openxmlformats.org/officeDocument/2006/relationships/theme" Target="../theme/theme34.xml"/><Relationship Id="rId3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400.xml"/><Relationship Id="rId12" Type="http://schemas.openxmlformats.org/officeDocument/2006/relationships/slideLayout" Target="../slideLayouts/slideLayout405.xml"/><Relationship Id="rId2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94.xml"/><Relationship Id="rId6" Type="http://schemas.openxmlformats.org/officeDocument/2006/relationships/slideLayout" Target="../slideLayouts/slideLayout399.xml"/><Relationship Id="rId11" Type="http://schemas.openxmlformats.org/officeDocument/2006/relationships/slideLayout" Target="../slideLayouts/slideLayout404.xml"/><Relationship Id="rId5" Type="http://schemas.openxmlformats.org/officeDocument/2006/relationships/slideLayout" Target="../slideLayouts/slideLayout398.xml"/><Relationship Id="rId10" Type="http://schemas.openxmlformats.org/officeDocument/2006/relationships/slideLayout" Target="../slideLayouts/slideLayout403.xml"/><Relationship Id="rId4" Type="http://schemas.openxmlformats.org/officeDocument/2006/relationships/slideLayout" Target="../slideLayouts/slideLayout397.xml"/><Relationship Id="rId9" Type="http://schemas.openxmlformats.org/officeDocument/2006/relationships/slideLayout" Target="../slideLayouts/slideLayout402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3.xml"/><Relationship Id="rId13" Type="http://schemas.openxmlformats.org/officeDocument/2006/relationships/theme" Target="../theme/theme35.xml"/><Relationship Id="rId3" Type="http://schemas.openxmlformats.org/officeDocument/2006/relationships/slideLayout" Target="../slideLayouts/slideLayout408.xml"/><Relationship Id="rId7" Type="http://schemas.openxmlformats.org/officeDocument/2006/relationships/slideLayout" Target="../slideLayouts/slideLayout412.xml"/><Relationship Id="rId12" Type="http://schemas.openxmlformats.org/officeDocument/2006/relationships/slideLayout" Target="../slideLayouts/slideLayout417.xml"/><Relationship Id="rId2" Type="http://schemas.openxmlformats.org/officeDocument/2006/relationships/slideLayout" Target="../slideLayouts/slideLayout407.xml"/><Relationship Id="rId1" Type="http://schemas.openxmlformats.org/officeDocument/2006/relationships/slideLayout" Target="../slideLayouts/slideLayout406.xml"/><Relationship Id="rId6" Type="http://schemas.openxmlformats.org/officeDocument/2006/relationships/slideLayout" Target="../slideLayouts/slideLayout411.xml"/><Relationship Id="rId11" Type="http://schemas.openxmlformats.org/officeDocument/2006/relationships/slideLayout" Target="../slideLayouts/slideLayout416.xml"/><Relationship Id="rId5" Type="http://schemas.openxmlformats.org/officeDocument/2006/relationships/slideLayout" Target="../slideLayouts/slideLayout410.xml"/><Relationship Id="rId10" Type="http://schemas.openxmlformats.org/officeDocument/2006/relationships/slideLayout" Target="../slideLayouts/slideLayout415.xml"/><Relationship Id="rId4" Type="http://schemas.openxmlformats.org/officeDocument/2006/relationships/slideLayout" Target="../slideLayouts/slideLayout409.xml"/><Relationship Id="rId9" Type="http://schemas.openxmlformats.org/officeDocument/2006/relationships/slideLayout" Target="../slideLayouts/slideLayout414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5.xml"/><Relationship Id="rId13" Type="http://schemas.openxmlformats.org/officeDocument/2006/relationships/theme" Target="../theme/theme36.xml"/><Relationship Id="rId3" Type="http://schemas.openxmlformats.org/officeDocument/2006/relationships/slideLayout" Target="../slideLayouts/slideLayout420.xml"/><Relationship Id="rId7" Type="http://schemas.openxmlformats.org/officeDocument/2006/relationships/slideLayout" Target="../slideLayouts/slideLayout424.xml"/><Relationship Id="rId12" Type="http://schemas.openxmlformats.org/officeDocument/2006/relationships/slideLayout" Target="../slideLayouts/slideLayout429.xml"/><Relationship Id="rId2" Type="http://schemas.openxmlformats.org/officeDocument/2006/relationships/slideLayout" Target="../slideLayouts/slideLayout419.xml"/><Relationship Id="rId1" Type="http://schemas.openxmlformats.org/officeDocument/2006/relationships/slideLayout" Target="../slideLayouts/slideLayout418.xml"/><Relationship Id="rId6" Type="http://schemas.openxmlformats.org/officeDocument/2006/relationships/slideLayout" Target="../slideLayouts/slideLayout423.xml"/><Relationship Id="rId11" Type="http://schemas.openxmlformats.org/officeDocument/2006/relationships/slideLayout" Target="../slideLayouts/slideLayout428.xml"/><Relationship Id="rId5" Type="http://schemas.openxmlformats.org/officeDocument/2006/relationships/slideLayout" Target="../slideLayouts/slideLayout422.xml"/><Relationship Id="rId10" Type="http://schemas.openxmlformats.org/officeDocument/2006/relationships/slideLayout" Target="../slideLayouts/slideLayout427.xml"/><Relationship Id="rId4" Type="http://schemas.openxmlformats.org/officeDocument/2006/relationships/slideLayout" Target="../slideLayouts/slideLayout421.xml"/><Relationship Id="rId9" Type="http://schemas.openxmlformats.org/officeDocument/2006/relationships/slideLayout" Target="../slideLayouts/slideLayout426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theme" Target="../theme/theme37.xml"/><Relationship Id="rId3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6.xml"/><Relationship Id="rId12" Type="http://schemas.openxmlformats.org/officeDocument/2006/relationships/slideLayout" Target="../slideLayouts/slideLayout441.xml"/><Relationship Id="rId2" Type="http://schemas.openxmlformats.org/officeDocument/2006/relationships/slideLayout" Target="../slideLayouts/slideLayout431.xml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0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9.xml"/><Relationship Id="rId13" Type="http://schemas.openxmlformats.org/officeDocument/2006/relationships/theme" Target="../theme/theme38.xml"/><Relationship Id="rId3" Type="http://schemas.openxmlformats.org/officeDocument/2006/relationships/slideLayout" Target="../slideLayouts/slideLayout444.xml"/><Relationship Id="rId7" Type="http://schemas.openxmlformats.org/officeDocument/2006/relationships/slideLayout" Target="../slideLayouts/slideLayout448.xml"/><Relationship Id="rId12" Type="http://schemas.openxmlformats.org/officeDocument/2006/relationships/slideLayout" Target="../slideLayouts/slideLayout453.xml"/><Relationship Id="rId2" Type="http://schemas.openxmlformats.org/officeDocument/2006/relationships/slideLayout" Target="../slideLayouts/slideLayout443.xml"/><Relationship Id="rId1" Type="http://schemas.openxmlformats.org/officeDocument/2006/relationships/slideLayout" Target="../slideLayouts/slideLayout442.xml"/><Relationship Id="rId6" Type="http://schemas.openxmlformats.org/officeDocument/2006/relationships/slideLayout" Target="../slideLayouts/slideLayout447.xml"/><Relationship Id="rId11" Type="http://schemas.openxmlformats.org/officeDocument/2006/relationships/slideLayout" Target="../slideLayouts/slideLayout452.xml"/><Relationship Id="rId5" Type="http://schemas.openxmlformats.org/officeDocument/2006/relationships/slideLayout" Target="../slideLayouts/slideLayout446.xml"/><Relationship Id="rId10" Type="http://schemas.openxmlformats.org/officeDocument/2006/relationships/slideLayout" Target="../slideLayouts/slideLayout451.xml"/><Relationship Id="rId4" Type="http://schemas.openxmlformats.org/officeDocument/2006/relationships/slideLayout" Target="../slideLayouts/slideLayout445.xml"/><Relationship Id="rId9" Type="http://schemas.openxmlformats.org/officeDocument/2006/relationships/slideLayout" Target="../slideLayouts/slideLayout450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1.xml"/><Relationship Id="rId13" Type="http://schemas.openxmlformats.org/officeDocument/2006/relationships/theme" Target="../theme/theme39.xml"/><Relationship Id="rId3" Type="http://schemas.openxmlformats.org/officeDocument/2006/relationships/slideLayout" Target="../slideLayouts/slideLayout456.xml"/><Relationship Id="rId7" Type="http://schemas.openxmlformats.org/officeDocument/2006/relationships/slideLayout" Target="../slideLayouts/slideLayout460.xml"/><Relationship Id="rId12" Type="http://schemas.openxmlformats.org/officeDocument/2006/relationships/slideLayout" Target="../slideLayouts/slideLayout465.xml"/><Relationship Id="rId2" Type="http://schemas.openxmlformats.org/officeDocument/2006/relationships/slideLayout" Target="../slideLayouts/slideLayout455.xml"/><Relationship Id="rId1" Type="http://schemas.openxmlformats.org/officeDocument/2006/relationships/slideLayout" Target="../slideLayouts/slideLayout454.xml"/><Relationship Id="rId6" Type="http://schemas.openxmlformats.org/officeDocument/2006/relationships/slideLayout" Target="../slideLayouts/slideLayout459.xml"/><Relationship Id="rId11" Type="http://schemas.openxmlformats.org/officeDocument/2006/relationships/slideLayout" Target="../slideLayouts/slideLayout464.xml"/><Relationship Id="rId5" Type="http://schemas.openxmlformats.org/officeDocument/2006/relationships/slideLayout" Target="../slideLayouts/slideLayout458.xml"/><Relationship Id="rId10" Type="http://schemas.openxmlformats.org/officeDocument/2006/relationships/slideLayout" Target="../slideLayouts/slideLayout463.xml"/><Relationship Id="rId4" Type="http://schemas.openxmlformats.org/officeDocument/2006/relationships/slideLayout" Target="../slideLayouts/slideLayout457.xml"/><Relationship Id="rId9" Type="http://schemas.openxmlformats.org/officeDocument/2006/relationships/slideLayout" Target="../slideLayouts/slideLayout462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3.xml"/><Relationship Id="rId13" Type="http://schemas.openxmlformats.org/officeDocument/2006/relationships/theme" Target="../theme/theme40.xml"/><Relationship Id="rId3" Type="http://schemas.openxmlformats.org/officeDocument/2006/relationships/slideLayout" Target="../slideLayouts/slideLayout468.xml"/><Relationship Id="rId7" Type="http://schemas.openxmlformats.org/officeDocument/2006/relationships/slideLayout" Target="../slideLayouts/slideLayout472.xml"/><Relationship Id="rId12" Type="http://schemas.openxmlformats.org/officeDocument/2006/relationships/slideLayout" Target="../slideLayouts/slideLayout477.xml"/><Relationship Id="rId2" Type="http://schemas.openxmlformats.org/officeDocument/2006/relationships/slideLayout" Target="../slideLayouts/slideLayout467.xml"/><Relationship Id="rId1" Type="http://schemas.openxmlformats.org/officeDocument/2006/relationships/slideLayout" Target="../slideLayouts/slideLayout466.xml"/><Relationship Id="rId6" Type="http://schemas.openxmlformats.org/officeDocument/2006/relationships/slideLayout" Target="../slideLayouts/slideLayout471.xml"/><Relationship Id="rId11" Type="http://schemas.openxmlformats.org/officeDocument/2006/relationships/slideLayout" Target="../slideLayouts/slideLayout476.xml"/><Relationship Id="rId5" Type="http://schemas.openxmlformats.org/officeDocument/2006/relationships/slideLayout" Target="../slideLayouts/slideLayout470.xml"/><Relationship Id="rId10" Type="http://schemas.openxmlformats.org/officeDocument/2006/relationships/slideLayout" Target="../slideLayouts/slideLayout475.xml"/><Relationship Id="rId4" Type="http://schemas.openxmlformats.org/officeDocument/2006/relationships/slideLayout" Target="../slideLayouts/slideLayout469.xml"/><Relationship Id="rId9" Type="http://schemas.openxmlformats.org/officeDocument/2006/relationships/slideLayout" Target="../slideLayouts/slideLayout474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5.xml"/><Relationship Id="rId13" Type="http://schemas.openxmlformats.org/officeDocument/2006/relationships/theme" Target="../theme/theme41.xml"/><Relationship Id="rId3" Type="http://schemas.openxmlformats.org/officeDocument/2006/relationships/slideLayout" Target="../slideLayouts/slideLayout480.xml"/><Relationship Id="rId7" Type="http://schemas.openxmlformats.org/officeDocument/2006/relationships/slideLayout" Target="../slideLayouts/slideLayout484.xml"/><Relationship Id="rId12" Type="http://schemas.openxmlformats.org/officeDocument/2006/relationships/slideLayout" Target="../slideLayouts/slideLayout489.xml"/><Relationship Id="rId2" Type="http://schemas.openxmlformats.org/officeDocument/2006/relationships/slideLayout" Target="../slideLayouts/slideLayout479.xml"/><Relationship Id="rId1" Type="http://schemas.openxmlformats.org/officeDocument/2006/relationships/slideLayout" Target="../slideLayouts/slideLayout478.xml"/><Relationship Id="rId6" Type="http://schemas.openxmlformats.org/officeDocument/2006/relationships/slideLayout" Target="../slideLayouts/slideLayout483.xml"/><Relationship Id="rId11" Type="http://schemas.openxmlformats.org/officeDocument/2006/relationships/slideLayout" Target="../slideLayouts/slideLayout488.xml"/><Relationship Id="rId5" Type="http://schemas.openxmlformats.org/officeDocument/2006/relationships/slideLayout" Target="../slideLayouts/slideLayout482.xml"/><Relationship Id="rId10" Type="http://schemas.openxmlformats.org/officeDocument/2006/relationships/slideLayout" Target="../slideLayouts/slideLayout487.xml"/><Relationship Id="rId4" Type="http://schemas.openxmlformats.org/officeDocument/2006/relationships/slideLayout" Target="../slideLayouts/slideLayout481.xml"/><Relationship Id="rId9" Type="http://schemas.openxmlformats.org/officeDocument/2006/relationships/slideLayout" Target="../slideLayouts/slideLayout486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7.xml"/><Relationship Id="rId13" Type="http://schemas.openxmlformats.org/officeDocument/2006/relationships/theme" Target="../theme/theme42.xml"/><Relationship Id="rId3" Type="http://schemas.openxmlformats.org/officeDocument/2006/relationships/slideLayout" Target="../slideLayouts/slideLayout492.xml"/><Relationship Id="rId7" Type="http://schemas.openxmlformats.org/officeDocument/2006/relationships/slideLayout" Target="../slideLayouts/slideLayout496.xml"/><Relationship Id="rId12" Type="http://schemas.openxmlformats.org/officeDocument/2006/relationships/slideLayout" Target="../slideLayouts/slideLayout501.xml"/><Relationship Id="rId2" Type="http://schemas.openxmlformats.org/officeDocument/2006/relationships/slideLayout" Target="../slideLayouts/slideLayout491.xml"/><Relationship Id="rId1" Type="http://schemas.openxmlformats.org/officeDocument/2006/relationships/slideLayout" Target="../slideLayouts/slideLayout490.xml"/><Relationship Id="rId6" Type="http://schemas.openxmlformats.org/officeDocument/2006/relationships/slideLayout" Target="../slideLayouts/slideLayout495.xml"/><Relationship Id="rId11" Type="http://schemas.openxmlformats.org/officeDocument/2006/relationships/slideLayout" Target="../slideLayouts/slideLayout500.xml"/><Relationship Id="rId5" Type="http://schemas.openxmlformats.org/officeDocument/2006/relationships/slideLayout" Target="../slideLayouts/slideLayout494.xml"/><Relationship Id="rId10" Type="http://schemas.openxmlformats.org/officeDocument/2006/relationships/slideLayout" Target="../slideLayouts/slideLayout499.xml"/><Relationship Id="rId4" Type="http://schemas.openxmlformats.org/officeDocument/2006/relationships/slideLayout" Target="../slideLayouts/slideLayout493.xml"/><Relationship Id="rId9" Type="http://schemas.openxmlformats.org/officeDocument/2006/relationships/slideLayout" Target="../slideLayouts/slideLayout498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9.xml"/><Relationship Id="rId13" Type="http://schemas.openxmlformats.org/officeDocument/2006/relationships/theme" Target="../theme/theme43.xml"/><Relationship Id="rId3" Type="http://schemas.openxmlformats.org/officeDocument/2006/relationships/slideLayout" Target="../slideLayouts/slideLayout504.xml"/><Relationship Id="rId7" Type="http://schemas.openxmlformats.org/officeDocument/2006/relationships/slideLayout" Target="../slideLayouts/slideLayout508.xml"/><Relationship Id="rId12" Type="http://schemas.openxmlformats.org/officeDocument/2006/relationships/slideLayout" Target="../slideLayouts/slideLayout513.xml"/><Relationship Id="rId2" Type="http://schemas.openxmlformats.org/officeDocument/2006/relationships/slideLayout" Target="../slideLayouts/slideLayout503.xml"/><Relationship Id="rId1" Type="http://schemas.openxmlformats.org/officeDocument/2006/relationships/slideLayout" Target="../slideLayouts/slideLayout502.xml"/><Relationship Id="rId6" Type="http://schemas.openxmlformats.org/officeDocument/2006/relationships/slideLayout" Target="../slideLayouts/slideLayout507.xml"/><Relationship Id="rId11" Type="http://schemas.openxmlformats.org/officeDocument/2006/relationships/slideLayout" Target="../slideLayouts/slideLayout512.xml"/><Relationship Id="rId5" Type="http://schemas.openxmlformats.org/officeDocument/2006/relationships/slideLayout" Target="../slideLayouts/slideLayout506.xml"/><Relationship Id="rId10" Type="http://schemas.openxmlformats.org/officeDocument/2006/relationships/slideLayout" Target="../slideLayouts/slideLayout511.xml"/><Relationship Id="rId4" Type="http://schemas.openxmlformats.org/officeDocument/2006/relationships/slideLayout" Target="../slideLayouts/slideLayout505.xml"/><Relationship Id="rId9" Type="http://schemas.openxmlformats.org/officeDocument/2006/relationships/slideLayout" Target="../slideLayouts/slideLayout510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1.xml"/><Relationship Id="rId13" Type="http://schemas.openxmlformats.org/officeDocument/2006/relationships/theme" Target="../theme/theme44.xml"/><Relationship Id="rId3" Type="http://schemas.openxmlformats.org/officeDocument/2006/relationships/slideLayout" Target="../slideLayouts/slideLayout516.xml"/><Relationship Id="rId7" Type="http://schemas.openxmlformats.org/officeDocument/2006/relationships/slideLayout" Target="../slideLayouts/slideLayout520.xml"/><Relationship Id="rId12" Type="http://schemas.openxmlformats.org/officeDocument/2006/relationships/slideLayout" Target="../slideLayouts/slideLayout525.xml"/><Relationship Id="rId2" Type="http://schemas.openxmlformats.org/officeDocument/2006/relationships/slideLayout" Target="../slideLayouts/slideLayout515.xml"/><Relationship Id="rId1" Type="http://schemas.openxmlformats.org/officeDocument/2006/relationships/slideLayout" Target="../slideLayouts/slideLayout514.xml"/><Relationship Id="rId6" Type="http://schemas.openxmlformats.org/officeDocument/2006/relationships/slideLayout" Target="../slideLayouts/slideLayout519.xml"/><Relationship Id="rId11" Type="http://schemas.openxmlformats.org/officeDocument/2006/relationships/slideLayout" Target="../slideLayouts/slideLayout524.xml"/><Relationship Id="rId5" Type="http://schemas.openxmlformats.org/officeDocument/2006/relationships/slideLayout" Target="../slideLayouts/slideLayout518.xml"/><Relationship Id="rId10" Type="http://schemas.openxmlformats.org/officeDocument/2006/relationships/slideLayout" Target="../slideLayouts/slideLayout523.xml"/><Relationship Id="rId4" Type="http://schemas.openxmlformats.org/officeDocument/2006/relationships/slideLayout" Target="../slideLayouts/slideLayout517.xml"/><Relationship Id="rId9" Type="http://schemas.openxmlformats.org/officeDocument/2006/relationships/slideLayout" Target="../slideLayouts/slideLayout522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3.xml"/><Relationship Id="rId13" Type="http://schemas.openxmlformats.org/officeDocument/2006/relationships/theme" Target="../theme/theme45.xml"/><Relationship Id="rId3" Type="http://schemas.openxmlformats.org/officeDocument/2006/relationships/slideLayout" Target="../slideLayouts/slideLayout528.xml"/><Relationship Id="rId7" Type="http://schemas.openxmlformats.org/officeDocument/2006/relationships/slideLayout" Target="../slideLayouts/slideLayout532.xml"/><Relationship Id="rId12" Type="http://schemas.openxmlformats.org/officeDocument/2006/relationships/slideLayout" Target="../slideLayouts/slideLayout537.xml"/><Relationship Id="rId2" Type="http://schemas.openxmlformats.org/officeDocument/2006/relationships/slideLayout" Target="../slideLayouts/slideLayout527.xml"/><Relationship Id="rId1" Type="http://schemas.openxmlformats.org/officeDocument/2006/relationships/slideLayout" Target="../slideLayouts/slideLayout526.xml"/><Relationship Id="rId6" Type="http://schemas.openxmlformats.org/officeDocument/2006/relationships/slideLayout" Target="../slideLayouts/slideLayout531.xml"/><Relationship Id="rId11" Type="http://schemas.openxmlformats.org/officeDocument/2006/relationships/slideLayout" Target="../slideLayouts/slideLayout536.xml"/><Relationship Id="rId5" Type="http://schemas.openxmlformats.org/officeDocument/2006/relationships/slideLayout" Target="../slideLayouts/slideLayout530.xml"/><Relationship Id="rId10" Type="http://schemas.openxmlformats.org/officeDocument/2006/relationships/slideLayout" Target="../slideLayouts/slideLayout535.xml"/><Relationship Id="rId4" Type="http://schemas.openxmlformats.org/officeDocument/2006/relationships/slideLayout" Target="../slideLayouts/slideLayout529.xml"/><Relationship Id="rId9" Type="http://schemas.openxmlformats.org/officeDocument/2006/relationships/slideLayout" Target="../slideLayouts/slideLayout534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5.xml"/><Relationship Id="rId13" Type="http://schemas.openxmlformats.org/officeDocument/2006/relationships/theme" Target="../theme/theme46.xml"/><Relationship Id="rId3" Type="http://schemas.openxmlformats.org/officeDocument/2006/relationships/slideLayout" Target="../slideLayouts/slideLayout540.xml"/><Relationship Id="rId7" Type="http://schemas.openxmlformats.org/officeDocument/2006/relationships/slideLayout" Target="../slideLayouts/slideLayout544.xml"/><Relationship Id="rId12" Type="http://schemas.openxmlformats.org/officeDocument/2006/relationships/slideLayout" Target="../slideLayouts/slideLayout549.xml"/><Relationship Id="rId2" Type="http://schemas.openxmlformats.org/officeDocument/2006/relationships/slideLayout" Target="../slideLayouts/slideLayout539.xml"/><Relationship Id="rId1" Type="http://schemas.openxmlformats.org/officeDocument/2006/relationships/slideLayout" Target="../slideLayouts/slideLayout538.xml"/><Relationship Id="rId6" Type="http://schemas.openxmlformats.org/officeDocument/2006/relationships/slideLayout" Target="../slideLayouts/slideLayout543.xml"/><Relationship Id="rId11" Type="http://schemas.openxmlformats.org/officeDocument/2006/relationships/slideLayout" Target="../slideLayouts/slideLayout548.xml"/><Relationship Id="rId5" Type="http://schemas.openxmlformats.org/officeDocument/2006/relationships/slideLayout" Target="../slideLayouts/slideLayout542.xml"/><Relationship Id="rId10" Type="http://schemas.openxmlformats.org/officeDocument/2006/relationships/slideLayout" Target="../slideLayouts/slideLayout547.xml"/><Relationship Id="rId4" Type="http://schemas.openxmlformats.org/officeDocument/2006/relationships/slideLayout" Target="../slideLayouts/slideLayout541.xml"/><Relationship Id="rId9" Type="http://schemas.openxmlformats.org/officeDocument/2006/relationships/slideLayout" Target="../slideLayouts/slideLayout546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7.xml"/><Relationship Id="rId13" Type="http://schemas.openxmlformats.org/officeDocument/2006/relationships/theme" Target="../theme/theme47.xml"/><Relationship Id="rId3" Type="http://schemas.openxmlformats.org/officeDocument/2006/relationships/slideLayout" Target="../slideLayouts/slideLayout552.xml"/><Relationship Id="rId7" Type="http://schemas.openxmlformats.org/officeDocument/2006/relationships/slideLayout" Target="../slideLayouts/slideLayout556.xml"/><Relationship Id="rId12" Type="http://schemas.openxmlformats.org/officeDocument/2006/relationships/slideLayout" Target="../slideLayouts/slideLayout561.xml"/><Relationship Id="rId2" Type="http://schemas.openxmlformats.org/officeDocument/2006/relationships/slideLayout" Target="../slideLayouts/slideLayout551.xml"/><Relationship Id="rId1" Type="http://schemas.openxmlformats.org/officeDocument/2006/relationships/slideLayout" Target="../slideLayouts/slideLayout550.xml"/><Relationship Id="rId6" Type="http://schemas.openxmlformats.org/officeDocument/2006/relationships/slideLayout" Target="../slideLayouts/slideLayout555.xml"/><Relationship Id="rId11" Type="http://schemas.openxmlformats.org/officeDocument/2006/relationships/slideLayout" Target="../slideLayouts/slideLayout560.xml"/><Relationship Id="rId5" Type="http://schemas.openxmlformats.org/officeDocument/2006/relationships/slideLayout" Target="../slideLayouts/slideLayout554.xml"/><Relationship Id="rId10" Type="http://schemas.openxmlformats.org/officeDocument/2006/relationships/slideLayout" Target="../slideLayouts/slideLayout559.xml"/><Relationship Id="rId4" Type="http://schemas.openxmlformats.org/officeDocument/2006/relationships/slideLayout" Target="../slideLayouts/slideLayout553.xml"/><Relationship Id="rId9" Type="http://schemas.openxmlformats.org/officeDocument/2006/relationships/slideLayout" Target="../slideLayouts/slideLayout5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763" y="-4763"/>
            <a:ext cx="9144000" cy="769938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5D44AB-8289-4697-996D-AA62587840C9}" type="datetimeFigureOut">
              <a:rPr lang="zh-TW" altLang="en-US"/>
              <a:t>2022/1/18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C04DDD-4F2A-488A-B9C0-E6949AF65CA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FD2B01-6BF5-482C-BE86-7CC9A7FCA844}" type="slidenum">
              <a:rPr kumimoji="1" lang="en-US" altLang="zh-TW"/>
              <a:t>‹#›</a:t>
            </a:fld>
            <a:endParaRPr kumimoji="1"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4540A4-07F2-4BA2-B72F-D7346687402C}" type="slidenum">
              <a:rPr kumimoji="1" lang="en-US" altLang="zh-TW"/>
              <a:t>‹#›</a:t>
            </a:fld>
            <a:endParaRPr kumimoji="1"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2022/1/18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2D1348-079B-41AE-BCC6-29327D06921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2D1348-079B-41AE-BCC6-29327D06921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2D1348-079B-41AE-BCC6-29327D06921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4785BA-FC44-4588-82DA-85FA892710A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8BE29E-DD2D-48BE-B432-BA6EF1285277}" type="slidenum">
              <a:rPr kumimoji="1" lang="en-US" altLang="zh-TW"/>
              <a:t>‹#›</a:t>
            </a:fld>
            <a:endParaRPr kumimoji="1"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4540A4-07F2-4BA2-B72F-D7346687402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73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CD77A4-AF91-4688-92B3-08BD0BEA7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155EA3C-BDF5-403F-8ACA-E8B9C5F659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79F83E-7C5C-478D-9485-C438A3721F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C7CD1B-D298-4FB9-908E-B03429C5CE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9B7562-C77F-4F34-AAF7-A9BE31CF23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219AFD-59BE-4B4F-927D-494587670422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2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0C8AE7-392C-49E2-9900-0739B1556F4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20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AAF4C-8796-4147-B7E0-84B8E4203DE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570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BEAD13-0566-4C6C-97E7-55F17F24B09F}" type="datetimeFigureOut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2022/1/18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DA0BB7-265A-403C-9275-D587AB510ED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41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FD2B01-6BF5-482C-BE86-7CC9A7FCA84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60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169A5-A838-4DB3-9015-316750E5D91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7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05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1995BA-18D4-4CC4-9857-39813143326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87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37B9A4-2E07-4853-8E28-21A8C74E81F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8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1" r:id="rId1"/>
    <p:sldLayoutId id="2147484242" r:id="rId2"/>
    <p:sldLayoutId id="2147484243" r:id="rId3"/>
    <p:sldLayoutId id="2147484244" r:id="rId4"/>
    <p:sldLayoutId id="2147484245" r:id="rId5"/>
    <p:sldLayoutId id="2147484246" r:id="rId6"/>
    <p:sldLayoutId id="2147484247" r:id="rId7"/>
    <p:sldLayoutId id="2147484248" r:id="rId8"/>
    <p:sldLayoutId id="2147484249" r:id="rId9"/>
    <p:sldLayoutId id="2147484250" r:id="rId10"/>
    <p:sldLayoutId id="2147484251" r:id="rId11"/>
    <p:sldLayoutId id="214748425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FD2B01-6BF5-482C-BE86-7CC9A7FCA84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0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2" r:id="rId6"/>
    <p:sldLayoutId id="2147484273" r:id="rId7"/>
    <p:sldLayoutId id="2147484274" r:id="rId8"/>
    <p:sldLayoutId id="2147484275" r:id="rId9"/>
    <p:sldLayoutId id="2147484276" r:id="rId10"/>
    <p:sldLayoutId id="2147484277" r:id="rId11"/>
    <p:sldLayoutId id="214748427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FD2B01-6BF5-482C-BE86-7CC9A7FCA84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59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  <p:sldLayoutId id="214748429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FD2B01-6BF5-482C-BE86-7CC9A7FCA84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39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  <p:sldLayoutId id="214748430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5D9037-119B-48EF-8BD6-0EA82192F51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23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08" r:id="rId3"/>
    <p:sldLayoutId id="2147484309" r:id="rId4"/>
    <p:sldLayoutId id="2147484310" r:id="rId5"/>
    <p:sldLayoutId id="2147484311" r:id="rId6"/>
    <p:sldLayoutId id="2147484312" r:id="rId7"/>
    <p:sldLayoutId id="2147484313" r:id="rId8"/>
    <p:sldLayoutId id="2147484314" r:id="rId9"/>
    <p:sldLayoutId id="2147484315" r:id="rId10"/>
    <p:sldLayoutId id="2147484316" r:id="rId11"/>
    <p:sldLayoutId id="214748431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34CA35-668E-4074-81B6-07211E0E388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14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9" r:id="rId1"/>
    <p:sldLayoutId id="2147484320" r:id="rId2"/>
    <p:sldLayoutId id="2147484321" r:id="rId3"/>
    <p:sldLayoutId id="2147484322" r:id="rId4"/>
    <p:sldLayoutId id="2147484323" r:id="rId5"/>
    <p:sldLayoutId id="2147484324" r:id="rId6"/>
    <p:sldLayoutId id="2147484325" r:id="rId7"/>
    <p:sldLayoutId id="2147484326" r:id="rId8"/>
    <p:sldLayoutId id="2147484327" r:id="rId9"/>
    <p:sldLayoutId id="2147484328" r:id="rId10"/>
    <p:sldLayoutId id="2147484329" r:id="rId11"/>
    <p:sldLayoutId id="214748433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96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0" r:id="rId9"/>
    <p:sldLayoutId id="2147484341" r:id="rId10"/>
    <p:sldLayoutId id="2147484342" r:id="rId11"/>
    <p:sldLayoutId id="214748434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29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46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  <p:sldLayoutId id="214748435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5D9037-119B-48EF-8BD6-0EA82192F51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50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8" r:id="rId1"/>
    <p:sldLayoutId id="2147484359" r:id="rId2"/>
    <p:sldLayoutId id="2147484360" r:id="rId3"/>
    <p:sldLayoutId id="2147484361" r:id="rId4"/>
    <p:sldLayoutId id="2147484362" r:id="rId5"/>
    <p:sldLayoutId id="2147484363" r:id="rId6"/>
    <p:sldLayoutId id="2147484364" r:id="rId7"/>
    <p:sldLayoutId id="2147484365" r:id="rId8"/>
    <p:sldLayoutId id="2147484366" r:id="rId9"/>
    <p:sldLayoutId id="2147484367" r:id="rId10"/>
    <p:sldLayoutId id="2147484368" r:id="rId11"/>
    <p:sldLayoutId id="214748436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5D9037-119B-48EF-8BD6-0EA82192F51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64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  <p:sldLayoutId id="2147484372" r:id="rId2"/>
    <p:sldLayoutId id="2147484373" r:id="rId3"/>
    <p:sldLayoutId id="2147484374" r:id="rId4"/>
    <p:sldLayoutId id="2147484375" r:id="rId5"/>
    <p:sldLayoutId id="2147484376" r:id="rId6"/>
    <p:sldLayoutId id="2147484377" r:id="rId7"/>
    <p:sldLayoutId id="2147484378" r:id="rId8"/>
    <p:sldLayoutId id="2147484379" r:id="rId9"/>
    <p:sldLayoutId id="2147484380" r:id="rId10"/>
    <p:sldLayoutId id="2147484381" r:id="rId11"/>
    <p:sldLayoutId id="214748438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6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  <p:sldLayoutId id="214748439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89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7" r:id="rId1"/>
    <p:sldLayoutId id="2147484398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  <p:sldLayoutId id="2147484405" r:id="rId9"/>
    <p:sldLayoutId id="2147484406" r:id="rId10"/>
    <p:sldLayoutId id="2147484407" r:id="rId11"/>
    <p:sldLayoutId id="214748440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65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2D1348-079B-41AE-BCC6-29327D06921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26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24" r:id="rId2"/>
    <p:sldLayoutId id="2147484425" r:id="rId3"/>
    <p:sldLayoutId id="2147484426" r:id="rId4"/>
    <p:sldLayoutId id="2147484427" r:id="rId5"/>
    <p:sldLayoutId id="2147484428" r:id="rId6"/>
    <p:sldLayoutId id="2147484429" r:id="rId7"/>
    <p:sldLayoutId id="2147484430" r:id="rId8"/>
    <p:sldLayoutId id="2147484431" r:id="rId9"/>
    <p:sldLayoutId id="2147484432" r:id="rId10"/>
    <p:sldLayoutId id="2147484433" r:id="rId11"/>
    <p:sldLayoutId id="214748443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26D53-B874-4F9C-8D4D-AE115F3F210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13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26D53-B874-4F9C-8D4D-AE115F3F210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19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9" r:id="rId1"/>
    <p:sldLayoutId id="2147484450" r:id="rId2"/>
    <p:sldLayoutId id="2147484451" r:id="rId3"/>
    <p:sldLayoutId id="2147484452" r:id="rId4"/>
    <p:sldLayoutId id="2147484453" r:id="rId5"/>
    <p:sldLayoutId id="2147484454" r:id="rId6"/>
    <p:sldLayoutId id="2147484455" r:id="rId7"/>
    <p:sldLayoutId id="2147484456" r:id="rId8"/>
    <p:sldLayoutId id="2147484457" r:id="rId9"/>
    <p:sldLayoutId id="2147484458" r:id="rId10"/>
    <p:sldLayoutId id="2147484459" r:id="rId11"/>
    <p:sldLayoutId id="21474844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21FBD7-6EB0-4C25-9697-783FA16802D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75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  <p:sldLayoutId id="2147484469" r:id="rId8"/>
    <p:sldLayoutId id="2147484470" r:id="rId9"/>
    <p:sldLayoutId id="2147484471" r:id="rId10"/>
    <p:sldLayoutId id="2147484472" r:id="rId11"/>
    <p:sldLayoutId id="21474844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9CC59F-B50B-4238-94F4-09353CB9142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594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  <p:sldLayoutId id="2147484484" r:id="rId10"/>
    <p:sldLayoutId id="2147484485" r:id="rId11"/>
    <p:sldLayoutId id="214748448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62D6-3C16-4D90-ADD7-970920FC57D8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8" r:id="rId1"/>
    <p:sldLayoutId id="2147484489" r:id="rId2"/>
    <p:sldLayoutId id="2147484490" r:id="rId3"/>
    <p:sldLayoutId id="2147484491" r:id="rId4"/>
    <p:sldLayoutId id="2147484492" r:id="rId5"/>
    <p:sldLayoutId id="2147484493" r:id="rId6"/>
    <p:sldLayoutId id="2147484494" r:id="rId7"/>
    <p:sldLayoutId id="2147484495" r:id="rId8"/>
    <p:sldLayoutId id="2147484496" r:id="rId9"/>
    <p:sldLayoutId id="2147484497" r:id="rId10"/>
    <p:sldLayoutId id="2147484498" r:id="rId11"/>
    <p:sldLayoutId id="21474844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23BEA9-A10A-44EF-8350-D718BDDB686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3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08" r:id="rId8"/>
    <p:sldLayoutId id="2147484509" r:id="rId9"/>
    <p:sldLayoutId id="2147484510" r:id="rId10"/>
    <p:sldLayoutId id="2147484511" r:id="rId11"/>
    <p:sldLayoutId id="214748451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7389D-CACC-4A29-BED8-40748ABAA8D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0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4" r:id="rId1"/>
    <p:sldLayoutId id="2147484515" r:id="rId2"/>
    <p:sldLayoutId id="2147484516" r:id="rId3"/>
    <p:sldLayoutId id="2147484517" r:id="rId4"/>
    <p:sldLayoutId id="2147484518" r:id="rId5"/>
    <p:sldLayoutId id="2147484519" r:id="rId6"/>
    <p:sldLayoutId id="2147484520" r:id="rId7"/>
    <p:sldLayoutId id="2147484521" r:id="rId8"/>
    <p:sldLayoutId id="2147484522" r:id="rId9"/>
    <p:sldLayoutId id="2147484523" r:id="rId10"/>
    <p:sldLayoutId id="2147484524" r:id="rId11"/>
    <p:sldLayoutId id="214748452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8595A7-BF48-402A-BE81-8B07396DE563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48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7" r:id="rId1"/>
    <p:sldLayoutId id="2147484528" r:id="rId2"/>
    <p:sldLayoutId id="2147484529" r:id="rId3"/>
    <p:sldLayoutId id="2147484530" r:id="rId4"/>
    <p:sldLayoutId id="2147484531" r:id="rId5"/>
    <p:sldLayoutId id="2147484532" r:id="rId6"/>
    <p:sldLayoutId id="2147484533" r:id="rId7"/>
    <p:sldLayoutId id="2147484534" r:id="rId8"/>
    <p:sldLayoutId id="2147484535" r:id="rId9"/>
    <p:sldLayoutId id="2147484536" r:id="rId10"/>
    <p:sldLayoutId id="2147484537" r:id="rId11"/>
    <p:sldLayoutId id="214748453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93D892-4E9D-4328-890B-1522C412DC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68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  <p:sldLayoutId id="214748455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23BEA9-A10A-44EF-8350-D718BDDB686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18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4" r:id="rId2"/>
    <p:sldLayoutId id="2147484555" r:id="rId3"/>
    <p:sldLayoutId id="2147484556" r:id="rId4"/>
    <p:sldLayoutId id="2147484557" r:id="rId5"/>
    <p:sldLayoutId id="2147484558" r:id="rId6"/>
    <p:sldLayoutId id="2147484559" r:id="rId7"/>
    <p:sldLayoutId id="2147484560" r:id="rId8"/>
    <p:sldLayoutId id="2147484561" r:id="rId9"/>
    <p:sldLayoutId id="2147484562" r:id="rId10"/>
    <p:sldLayoutId id="2147484563" r:id="rId11"/>
    <p:sldLayoutId id="21474845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091262-3447-4B74-8B13-FAB4E6C6D71D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23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6" r:id="rId1"/>
    <p:sldLayoutId id="2147484567" r:id="rId2"/>
    <p:sldLayoutId id="2147484568" r:id="rId3"/>
    <p:sldLayoutId id="2147484569" r:id="rId4"/>
    <p:sldLayoutId id="2147484570" r:id="rId5"/>
    <p:sldLayoutId id="2147484571" r:id="rId6"/>
    <p:sldLayoutId id="2147484572" r:id="rId7"/>
    <p:sldLayoutId id="2147484573" r:id="rId8"/>
    <p:sldLayoutId id="2147484574" r:id="rId9"/>
    <p:sldLayoutId id="2147484575" r:id="rId10"/>
    <p:sldLayoutId id="2147484576" r:id="rId11"/>
    <p:sldLayoutId id="214748457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5EBF4E-E5CB-4C15-8C8A-1BA90039974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3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9" r:id="rId1"/>
    <p:sldLayoutId id="2147484580" r:id="rId2"/>
    <p:sldLayoutId id="2147484581" r:id="rId3"/>
    <p:sldLayoutId id="2147484582" r:id="rId4"/>
    <p:sldLayoutId id="2147484583" r:id="rId5"/>
    <p:sldLayoutId id="2147484584" r:id="rId6"/>
    <p:sldLayoutId id="2147484585" r:id="rId7"/>
    <p:sldLayoutId id="2147484586" r:id="rId8"/>
    <p:sldLayoutId id="2147484587" r:id="rId9"/>
    <p:sldLayoutId id="2147484588" r:id="rId10"/>
    <p:sldLayoutId id="2147484589" r:id="rId11"/>
    <p:sldLayoutId id="214748459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E63F55-B87E-4086-A567-256264D766D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19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  <p:sldLayoutId id="21474846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1F30CE-5783-470A-A266-665B9AE5C79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6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5" r:id="rId1"/>
    <p:sldLayoutId id="2147484606" r:id="rId2"/>
    <p:sldLayoutId id="2147484607" r:id="rId3"/>
    <p:sldLayoutId id="2147484608" r:id="rId4"/>
    <p:sldLayoutId id="2147484609" r:id="rId5"/>
    <p:sldLayoutId id="2147484610" r:id="rId6"/>
    <p:sldLayoutId id="2147484611" r:id="rId7"/>
    <p:sldLayoutId id="2147484612" r:id="rId8"/>
    <p:sldLayoutId id="2147484613" r:id="rId9"/>
    <p:sldLayoutId id="2147484614" r:id="rId10"/>
    <p:sldLayoutId id="2147484615" r:id="rId11"/>
    <p:sldLayoutId id="214748461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26D53-B874-4F9C-8D4D-AE115F3F210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8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  <p:sldLayoutId id="2147484620" r:id="rId3"/>
    <p:sldLayoutId id="2147484621" r:id="rId4"/>
    <p:sldLayoutId id="2147484622" r:id="rId5"/>
    <p:sldLayoutId id="2147484623" r:id="rId6"/>
    <p:sldLayoutId id="2147484624" r:id="rId7"/>
    <p:sldLayoutId id="2147484625" r:id="rId8"/>
    <p:sldLayoutId id="2147484626" r:id="rId9"/>
    <p:sldLayoutId id="2147484627" r:id="rId10"/>
    <p:sldLayoutId id="2147484628" r:id="rId11"/>
    <p:sldLayoutId id="214748462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ea typeface="新細明體" pitchFamily="18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7157DF-F88D-4B11-83BF-D1B459D0FEB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59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1" r:id="rId1"/>
    <p:sldLayoutId id="2147484632" r:id="rId2"/>
    <p:sldLayoutId id="2147484633" r:id="rId3"/>
    <p:sldLayoutId id="2147484634" r:id="rId4"/>
    <p:sldLayoutId id="2147484635" r:id="rId5"/>
    <p:sldLayoutId id="2147484636" r:id="rId6"/>
    <p:sldLayoutId id="2147484637" r:id="rId7"/>
    <p:sldLayoutId id="2147484638" r:id="rId8"/>
    <p:sldLayoutId id="2147484639" r:id="rId9"/>
    <p:sldLayoutId id="2147484640" r:id="rId10"/>
    <p:sldLayoutId id="2147484641" r:id="rId11"/>
    <p:sldLayoutId id="214748464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hyperlink" Target="http://tkyhkm.wda.gov.tw/" TargetMode="External"/><Relationship Id="rId4" Type="http://schemas.openxmlformats.org/officeDocument/2006/relationships/hyperlink" Target="http://www.tsvtc.gov.tw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11" Type="http://schemas.openxmlformats.org/officeDocument/2006/relationships/image" Target="../media/image9.jpeg"/><Relationship Id="rId5" Type="http://schemas.openxmlformats.org/officeDocument/2006/relationships/image" Target="../media/image5.jpeg"/><Relationship Id="rId10" Type="http://schemas.openxmlformats.org/officeDocument/2006/relationships/image" Target="../media/image8.jpeg"/><Relationship Id="rId4" Type="http://schemas.openxmlformats.org/officeDocument/2006/relationships/image" Target="../media/image4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24h.pchome.com.tw/prod/DRAF6C-A90062J4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5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4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4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4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43.xm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2.xml"/><Relationship Id="rId6" Type="http://schemas.openxmlformats.org/officeDocument/2006/relationships/image" Target="../media/image34.png"/><Relationship Id="rId5" Type="http://schemas.openxmlformats.org/officeDocument/2006/relationships/image" Target="../media/image53.png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55.xml"/><Relationship Id="rId4" Type="http://schemas.openxmlformats.org/officeDocument/2006/relationships/image" Target="../media/image5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55.xml"/><Relationship Id="rId4" Type="http://schemas.openxmlformats.org/officeDocument/2006/relationships/image" Target="../media/image6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6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6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15.xml"/><Relationship Id="rId4" Type="http://schemas.openxmlformats.org/officeDocument/2006/relationships/image" Target="../media/image65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2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27.xml"/><Relationship Id="rId4" Type="http://schemas.openxmlformats.org/officeDocument/2006/relationships/image" Target="../media/image68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7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79.xml"/><Relationship Id="rId6" Type="http://schemas.openxmlformats.org/officeDocument/2006/relationships/image" Target="../media/image73.png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3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gi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6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67.xml"/><Relationship Id="rId4" Type="http://schemas.openxmlformats.org/officeDocument/2006/relationships/image" Target="../media/image77.jpe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81.png"/><Relationship Id="rId3" Type="http://schemas.openxmlformats.org/officeDocument/2006/relationships/image" Target="../media/image78.png"/><Relationship Id="rId7" Type="http://schemas.openxmlformats.org/officeDocument/2006/relationships/image" Target="../media/image7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91.xml"/><Relationship Id="rId6" Type="http://schemas.openxmlformats.org/officeDocument/2006/relationships/image" Target="../media/image25.png"/><Relationship Id="rId11" Type="http://schemas.openxmlformats.org/officeDocument/2006/relationships/image" Target="../media/image80.jpeg"/><Relationship Id="rId5" Type="http://schemas.openxmlformats.org/officeDocument/2006/relationships/image" Target="../media/image18.png"/><Relationship Id="rId10" Type="http://schemas.openxmlformats.org/officeDocument/2006/relationships/image" Target="../media/image54.png"/><Relationship Id="rId4" Type="http://schemas.openxmlformats.org/officeDocument/2006/relationships/image" Target="../media/image52.png"/><Relationship Id="rId9" Type="http://schemas.openxmlformats.org/officeDocument/2006/relationships/image" Target="../media/image53.png"/><Relationship Id="rId14" Type="http://schemas.openxmlformats.org/officeDocument/2006/relationships/image" Target="../media/image8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0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0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0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0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0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51.xml"/><Relationship Id="rId4" Type="http://schemas.openxmlformats.org/officeDocument/2006/relationships/image" Target="../media/image7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51.xml"/><Relationship Id="rId4" Type="http://schemas.openxmlformats.org/officeDocument/2006/relationships/image" Target="../media/image86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51.xml"/><Relationship Id="rId6" Type="http://schemas.openxmlformats.org/officeDocument/2006/relationships/image" Target="../media/image90.jpeg"/><Relationship Id="rId5" Type="http://schemas.openxmlformats.org/officeDocument/2006/relationships/image" Target="../media/image89.jpeg"/><Relationship Id="rId4" Type="http://schemas.openxmlformats.org/officeDocument/2006/relationships/image" Target="../media/image8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51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4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8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7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63.xml"/><Relationship Id="rId4" Type="http://schemas.openxmlformats.org/officeDocument/2006/relationships/image" Target="../media/image95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6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9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t.com.tw/enterprise/isdn.html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11.xml"/><Relationship Id="rId4" Type="http://schemas.openxmlformats.org/officeDocument/2006/relationships/image" Target="../media/image9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11.xml"/><Relationship Id="rId4" Type="http://schemas.openxmlformats.org/officeDocument/2006/relationships/image" Target="../media/image99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9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99.xml"/><Relationship Id="rId4" Type="http://schemas.openxmlformats.org/officeDocument/2006/relationships/image" Target="../media/image68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9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99.xml"/><Relationship Id="rId4" Type="http://schemas.openxmlformats.org/officeDocument/2006/relationships/image" Target="../media/image102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9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2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2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2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2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2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2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3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3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4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4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4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4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47.xml"/><Relationship Id="rId4" Type="http://schemas.openxmlformats.org/officeDocument/2006/relationships/image" Target="../media/image14.jpe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59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59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7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8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83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9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407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78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40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19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43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45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5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6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46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46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6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79.xml"/><Relationship Id="rId6" Type="http://schemas.openxmlformats.org/officeDocument/2006/relationships/image" Target="../media/image122.jpeg"/><Relationship Id="rId5" Type="http://schemas.openxmlformats.org/officeDocument/2006/relationships/image" Target="../media/image121.jpeg"/><Relationship Id="rId4" Type="http://schemas.openxmlformats.org/officeDocument/2006/relationships/image" Target="../media/image7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46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6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eg"/><Relationship Id="rId7" Type="http://schemas.openxmlformats.org/officeDocument/2006/relationships/image" Target="../media/image128.jpe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67.xml"/><Relationship Id="rId6" Type="http://schemas.openxmlformats.org/officeDocument/2006/relationships/image" Target="../media/image127.jpeg"/><Relationship Id="rId5" Type="http://schemas.openxmlformats.org/officeDocument/2006/relationships/image" Target="../media/image126.jpeg"/><Relationship Id="rId4" Type="http://schemas.openxmlformats.org/officeDocument/2006/relationships/image" Target="../media/image125.jpe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6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9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50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539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50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50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50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50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50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50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50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503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503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503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50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49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503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503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503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503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://proxy.moo.jp/zh/" TargetMode="External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503.xml"/><Relationship Id="rId4" Type="http://schemas.openxmlformats.org/officeDocument/2006/relationships/image" Target="../media/image13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xy-list.org/english/index.php" TargetMode="External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503.xml"/><Relationship Id="rId4" Type="http://schemas.openxmlformats.org/officeDocument/2006/relationships/image" Target="../media/image137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503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503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503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myipaddress.com/" TargetMode="External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503.xml"/><Relationship Id="rId4" Type="http://schemas.openxmlformats.org/officeDocument/2006/relationships/image" Target="../media/image14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503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503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515.xml"/><Relationship Id="rId4" Type="http://schemas.openxmlformats.org/officeDocument/2006/relationships/image" Target="../media/image102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515.xml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515.xml"/><Relationship Id="rId6" Type="http://schemas.openxmlformats.org/officeDocument/2006/relationships/image" Target="../media/image34.png"/><Relationship Id="rId5" Type="http://schemas.openxmlformats.org/officeDocument/2006/relationships/image" Target="../media/image53.png"/><Relationship Id="rId4" Type="http://schemas.openxmlformats.org/officeDocument/2006/relationships/image" Target="../media/image25.png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503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527.xml"/><Relationship Id="rId4" Type="http://schemas.openxmlformats.org/officeDocument/2006/relationships/image" Target="../media/image14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52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527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527.xml"/><Relationship Id="rId4" Type="http://schemas.openxmlformats.org/officeDocument/2006/relationships/image" Target="../media/image149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527.xml"/><Relationship Id="rId4" Type="http://schemas.openxmlformats.org/officeDocument/2006/relationships/image" Target="../media/image149.pn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527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532.xml"/><Relationship Id="rId5" Type="http://schemas.openxmlformats.org/officeDocument/2006/relationships/image" Target="../media/image150.jpeg"/><Relationship Id="rId4" Type="http://schemas.openxmlformats.org/officeDocument/2006/relationships/hyperlink" Target="http://www.tsvtc.gov.t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317" y="-27305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6"/>
          <p:cNvSpPr/>
          <p:nvPr/>
        </p:nvSpPr>
        <p:spPr>
          <a:xfrm>
            <a:off x="-38100" y="2936875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</a:gdLst>
            <a:ahLst/>
            <a:cxnLst>
              <a:cxn ang="0">
                <a:pos x="connsiteX0-31" y="connsiteY0-32"/>
              </a:cxn>
              <a:cxn ang="0">
                <a:pos x="connsiteX1-33" y="connsiteY1-34"/>
              </a:cxn>
              <a:cxn ang="0">
                <a:pos x="connsiteX2-35" y="connsiteY2-36"/>
              </a:cxn>
              <a:cxn ang="0">
                <a:pos x="connsiteX3-37" y="connsiteY3-38"/>
              </a:cxn>
              <a:cxn ang="0">
                <a:pos x="connsiteX4-39" y="connsiteY4-40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5" name="手繪多邊形 7"/>
          <p:cNvSpPr/>
          <p:nvPr/>
        </p:nvSpPr>
        <p:spPr>
          <a:xfrm>
            <a:off x="-50800" y="3571875"/>
            <a:ext cx="9194800" cy="3297238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  <a:gd name="connsiteX0-41" fmla="*/ 25758 w 9182637"/>
              <a:gd name="connsiteY0-42" fmla="*/ 1469217 h 3298017"/>
              <a:gd name="connsiteX1-43" fmla="*/ 9182637 w 9182637"/>
              <a:gd name="connsiteY1-44" fmla="*/ 0 h 3298017"/>
              <a:gd name="connsiteX2-45" fmla="*/ 9169758 w 9182637"/>
              <a:gd name="connsiteY2-46" fmla="*/ 3298017 h 3298017"/>
              <a:gd name="connsiteX3-47" fmla="*/ 0 w 9182637"/>
              <a:gd name="connsiteY3-48" fmla="*/ 3298017 h 3298017"/>
              <a:gd name="connsiteX4-49" fmla="*/ 25758 w 9182637"/>
              <a:gd name="connsiteY4-50" fmla="*/ 1469217 h 3298017"/>
              <a:gd name="connsiteX0-51" fmla="*/ 25758 w 9182637"/>
              <a:gd name="connsiteY0-52" fmla="*/ 1469217 h 3298017"/>
              <a:gd name="connsiteX1-53" fmla="*/ 9182637 w 9182637"/>
              <a:gd name="connsiteY1-54" fmla="*/ 0 h 3298017"/>
              <a:gd name="connsiteX2-55" fmla="*/ 9169758 w 9182637"/>
              <a:gd name="connsiteY2-56" fmla="*/ 3298017 h 3298017"/>
              <a:gd name="connsiteX3-57" fmla="*/ 0 w 9182637"/>
              <a:gd name="connsiteY3-58" fmla="*/ 3298017 h 3298017"/>
              <a:gd name="connsiteX4-59" fmla="*/ 25758 w 9182637"/>
              <a:gd name="connsiteY4-60" fmla="*/ 1469217 h 3298017"/>
              <a:gd name="connsiteX0-61" fmla="*/ 25758 w 9182637"/>
              <a:gd name="connsiteY0-62" fmla="*/ 1469217 h 3298017"/>
              <a:gd name="connsiteX1-63" fmla="*/ 9182637 w 9182637"/>
              <a:gd name="connsiteY1-64" fmla="*/ 0 h 3298017"/>
              <a:gd name="connsiteX2-65" fmla="*/ 9169758 w 9182637"/>
              <a:gd name="connsiteY2-66" fmla="*/ 3298017 h 3298017"/>
              <a:gd name="connsiteX3-67" fmla="*/ 0 w 9182637"/>
              <a:gd name="connsiteY3-68" fmla="*/ 3298017 h 3298017"/>
              <a:gd name="connsiteX4-69" fmla="*/ 25758 w 9182637"/>
              <a:gd name="connsiteY4-70" fmla="*/ 1469217 h 3298017"/>
              <a:gd name="connsiteX0-71" fmla="*/ 25758 w 9182637"/>
              <a:gd name="connsiteY0-72" fmla="*/ 1469217 h 3298017"/>
              <a:gd name="connsiteX1-73" fmla="*/ 9182637 w 9182637"/>
              <a:gd name="connsiteY1-74" fmla="*/ 0 h 3298017"/>
              <a:gd name="connsiteX2-75" fmla="*/ 9169758 w 9182637"/>
              <a:gd name="connsiteY2-76" fmla="*/ 3298017 h 3298017"/>
              <a:gd name="connsiteX3-77" fmla="*/ 0 w 9182637"/>
              <a:gd name="connsiteY3-78" fmla="*/ 3298017 h 3298017"/>
              <a:gd name="connsiteX4-79" fmla="*/ 25758 w 9182637"/>
              <a:gd name="connsiteY4-80" fmla="*/ 1469217 h 3298017"/>
            </a:gdLst>
            <a:ahLst/>
            <a:cxnLst>
              <a:cxn ang="0">
                <a:pos x="connsiteX0-71" y="connsiteY0-72"/>
              </a:cxn>
              <a:cxn ang="0">
                <a:pos x="connsiteX1-73" y="connsiteY1-74"/>
              </a:cxn>
              <a:cxn ang="0">
                <a:pos x="connsiteX2-75" y="connsiteY2-76"/>
              </a:cxn>
              <a:cxn ang="0">
                <a:pos x="connsiteX3-77" y="connsiteY3-78"/>
              </a:cxn>
              <a:cxn ang="0">
                <a:pos x="connsiteX4-79" y="connsiteY4-80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6" name="手繪多邊形 8"/>
          <p:cNvSpPr/>
          <p:nvPr/>
        </p:nvSpPr>
        <p:spPr>
          <a:xfrm>
            <a:off x="-50800" y="4221163"/>
            <a:ext cx="91948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  <a:gd name="connsiteX0-41" fmla="*/ 25758 w 9182637"/>
              <a:gd name="connsiteY0-42" fmla="*/ 1469217 h 3298017"/>
              <a:gd name="connsiteX1-43" fmla="*/ 9182637 w 9182637"/>
              <a:gd name="connsiteY1-44" fmla="*/ 0 h 3298017"/>
              <a:gd name="connsiteX2-45" fmla="*/ 9169758 w 9182637"/>
              <a:gd name="connsiteY2-46" fmla="*/ 3298017 h 3298017"/>
              <a:gd name="connsiteX3-47" fmla="*/ 0 w 9182637"/>
              <a:gd name="connsiteY3-48" fmla="*/ 3298017 h 3298017"/>
              <a:gd name="connsiteX4-49" fmla="*/ 25758 w 9182637"/>
              <a:gd name="connsiteY4-50" fmla="*/ 1469217 h 3298017"/>
              <a:gd name="connsiteX0-51" fmla="*/ 25758 w 9182637"/>
              <a:gd name="connsiteY0-52" fmla="*/ 1469217 h 3298017"/>
              <a:gd name="connsiteX1-53" fmla="*/ 9182637 w 9182637"/>
              <a:gd name="connsiteY1-54" fmla="*/ 0 h 3298017"/>
              <a:gd name="connsiteX2-55" fmla="*/ 9169758 w 9182637"/>
              <a:gd name="connsiteY2-56" fmla="*/ 3298017 h 3298017"/>
              <a:gd name="connsiteX3-57" fmla="*/ 0 w 9182637"/>
              <a:gd name="connsiteY3-58" fmla="*/ 3298017 h 3298017"/>
              <a:gd name="connsiteX4-59" fmla="*/ 25758 w 9182637"/>
              <a:gd name="connsiteY4-60" fmla="*/ 1469217 h 3298017"/>
              <a:gd name="connsiteX0-61" fmla="*/ 25758 w 9182637"/>
              <a:gd name="connsiteY0-62" fmla="*/ 1469217 h 3298017"/>
              <a:gd name="connsiteX1-63" fmla="*/ 9182637 w 9182637"/>
              <a:gd name="connsiteY1-64" fmla="*/ 0 h 3298017"/>
              <a:gd name="connsiteX2-65" fmla="*/ 9169758 w 9182637"/>
              <a:gd name="connsiteY2-66" fmla="*/ 3298017 h 3298017"/>
              <a:gd name="connsiteX3-67" fmla="*/ 0 w 9182637"/>
              <a:gd name="connsiteY3-68" fmla="*/ 3298017 h 3298017"/>
              <a:gd name="connsiteX4-69" fmla="*/ 25758 w 9182637"/>
              <a:gd name="connsiteY4-70" fmla="*/ 1469217 h 3298017"/>
              <a:gd name="connsiteX0-71" fmla="*/ 25758 w 9182637"/>
              <a:gd name="connsiteY0-72" fmla="*/ 969175 h 2797975"/>
              <a:gd name="connsiteX1-73" fmla="*/ 9182637 w 9182637"/>
              <a:gd name="connsiteY1-74" fmla="*/ 0 h 2797975"/>
              <a:gd name="connsiteX2-75" fmla="*/ 9169758 w 9182637"/>
              <a:gd name="connsiteY2-76" fmla="*/ 2797975 h 2797975"/>
              <a:gd name="connsiteX3-77" fmla="*/ 0 w 9182637"/>
              <a:gd name="connsiteY3-78" fmla="*/ 2797975 h 2797975"/>
              <a:gd name="connsiteX4-79" fmla="*/ 25758 w 9182637"/>
              <a:gd name="connsiteY4-80" fmla="*/ 969175 h 2797975"/>
              <a:gd name="connsiteX0-81" fmla="*/ 25758 w 9182637"/>
              <a:gd name="connsiteY0-82" fmla="*/ 969175 h 2797975"/>
              <a:gd name="connsiteX1-83" fmla="*/ 9182637 w 9182637"/>
              <a:gd name="connsiteY1-84" fmla="*/ 0 h 2797975"/>
              <a:gd name="connsiteX2-85" fmla="*/ 9169758 w 9182637"/>
              <a:gd name="connsiteY2-86" fmla="*/ 2797975 h 2797975"/>
              <a:gd name="connsiteX3-87" fmla="*/ 0 w 9182637"/>
              <a:gd name="connsiteY3-88" fmla="*/ 2797975 h 2797975"/>
              <a:gd name="connsiteX4-89" fmla="*/ 25758 w 9182637"/>
              <a:gd name="connsiteY4-90" fmla="*/ 969175 h 2797975"/>
              <a:gd name="connsiteX0-91" fmla="*/ 25758 w 9182637"/>
              <a:gd name="connsiteY0-92" fmla="*/ 969175 h 2797975"/>
              <a:gd name="connsiteX1-93" fmla="*/ 9182637 w 9182637"/>
              <a:gd name="connsiteY1-94" fmla="*/ 0 h 2797975"/>
              <a:gd name="connsiteX2-95" fmla="*/ 9169758 w 9182637"/>
              <a:gd name="connsiteY2-96" fmla="*/ 2797975 h 2797975"/>
              <a:gd name="connsiteX3-97" fmla="*/ 0 w 9182637"/>
              <a:gd name="connsiteY3-98" fmla="*/ 2797975 h 2797975"/>
              <a:gd name="connsiteX4-99" fmla="*/ 25758 w 9182637"/>
              <a:gd name="connsiteY4-100" fmla="*/ 969175 h 2797975"/>
              <a:gd name="connsiteX0-101" fmla="*/ 25758 w 9182637"/>
              <a:gd name="connsiteY0-102" fmla="*/ 969175 h 2797975"/>
              <a:gd name="connsiteX1-103" fmla="*/ 9182637 w 9182637"/>
              <a:gd name="connsiteY1-104" fmla="*/ 0 h 2797975"/>
              <a:gd name="connsiteX2-105" fmla="*/ 9169758 w 9182637"/>
              <a:gd name="connsiteY2-106" fmla="*/ 2797975 h 2797975"/>
              <a:gd name="connsiteX3-107" fmla="*/ 0 w 9182637"/>
              <a:gd name="connsiteY3-108" fmla="*/ 2797975 h 2797975"/>
              <a:gd name="connsiteX4-109" fmla="*/ 25758 w 9182637"/>
              <a:gd name="connsiteY4-110" fmla="*/ 969175 h 2797975"/>
            </a:gdLst>
            <a:ahLst/>
            <a:cxnLst>
              <a:cxn ang="0">
                <a:pos x="connsiteX0-101" y="connsiteY0-102"/>
              </a:cxn>
              <a:cxn ang="0">
                <a:pos x="connsiteX1-103" y="connsiteY1-104"/>
              </a:cxn>
              <a:cxn ang="0">
                <a:pos x="connsiteX2-105" y="connsiteY2-106"/>
              </a:cxn>
              <a:cxn ang="0">
                <a:pos x="connsiteX3-107" y="connsiteY3-108"/>
              </a:cxn>
              <a:cxn ang="0">
                <a:pos x="connsiteX4-109" y="connsiteY4-110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prstClr val="white"/>
              </a:solidFill>
            </a:endParaRPr>
          </a:p>
        </p:txBody>
      </p:sp>
      <p:sp>
        <p:nvSpPr>
          <p:cNvPr id="33798" name="文字方塊 16"/>
          <p:cNvSpPr txBox="1">
            <a:spLocks noChangeArrowheads="1"/>
          </p:cNvSpPr>
          <p:nvPr/>
        </p:nvSpPr>
        <p:spPr bwMode="auto">
          <a:xfrm>
            <a:off x="2636838" y="2619375"/>
            <a:ext cx="30241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>
                <a:solidFill>
                  <a:srgbClr val="00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  分享人</a:t>
            </a:r>
            <a:r>
              <a:rPr lang="zh-TW" altLang="en-US" sz="2800" b="1" dirty="0" smtClean="0">
                <a:solidFill>
                  <a:srgbClr val="00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：劉勤永               </a:t>
            </a:r>
            <a:endParaRPr lang="zh-TW" altLang="en-US" sz="2800" b="1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  <p:sp>
        <p:nvSpPr>
          <p:cNvPr id="33799" name="Text Box 50"/>
          <p:cNvSpPr txBox="1">
            <a:spLocks noChangeArrowheads="1"/>
          </p:cNvSpPr>
          <p:nvPr/>
        </p:nvSpPr>
        <p:spPr bwMode="auto">
          <a:xfrm>
            <a:off x="1284288" y="6067425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kumimoji="1" lang="zh-TW" altLang="en-US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勞動部勞動力發展署北基宜花金馬分署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kumimoji="1" lang="zh-TW" altLang="en-US" sz="1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hlinkClick r:id="rId4"/>
              </a:rPr>
              <a:t> </a:t>
            </a:r>
            <a:r>
              <a:rPr kumimoji="1" lang="en-US" altLang="zh-TW" sz="1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hlinkClick r:id="rId5"/>
              </a:rPr>
              <a:t>http://tkyhkm.wda.gov.tw/ </a:t>
            </a:r>
            <a:r>
              <a:rPr kumimoji="1" lang="en-US" altLang="zh-TW" sz="1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                            </a:t>
            </a:r>
            <a:r>
              <a:rPr kumimoji="1" lang="zh-TW" altLang="en-US" sz="1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總機：</a:t>
            </a:r>
            <a:r>
              <a:rPr kumimoji="1" lang="en-US" altLang="zh-TW" sz="1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02-29018274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936625" y="723900"/>
            <a:ext cx="7416800" cy="15652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33801" name="文字方塊 15"/>
          <p:cNvSpPr txBox="1">
            <a:spLocks noChangeArrowheads="1"/>
          </p:cNvSpPr>
          <p:nvPr/>
        </p:nvSpPr>
        <p:spPr bwMode="auto">
          <a:xfrm>
            <a:off x="971233" y="980758"/>
            <a:ext cx="74072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60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資訊</a:t>
            </a:r>
            <a:r>
              <a:rPr lang="zh-TW" altLang="en-US" sz="6000" b="1" smtClean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網路概論</a:t>
            </a:r>
            <a:endParaRPr lang="zh-TW" altLang="en-US" sz="6000" b="1" dirty="0">
              <a:solidFill>
                <a:srgbClr val="0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380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8" y="5645150"/>
            <a:ext cx="1268413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七層架構與協定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4997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文字方塊 10"/>
          <p:cNvSpPr txBox="1">
            <a:spLocks noChangeArrowheads="1"/>
          </p:cNvSpPr>
          <p:nvPr/>
        </p:nvSpPr>
        <p:spPr bwMode="auto">
          <a:xfrm>
            <a:off x="0" y="1079500"/>
            <a:ext cx="91440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工作項目一：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65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70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72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73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80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81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88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89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90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206~213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235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236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238</a:t>
            </a:r>
            <a:endParaRPr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文字方塊 10"/>
          <p:cNvSpPr txBox="1">
            <a:spLocks noChangeArrowheads="1"/>
          </p:cNvSpPr>
          <p:nvPr/>
        </p:nvSpPr>
        <p:spPr bwMode="auto">
          <a:xfrm>
            <a:off x="0" y="2956937"/>
            <a:ext cx="9144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工作項目二：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163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165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166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167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168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169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170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172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178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181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186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193~199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209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219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339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343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344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351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356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357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358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365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369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370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374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379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384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4000" b="1" dirty="0" smtClean="0">
                <a:latin typeface="微軟正黑體" pitchFamily="34" charset="-120"/>
                <a:ea typeface="微軟正黑體" pitchFamily="34" charset="-120"/>
              </a:rPr>
              <a:t>90011</a:t>
            </a:r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工作項目二：</a:t>
            </a:r>
            <a:r>
              <a:rPr lang="en-US" altLang="zh-TW" sz="40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7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8</a:t>
            </a:r>
            <a:endParaRPr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網路元件介紹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1081088"/>
          <a:ext cx="9144000" cy="577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16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名稱</a:t>
                      </a:r>
                    </a:p>
                  </a:txBody>
                  <a:tcPr marT="45716" marB="4571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58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網路設備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　　　  </a:t>
                      </a:r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集線器（</a:t>
                      </a:r>
                      <a:r>
                        <a:rPr lang="en-US" altLang="zh-TW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Hub)</a:t>
                      </a:r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、</a:t>
                      </a:r>
                      <a:r>
                        <a:rPr lang="zh-TW" altLang="en-US" sz="30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橋接器（</a:t>
                      </a:r>
                      <a:r>
                        <a:rPr lang="en-US" altLang="zh-TW" sz="30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Bridge</a:t>
                      </a:r>
                      <a:r>
                        <a:rPr lang="zh-TW" altLang="en-US" sz="30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）</a:t>
                      </a:r>
                      <a:endParaRPr lang="en-US" altLang="zh-TW" sz="3000" b="1" kern="1200" baseline="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altLang="zh-TW" sz="3000" b="1" kern="1200" baseline="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altLang="zh-TW" sz="3000" b="1" kern="1200" baseline="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交換器</a:t>
                      </a:r>
                      <a:r>
                        <a:rPr lang="en-US" altLang="zh-TW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(Switch</a:t>
                      </a:r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）、路由器（</a:t>
                      </a:r>
                      <a:r>
                        <a:rPr lang="en-US" altLang="zh-TW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Router)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17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網路媒介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有線（</a:t>
                      </a:r>
                      <a:r>
                        <a:rPr lang="en-US" altLang="zh-TW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Wire</a:t>
                      </a:r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）、無線（</a:t>
                      </a:r>
                      <a:r>
                        <a:rPr lang="en-US" altLang="zh-TW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Wireless</a:t>
                      </a:r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）</a:t>
                      </a:r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99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終端設備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電腦、網路印表機、網路電話</a:t>
                      </a:r>
                      <a:endParaRPr lang="en-US" altLang="zh-TW" sz="30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573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038350"/>
            <a:ext cx="1354138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4" name="Picture 22" descr="http://pic.pimg.tw/jay506/282d9d3d5d56f1930e6967191357302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2041525"/>
            <a:ext cx="1355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5" name="Picture 4" descr="http://farm3.static.flickr.com/2786/4202364926_7f253250fa_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438525"/>
            <a:ext cx="135413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76" name="物件 10"/>
          <p:cNvGraphicFramePr>
            <a:graphicFrameLocks noChangeAspect="1"/>
          </p:cNvGraphicFramePr>
          <p:nvPr/>
        </p:nvGraphicFramePr>
        <p:xfrm>
          <a:off x="5716588" y="3455988"/>
          <a:ext cx="1363662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Image" r:id="rId7" imgW="8890000" imgH="3454400" progId="Photoshop.Image.12">
                  <p:embed/>
                </p:oleObj>
              </mc:Choice>
              <mc:Fallback>
                <p:oleObj name="Image" r:id="rId7" imgW="8890000" imgH="3454400" progId="Photoshop.Image.12">
                  <p:embed/>
                  <p:pic>
                    <p:nvPicPr>
                      <p:cNvPr id="23576" name="物件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588" y="3455988"/>
                        <a:ext cx="1363662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77" name="圖片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762500"/>
            <a:ext cx="1098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8" name="Picture 47" descr="http://www.ofweek.com/Upload/Product/2008-4/2008415103841316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762500"/>
            <a:ext cx="1098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79" name="Picture 5" descr="http://blog.liontravel.com/resserver.aspx?blogId=2794&amp;resource=276422-%E9%9B%BB%E7%A3%81%E6%B3%A2%E5%81%B5%E6%B8%AC%E5%99%A8+emf%2C%E9%9B%BB%E7%A3%81%E6%B3%A2%E5%81%B5%E6%B8%AC%E5%99%A8+mw+cm2%2C%E9%9B%BB%E7%A3%81%E6%B3%A2%E5%81%B5%E6%B8%AC%E5%99%A8+pcmcia+%E4%BB%8B%E9%9D%A2+(1)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4778375"/>
            <a:ext cx="1355725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751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網路組成元件</a:t>
            </a:r>
          </a:p>
        </p:txBody>
      </p:sp>
      <p:pic>
        <p:nvPicPr>
          <p:cNvPr id="25603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3" y="1373188"/>
            <a:ext cx="6962775" cy="548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文字方塊 41"/>
          <p:cNvSpPr txBox="1">
            <a:spLocks noChangeArrowheads="1"/>
          </p:cNvSpPr>
          <p:nvPr/>
        </p:nvSpPr>
        <p:spPr bwMode="auto">
          <a:xfrm>
            <a:off x="1517650" y="2235200"/>
            <a:ext cx="2728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網路設備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5605" name="文字方塊 41"/>
          <p:cNvSpPr txBox="1">
            <a:spLocks noChangeArrowheads="1"/>
          </p:cNvSpPr>
          <p:nvPr/>
        </p:nvSpPr>
        <p:spPr bwMode="auto">
          <a:xfrm>
            <a:off x="3276600" y="4371975"/>
            <a:ext cx="2727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終端設備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 flipH="1">
            <a:off x="3995738" y="4884738"/>
            <a:ext cx="644525" cy="6699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4783138" y="4884738"/>
            <a:ext cx="692150" cy="704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987675" y="2716213"/>
            <a:ext cx="71438" cy="965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3549650" y="2084388"/>
            <a:ext cx="993775" cy="2047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10" name="文字方塊 41"/>
          <p:cNvSpPr txBox="1">
            <a:spLocks noChangeArrowheads="1"/>
          </p:cNvSpPr>
          <p:nvPr/>
        </p:nvSpPr>
        <p:spPr bwMode="auto">
          <a:xfrm>
            <a:off x="5475288" y="1943100"/>
            <a:ext cx="2727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網路媒介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H="1">
            <a:off x="6051550" y="2479675"/>
            <a:ext cx="692150" cy="823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88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中繼器</a:t>
            </a:r>
          </a:p>
        </p:txBody>
      </p:sp>
      <p:pic>
        <p:nvPicPr>
          <p:cNvPr id="156674" name="Picture 2" descr="http://a.ecimg.tw/items/DRAF6CA90062J4W/i010002_1462951955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0647"/>
            <a:ext cx="9144000" cy="474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-4911" y="1083837"/>
            <a:ext cx="91489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網路傳輸訊號會隨著傳輸距離而衰減，在訊號完全衰退前可透過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Repeater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的連接，將訊號增強出去</a:t>
            </a: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47664" y="5589240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解決網路距離的限制和訊號供電衰減</a:t>
            </a:r>
          </a:p>
        </p:txBody>
      </p:sp>
    </p:spTree>
    <p:extLst>
      <p:ext uri="{BB962C8B-B14F-4D97-AF65-F5344CB8AC3E}">
        <p14:creationId xmlns:p14="http://schemas.microsoft.com/office/powerpoint/2010/main" val="270609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集線器（</a:t>
            </a: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Hub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</a:p>
        </p:txBody>
      </p:sp>
      <p:sp>
        <p:nvSpPr>
          <p:cNvPr id="27651" name="文字方塊 41"/>
          <p:cNvSpPr txBox="1">
            <a:spLocks noChangeArrowheads="1"/>
          </p:cNvSpPr>
          <p:nvPr/>
        </p:nvSpPr>
        <p:spPr bwMode="auto">
          <a:xfrm>
            <a:off x="12700" y="1341438"/>
            <a:ext cx="91408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將多條乙太網路雙絞線，</a:t>
            </a:r>
            <a:r>
              <a:rPr kumimoji="1" lang="zh-TW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集合連接在同一段下的裝置</a:t>
            </a:r>
            <a:r>
              <a:rPr kumimoji="1" lang="zh-TW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</a:t>
            </a:r>
            <a:r>
              <a:rPr kumimoji="1" lang="zh-TW" altLang="en-US" sz="3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直接用來連結電腦設備</a:t>
            </a:r>
            <a:endParaRPr kumimoji="1" lang="en-US" altLang="zh-TW" sz="3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27652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989263"/>
            <a:ext cx="4938712" cy="401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圓角矩形圖說文字 3"/>
          <p:cNvSpPr/>
          <p:nvPr/>
        </p:nvSpPr>
        <p:spPr>
          <a:xfrm>
            <a:off x="3779838" y="5157788"/>
            <a:ext cx="1008062" cy="647700"/>
          </a:xfrm>
          <a:prstGeom prst="wedgeRoundRect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RJ45 Port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7654" name="文字方塊 41"/>
          <p:cNvSpPr txBox="1">
            <a:spLocks noChangeArrowheads="1"/>
          </p:cNvSpPr>
          <p:nvPr/>
        </p:nvSpPr>
        <p:spPr bwMode="auto">
          <a:xfrm>
            <a:off x="12700" y="3448050"/>
            <a:ext cx="2728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綠燈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－正常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7655" name="文字方塊 41"/>
          <p:cNvSpPr txBox="1">
            <a:spLocks noChangeArrowheads="1"/>
          </p:cNvSpPr>
          <p:nvPr/>
        </p:nvSpPr>
        <p:spPr bwMode="auto">
          <a:xfrm>
            <a:off x="7938" y="4292600"/>
            <a:ext cx="312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紅燈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－不正常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11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橋接器（</a:t>
            </a: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Bridge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78851" name="文字方塊 41"/>
          <p:cNvSpPr txBox="1">
            <a:spLocks noChangeArrowheads="1"/>
          </p:cNvSpPr>
          <p:nvPr/>
        </p:nvSpPr>
        <p:spPr bwMode="auto">
          <a:xfrm>
            <a:off x="0" y="1089302"/>
            <a:ext cx="9144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交換器的前身是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Bridge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，有二個連接埠，而這二個連接埠切割碰撞區域，主要用來連接二個或多個相同或不相同型態的區域網路，可隔離碰撞。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78852" name="Picture 7" descr="http://cdn.shopify.com/s/files/1/0368/1865/products/bridge.back_big_1024x1024.jpg?v=13928019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t="17415" r="12117" b="30927"/>
          <a:stretch>
            <a:fillRect/>
          </a:stretch>
        </p:blipFill>
        <p:spPr bwMode="auto">
          <a:xfrm>
            <a:off x="4572000" y="3850208"/>
            <a:ext cx="4189413" cy="213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Picture 9" descr="https://encrypted-tbn2.gstatic.com/images?q=tbn:ANd9GcRnZpH76cd2mvUaEARK6vBA5mQDmv0k6BQdV2cooNVkWwTaFt80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05064"/>
            <a:ext cx="3340100" cy="2663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42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交換器（</a:t>
            </a: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Switch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graphicFrame>
        <p:nvGraphicFramePr>
          <p:cNvPr id="93187" name="物件 4"/>
          <p:cNvGraphicFramePr>
            <a:graphicFrameLocks noChangeAspect="1"/>
          </p:cNvGraphicFramePr>
          <p:nvPr/>
        </p:nvGraphicFramePr>
        <p:xfrm>
          <a:off x="16227" y="3978275"/>
          <a:ext cx="6184900" cy="28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Image" r:id="rId4" imgW="6096000" imgH="2780030" progId="Photoshop.Image.12">
                  <p:embed/>
                </p:oleObj>
              </mc:Choice>
              <mc:Fallback>
                <p:oleObj name="Image" r:id="rId4" imgW="6096000" imgH="2780030" progId="Photoshop.Image.12">
                  <p:embed/>
                  <p:pic>
                    <p:nvPicPr>
                      <p:cNvPr id="93187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7" y="3978275"/>
                        <a:ext cx="6184900" cy="282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8" name="文字方塊 41"/>
          <p:cNvSpPr txBox="1">
            <a:spLocks noChangeArrowheads="1"/>
          </p:cNvSpPr>
          <p:nvPr/>
        </p:nvSpPr>
        <p:spPr bwMode="auto">
          <a:xfrm>
            <a:off x="0" y="1079899"/>
            <a:ext cx="91440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一、將多台電腦互連，組成區域網路，可同時傳送和接收資訊</a:t>
            </a:r>
            <a:endParaRPr kumimoji="1" lang="en-US" altLang="zh-TW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，並會將資訊傳送到應該接收資訊的電腦。</a:t>
            </a:r>
            <a:endParaRPr kumimoji="1" lang="en-US" altLang="zh-TW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二、 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Layer 2 Switch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，這種交換器是利用 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 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第二層 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MAC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位址的資訊來進行資料交換</a:t>
            </a:r>
            <a:endParaRPr kumimoji="1" lang="en-US" altLang="zh-TW" sz="2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三、提供到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LAN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主機的更多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流通量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，並提供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LAN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上的無碰撞</a:t>
            </a:r>
            <a:endParaRPr kumimoji="1" lang="en-US" altLang="zh-TW" sz="2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環境	</a:t>
            </a:r>
          </a:p>
        </p:txBody>
      </p:sp>
      <p:sp>
        <p:nvSpPr>
          <p:cNvPr id="93189" name="文字方塊 41"/>
          <p:cNvSpPr txBox="1">
            <a:spLocks noChangeArrowheads="1"/>
          </p:cNvSpPr>
          <p:nvPr/>
        </p:nvSpPr>
        <p:spPr bwMode="auto">
          <a:xfrm>
            <a:off x="5920036" y="4601817"/>
            <a:ext cx="1657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24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Port</a:t>
            </a:r>
          </a:p>
        </p:txBody>
      </p:sp>
      <p:sp>
        <p:nvSpPr>
          <p:cNvPr id="93190" name="文字方塊 41"/>
          <p:cNvSpPr txBox="1">
            <a:spLocks noChangeArrowheads="1"/>
          </p:cNvSpPr>
          <p:nvPr/>
        </p:nvSpPr>
        <p:spPr bwMode="auto">
          <a:xfrm>
            <a:off x="5910097" y="5156268"/>
            <a:ext cx="1657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48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Port</a:t>
            </a:r>
          </a:p>
        </p:txBody>
      </p:sp>
      <p:sp>
        <p:nvSpPr>
          <p:cNvPr id="93191" name="文字方塊 41"/>
          <p:cNvSpPr txBox="1">
            <a:spLocks noChangeArrowheads="1"/>
          </p:cNvSpPr>
          <p:nvPr/>
        </p:nvSpPr>
        <p:spPr bwMode="auto">
          <a:xfrm>
            <a:off x="3181184" y="6165304"/>
            <a:ext cx="27289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綠燈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－正常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93192" name="文字方塊 41"/>
          <p:cNvSpPr txBox="1">
            <a:spLocks noChangeArrowheads="1"/>
          </p:cNvSpPr>
          <p:nvPr/>
        </p:nvSpPr>
        <p:spPr bwMode="auto">
          <a:xfrm>
            <a:off x="5696272" y="6155580"/>
            <a:ext cx="3124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紅燈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－不正常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9" name="文字方塊 2"/>
          <p:cNvSpPr txBox="1">
            <a:spLocks noChangeArrowheads="1"/>
          </p:cNvSpPr>
          <p:nvPr/>
        </p:nvSpPr>
        <p:spPr bwMode="auto">
          <a:xfrm>
            <a:off x="8473172" y="710168"/>
            <a:ext cx="660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367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07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開放系統連結參考模式</a:t>
            </a:r>
          </a:p>
        </p:txBody>
      </p:sp>
      <p:sp>
        <p:nvSpPr>
          <p:cNvPr id="84997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pic>
        <p:nvPicPr>
          <p:cNvPr id="5122" name="Picture 2" descr="http://4.bp.blogspot.com/-kQtd_NHRJbY/VE69B7pJaOI/AAAAAAAAArI/1kTuHvrEBQk/s1600/TCP-IP%E6%A8%A1%E5%9E%8B%2B(6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" y="1068665"/>
            <a:ext cx="9125744" cy="344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3.bp.blogspot.com/-lk2ogAiZv9U/VEIydY3_hBI/AAAAAAAAAnM/wUMO6QbuzVU/s1600/%E8%B3%87%E6%96%99%E9%8F%88%E7%B5%90%E5%B1%A4%2B(1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" y="4150861"/>
            <a:ext cx="9124257" cy="270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685859" y="4234998"/>
            <a:ext cx="543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Open System Interconnection Reference Model</a:t>
            </a:r>
            <a:endParaRPr lang="en-US" altLang="zh-TW" dirty="0">
              <a:solidFill>
                <a:srgbClr val="FF0000"/>
              </a:solidFill>
              <a:latin typeface="新細明體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487987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ISO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國際標準組織 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International Organization for Standardization</a:t>
            </a:r>
          </a:p>
        </p:txBody>
      </p:sp>
      <p:sp>
        <p:nvSpPr>
          <p:cNvPr id="8" name="矩形 7"/>
          <p:cNvSpPr/>
          <p:nvPr/>
        </p:nvSpPr>
        <p:spPr>
          <a:xfrm>
            <a:off x="1547663" y="4922489"/>
            <a:ext cx="2138195" cy="49495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804249" y="1486603"/>
            <a:ext cx="720080" cy="49495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51"/>
          <p:cNvSpPr txBox="1">
            <a:spLocks noChangeArrowheads="1"/>
          </p:cNvSpPr>
          <p:nvPr/>
        </p:nvSpPr>
        <p:spPr bwMode="auto">
          <a:xfrm>
            <a:off x="6371655" y="2003301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DNS</a:t>
            </a:r>
          </a:p>
        </p:txBody>
      </p:sp>
      <p:sp>
        <p:nvSpPr>
          <p:cNvPr id="11" name="文字方塊 51"/>
          <p:cNvSpPr txBox="1">
            <a:spLocks noChangeArrowheads="1"/>
          </p:cNvSpPr>
          <p:nvPr/>
        </p:nvSpPr>
        <p:spPr bwMode="auto">
          <a:xfrm>
            <a:off x="8256768" y="1963221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TFTP</a:t>
            </a:r>
            <a:endParaRPr lang="en-US" altLang="zh-TW" sz="18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手繪多邊形 26"/>
          <p:cNvSpPr/>
          <p:nvPr/>
        </p:nvSpPr>
        <p:spPr bwMode="auto">
          <a:xfrm rot="-5400000">
            <a:off x="6933406" y="2145507"/>
            <a:ext cx="865187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51" name="手繪多邊形 26"/>
          <p:cNvSpPr/>
          <p:nvPr/>
        </p:nvSpPr>
        <p:spPr bwMode="auto">
          <a:xfrm rot="-5400000">
            <a:off x="6884194" y="3648869"/>
            <a:ext cx="865188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52" name="手繪多邊形 26"/>
          <p:cNvSpPr/>
          <p:nvPr/>
        </p:nvSpPr>
        <p:spPr bwMode="auto">
          <a:xfrm rot="-5400000">
            <a:off x="6911181" y="5153819"/>
            <a:ext cx="865188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53" name="手繪多邊形 26"/>
          <p:cNvSpPr/>
          <p:nvPr/>
        </p:nvSpPr>
        <p:spPr bwMode="auto">
          <a:xfrm rot="5558156">
            <a:off x="1527969" y="1577182"/>
            <a:ext cx="865187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54" name="手繪多邊形 26"/>
          <p:cNvSpPr/>
          <p:nvPr/>
        </p:nvSpPr>
        <p:spPr bwMode="auto">
          <a:xfrm rot="5558156">
            <a:off x="1496219" y="4593432"/>
            <a:ext cx="865187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55" name="手繪多邊形 26"/>
          <p:cNvSpPr/>
          <p:nvPr/>
        </p:nvSpPr>
        <p:spPr bwMode="auto">
          <a:xfrm rot="5558156">
            <a:off x="1513681" y="3088482"/>
            <a:ext cx="865187" cy="2603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送一封信所需的工作</a:t>
            </a:r>
          </a:p>
        </p:txBody>
      </p:sp>
      <p:pic>
        <p:nvPicPr>
          <p:cNvPr id="181257" name="Picture 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1093788"/>
            <a:ext cx="5715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323850" y="2101850"/>
            <a:ext cx="3240088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信封</a:t>
            </a:r>
            <a:r>
              <a:rPr kumimoji="1" lang="zh-TW" altLang="en-US" sz="3200" b="1" dirty="0">
                <a:solidFill>
                  <a:srgbClr val="FFFFFF"/>
                </a:solidFill>
                <a:latin typeface="新細明體" pitchFamily="18" charset="-120"/>
              </a:rPr>
              <a:t>→</a:t>
            </a: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郵筒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313" y="3638550"/>
            <a:ext cx="3240087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郵筒</a:t>
            </a:r>
            <a:r>
              <a:rPr kumimoji="1" lang="zh-TW" altLang="en-US" sz="3200" b="1" dirty="0">
                <a:solidFill>
                  <a:srgbClr val="FFFFFF"/>
                </a:solidFill>
                <a:latin typeface="新細明體" pitchFamily="18" charset="-120"/>
              </a:rPr>
              <a:t>→</a:t>
            </a: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郵局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4325" y="5138738"/>
            <a:ext cx="3240088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郵局</a:t>
            </a:r>
            <a:r>
              <a:rPr kumimoji="1" lang="zh-TW" altLang="en-US" sz="3200" b="1" dirty="0">
                <a:solidFill>
                  <a:srgbClr val="FFFFFF"/>
                </a:solidFill>
                <a:latin typeface="新細明體" pitchFamily="18" charset="-120"/>
              </a:rPr>
              <a:t>→</a:t>
            </a: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郵車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81261" name="Picture 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1093788"/>
            <a:ext cx="5715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5707063" y="2101850"/>
            <a:ext cx="3240087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拾起信，打開信並閱讀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24525" y="3638550"/>
            <a:ext cx="3240088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郵局</a:t>
            </a:r>
            <a:r>
              <a:rPr kumimoji="1" lang="zh-TW" altLang="en-US" sz="3200" b="1" dirty="0">
                <a:solidFill>
                  <a:srgbClr val="FFFFFF"/>
                </a:solidFill>
                <a:latin typeface="新細明體" pitchFamily="18" charset="-120"/>
              </a:rPr>
              <a:t>→</a:t>
            </a: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信箱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97538" y="5138738"/>
            <a:ext cx="3240087" cy="124460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郵車</a:t>
            </a:r>
            <a:r>
              <a:rPr kumimoji="1" lang="zh-TW" altLang="en-US" sz="3200" b="1" dirty="0">
                <a:solidFill>
                  <a:srgbClr val="FFFFFF"/>
                </a:solidFill>
                <a:latin typeface="新細明體" pitchFamily="18" charset="-120"/>
              </a:rPr>
              <a:t>→</a:t>
            </a:r>
            <a:r>
              <a:rPr kumimoji="1" lang="zh-TW" altLang="en-US" sz="32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郵局</a:t>
            </a:r>
            <a:endParaRPr kumimoji="1" lang="en-US" altLang="zh-TW" sz="32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1265" name="手繪多邊形 26"/>
          <p:cNvSpPr/>
          <p:nvPr/>
        </p:nvSpPr>
        <p:spPr bwMode="auto">
          <a:xfrm>
            <a:off x="3559175" y="6129338"/>
            <a:ext cx="2138363" cy="246062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181266" name="文字方塊 10"/>
          <p:cNvSpPr txBox="1">
            <a:spLocks noChangeArrowheads="1"/>
          </p:cNvSpPr>
          <p:nvPr/>
        </p:nvSpPr>
        <p:spPr bwMode="auto">
          <a:xfrm>
            <a:off x="3530600" y="2090738"/>
            <a:ext cx="25558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較高層次</a:t>
            </a:r>
            <a:endParaRPr lang="en-US" altLang="zh-TW" sz="40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1267" name="文字方塊 10"/>
          <p:cNvSpPr txBox="1">
            <a:spLocks noChangeArrowheads="1"/>
          </p:cNvSpPr>
          <p:nvPr/>
        </p:nvSpPr>
        <p:spPr bwMode="auto">
          <a:xfrm>
            <a:off x="3541713" y="3752850"/>
            <a:ext cx="25558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中間層次</a:t>
            </a:r>
            <a:endParaRPr lang="en-US" altLang="zh-TW" sz="4000" b="1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1268" name="文字方塊 10"/>
          <p:cNvSpPr txBox="1">
            <a:spLocks noChangeArrowheads="1"/>
          </p:cNvSpPr>
          <p:nvPr/>
        </p:nvSpPr>
        <p:spPr bwMode="auto">
          <a:xfrm>
            <a:off x="3530600" y="5237163"/>
            <a:ext cx="255587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較低層次</a:t>
            </a:r>
            <a:endParaRPr lang="en-US" altLang="zh-TW" sz="4000" b="1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OSI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七層之間互動</a:t>
            </a:r>
            <a:endParaRPr lang="zh-TW" altLang="en-US" sz="60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Picture 2" descr="ãç¶²è·¯ä¸å±¤æ¶æ§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84258"/>
            <a:ext cx="9144001" cy="577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-29408" y="4365104"/>
            <a:ext cx="50405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設</a:t>
            </a:r>
            <a:endParaRPr lang="en-US" altLang="zh-TW" sz="24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備</a:t>
            </a:r>
            <a:endParaRPr lang="en-US" altLang="zh-TW" sz="24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溝</a:t>
            </a:r>
            <a:endParaRPr lang="en-US" altLang="zh-TW" sz="24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通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文字方塊 10"/>
          <p:cNvSpPr txBox="1">
            <a:spLocks noChangeArrowheads="1"/>
          </p:cNvSpPr>
          <p:nvPr/>
        </p:nvSpPr>
        <p:spPr bwMode="auto">
          <a:xfrm>
            <a:off x="-29408" y="2204864"/>
            <a:ext cx="504056" cy="2086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主機溝通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48560" y="301732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資料是由下往上傳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我的教材\網頁設計乙級\13149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68"/>
          <a:stretch>
            <a:fillRect/>
          </a:stretch>
        </p:blipFill>
        <p:spPr bwMode="auto">
          <a:xfrm>
            <a:off x="0" y="1072862"/>
            <a:ext cx="9144001" cy="57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主機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溝通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設備溝通</a:t>
            </a:r>
            <a:endParaRPr lang="zh-TW" altLang="en-US" sz="60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504" y="5373216"/>
            <a:ext cx="3492110" cy="1200329"/>
          </a:xfrm>
          <a:prstGeom prst="rect">
            <a:avLst/>
          </a:prstGeom>
          <a:solidFill>
            <a:schemeClr val="bg1">
              <a:lumMod val="75000"/>
              <a:alpha val="57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Server </a:t>
            </a:r>
          </a:p>
          <a:p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IBM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3650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M1~M4</a:t>
            </a:r>
            <a:b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DELL</a:t>
            </a:r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PowerEdge R720</a:t>
            </a:r>
            <a:endParaRPr lang="en-US" altLang="zh-TW" sz="2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9912" y="1079500"/>
            <a:ext cx="5256584" cy="1938992"/>
          </a:xfrm>
          <a:prstGeom prst="rect">
            <a:avLst/>
          </a:prstGeom>
          <a:solidFill>
            <a:schemeClr val="bg1">
              <a:lumMod val="75000"/>
              <a:alpha val="68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Switch                            Router</a:t>
            </a:r>
          </a:p>
          <a:p>
            <a: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Cisco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2960xr             Cisco 2500</a:t>
            </a:r>
            <a: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D-link DES-3550</a:t>
            </a:r>
          </a:p>
          <a:p>
            <a:r>
              <a:rPr lang="en-US" altLang="zh-TW" sz="2400" b="1" dirty="0" err="1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ZyXel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ES-2024 </a:t>
            </a:r>
            <a:b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sz="2400" b="1" dirty="0" err="1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Jumiper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Ex-2200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主機溝通</a:t>
            </a:r>
            <a:r>
              <a:rPr lang="en-US" altLang="zh-TW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設備溝通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00"/>
            <a:ext cx="9144000" cy="577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T15\Desktop\新增資料夾\FB_IMG_15469616820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148064" cy="686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ST15\Desktop\新增資料夾\FB_IMG_154696168749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-1"/>
            <a:ext cx="428396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封裝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解封裝</a:t>
            </a:r>
            <a:endParaRPr lang="zh-TW" altLang="en-US" sz="60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56" name="Picture 4" descr="ç¶²è·¯éè¨åç &#10;å°è£/è§£å°è£ &#10;æ¥æ¶ç«¯ &#10;å³éç«¯ &#10;è³æå°è£ &#10;è³æè§£å°è£ &#10;å¯¦é«å±¤ &#10;è³æéçµå±¤ &#10;ç¶²è·¯å±¤ &#10;å³è¼¸å±¤ &#10;æè­°å±¤ &#10;å±ç¤ºå±¤ &#10;æç¨å±¤ &#10;Data &#10;H7 &#10;Data &#10;H6 &#10;Data &#10;H5 &#10;Data &#10;H4 &#10;Data &#10;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72022"/>
            <a:ext cx="9144001" cy="578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164563" y="6288538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Bit</a:t>
            </a:r>
          </a:p>
        </p:txBody>
      </p:sp>
      <p:sp>
        <p:nvSpPr>
          <p:cNvPr id="6" name="矩形 5"/>
          <p:cNvSpPr/>
          <p:nvPr/>
        </p:nvSpPr>
        <p:spPr>
          <a:xfrm>
            <a:off x="2278135" y="5794873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F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rame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50143" y="5291916"/>
            <a:ext cx="912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Packet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17969" y="4797152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Segments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封裝</a:t>
            </a:r>
            <a:r>
              <a:rPr lang="en-US" altLang="zh-TW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解封裝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1081089"/>
          <a:ext cx="9143753" cy="5776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5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30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資料單元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層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858"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主機層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資料</a:t>
                      </a:r>
                      <a:r>
                        <a:rPr lang="en-US" altLang="zh-TW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Data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L7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應用層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408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L6</a:t>
                      </a:r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展示層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46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L5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會議層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46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資料段</a:t>
                      </a: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Segments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L4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傳輸層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467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媒介層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封包</a:t>
                      </a: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Packet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L3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46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訊框</a:t>
                      </a: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Frame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L2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資料連結層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46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位元</a:t>
                      </a: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Bit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L1</a:t>
                      </a:r>
                      <a:r>
                        <a:rPr lang="zh-TW" altLang="en-US" sz="32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實體層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表頭檔封裝過程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7336714" y="2876845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92" name="文字方塊 59"/>
          <p:cNvSpPr txBox="1">
            <a:spLocks noChangeArrowheads="1"/>
          </p:cNvSpPr>
          <p:nvPr/>
        </p:nvSpPr>
        <p:spPr bwMode="auto">
          <a:xfrm>
            <a:off x="6754456" y="1057634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電腦送出資料</a:t>
            </a:r>
          </a:p>
        </p:txBody>
      </p:sp>
      <p:sp>
        <p:nvSpPr>
          <p:cNvPr id="93" name="手繪多邊形 26"/>
          <p:cNvSpPr/>
          <p:nvPr/>
        </p:nvSpPr>
        <p:spPr bwMode="auto">
          <a:xfrm rot="5400000">
            <a:off x="7688567" y="2282900"/>
            <a:ext cx="534283" cy="430714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94" name="文字方塊 59"/>
          <p:cNvSpPr txBox="1">
            <a:spLocks noChangeArrowheads="1"/>
          </p:cNvSpPr>
          <p:nvPr/>
        </p:nvSpPr>
        <p:spPr bwMode="auto">
          <a:xfrm>
            <a:off x="-17841" y="1753796"/>
            <a:ext cx="68356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由上往下封裝表頭檔</a:t>
            </a:r>
          </a:p>
        </p:txBody>
      </p:sp>
      <p:pic>
        <p:nvPicPr>
          <p:cNvPr id="36" name="Picture 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586" y="1491951"/>
            <a:ext cx="738181" cy="715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矩形 36"/>
          <p:cNvSpPr/>
          <p:nvPr/>
        </p:nvSpPr>
        <p:spPr bwMode="auto">
          <a:xfrm>
            <a:off x="1260261" y="1585365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Application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1260260" y="2214423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Presentation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1259995" y="3483378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Transport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1267326" y="4126663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Network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1267326" y="4771763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Data Link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1267326" y="5413475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Physical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1260260" y="2854320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Session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7336714" y="3474906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7336713" y="4114803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7336712" y="4743031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6156176" y="3479782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5289274" y="3480229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6167184" y="4124724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5300282" y="4125171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 bwMode="auto">
          <a:xfrm>
            <a:off x="6164910" y="4753603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5298008" y="4754050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4422859" y="4743030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L3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3556048" y="4755721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L2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434064" y="4106484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L3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64" name="文字方塊 59"/>
          <p:cNvSpPr txBox="1">
            <a:spLocks noChangeArrowheads="1"/>
          </p:cNvSpPr>
          <p:nvPr/>
        </p:nvSpPr>
        <p:spPr bwMode="auto">
          <a:xfrm>
            <a:off x="5692651" y="5733423"/>
            <a:ext cx="25218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HDR=Header</a:t>
            </a:r>
            <a:endParaRPr lang="zh-TW" altLang="en-US" sz="28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箭號: 向右 2"/>
          <p:cNvSpPr/>
          <p:nvPr/>
        </p:nvSpPr>
        <p:spPr>
          <a:xfrm rot="5400000">
            <a:off x="-1495723" y="3544977"/>
            <a:ext cx="4221916" cy="439398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866573" y="5499938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1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861094" y="4837076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2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843626" y="4237509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3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856140" y="3600895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4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850661" y="2938033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5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9" name="矩形 78"/>
          <p:cNvSpPr/>
          <p:nvPr/>
        </p:nvSpPr>
        <p:spPr bwMode="auto">
          <a:xfrm>
            <a:off x="833193" y="2338466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6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840206" y="1706020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7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6241033"/>
            <a:ext cx="3336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封裝encapsulation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表頭檔解封裝過程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7336714" y="2876845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92" name="文字方塊 59"/>
          <p:cNvSpPr txBox="1">
            <a:spLocks noChangeArrowheads="1"/>
          </p:cNvSpPr>
          <p:nvPr/>
        </p:nvSpPr>
        <p:spPr bwMode="auto">
          <a:xfrm>
            <a:off x="6754457" y="1057634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電腦收到資料</a:t>
            </a:r>
          </a:p>
        </p:txBody>
      </p:sp>
      <p:sp>
        <p:nvSpPr>
          <p:cNvPr id="93" name="手繪多邊形 26"/>
          <p:cNvSpPr/>
          <p:nvPr/>
        </p:nvSpPr>
        <p:spPr bwMode="auto">
          <a:xfrm rot="16200000">
            <a:off x="7688567" y="2282900"/>
            <a:ext cx="534283" cy="430714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000000"/>
                </a:solidFill>
              </a:rPr>
              <a:t> </a:t>
            </a:r>
            <a:endParaRPr lang="zh-TW" altLang="en-US" sz="1800">
              <a:solidFill>
                <a:srgbClr val="000000"/>
              </a:solidFill>
            </a:endParaRPr>
          </a:p>
        </p:txBody>
      </p:sp>
      <p:sp>
        <p:nvSpPr>
          <p:cNvPr id="94" name="文字方塊 59"/>
          <p:cNvSpPr txBox="1">
            <a:spLocks noChangeArrowheads="1"/>
          </p:cNvSpPr>
          <p:nvPr/>
        </p:nvSpPr>
        <p:spPr bwMode="auto">
          <a:xfrm>
            <a:off x="-17841" y="1753796"/>
            <a:ext cx="683568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由下往上解封裝表頭檔</a:t>
            </a:r>
          </a:p>
        </p:txBody>
      </p:sp>
      <p:pic>
        <p:nvPicPr>
          <p:cNvPr id="36" name="Picture 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586" y="1491951"/>
            <a:ext cx="738181" cy="715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矩形 36"/>
          <p:cNvSpPr/>
          <p:nvPr/>
        </p:nvSpPr>
        <p:spPr bwMode="auto">
          <a:xfrm>
            <a:off x="1260261" y="1585365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Application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1260260" y="2214423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Presentation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1259995" y="3483378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Transport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1267326" y="4126663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Network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1267326" y="4771763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Data Link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1267326" y="5413475"/>
            <a:ext cx="1933765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Physical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1260260" y="2854320"/>
            <a:ext cx="1943587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Session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7336714" y="3474906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7336713" y="4114803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7336712" y="4743031"/>
            <a:ext cx="1755569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User Data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6156176" y="3479782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5289274" y="3480229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6167184" y="4124724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5300282" y="4125171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1" name="矩形 50"/>
          <p:cNvSpPr/>
          <p:nvPr/>
        </p:nvSpPr>
        <p:spPr bwMode="auto">
          <a:xfrm>
            <a:off x="6164910" y="4753603"/>
            <a:ext cx="1180273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Other 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5298008" y="4754050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4422859" y="4743030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L3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3556048" y="4755721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L2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434064" y="4106484"/>
            <a:ext cx="876286" cy="639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L3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HDR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64" name="文字方塊 59"/>
          <p:cNvSpPr txBox="1">
            <a:spLocks noChangeArrowheads="1"/>
          </p:cNvSpPr>
          <p:nvPr/>
        </p:nvSpPr>
        <p:spPr bwMode="auto">
          <a:xfrm>
            <a:off x="5692651" y="5733423"/>
            <a:ext cx="25218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HDR=Header</a:t>
            </a:r>
            <a:endParaRPr lang="zh-TW" altLang="en-US" sz="28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箭號: 向右 2"/>
          <p:cNvSpPr/>
          <p:nvPr/>
        </p:nvSpPr>
        <p:spPr>
          <a:xfrm rot="16200000">
            <a:off x="-1463639" y="3544977"/>
            <a:ext cx="4221916" cy="439398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866573" y="5499938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1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861094" y="4837076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2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843626" y="4237509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3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856140" y="3600895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4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850661" y="2938033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5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79" name="矩形 78"/>
          <p:cNvSpPr/>
          <p:nvPr/>
        </p:nvSpPr>
        <p:spPr bwMode="auto">
          <a:xfrm>
            <a:off x="833193" y="2338466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6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840206" y="1706020"/>
            <a:ext cx="526966" cy="43024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2400" dirty="0">
                <a:solidFill>
                  <a:srgbClr val="0000FF"/>
                </a:solidFill>
              </a:rPr>
              <a:t>7</a:t>
            </a:r>
            <a:endParaRPr kumimoji="1"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>
            <a:off x="3568767" y="4728160"/>
            <a:ext cx="874575" cy="654767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4459440" y="4110372"/>
            <a:ext cx="818720" cy="613971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5334015" y="3477035"/>
            <a:ext cx="798496" cy="629449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11992" y="6241033"/>
            <a:ext cx="37032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解封裝</a:t>
            </a: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d</a:t>
            </a:r>
            <a:r>
              <a:rPr kumimoji="1"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ecapsulation</a:t>
            </a:r>
            <a:endParaRPr kumimoji="1" lang="zh-TW" altLang="en-US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開放系統連結參考模式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1"/>
          <a:ext cx="9144000" cy="58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51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Network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1.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定義封包在網路中移動的路由，負責讓資料可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300" b="1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在同一網路或不同網路上的二台電腦之間傳輸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2.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具備定址與資料傳送路徑選擇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3.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能管理節點到另一節點的路徑，並負責建立、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維護及終止二個使用者之間鏈結，使資料依其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</a:t>
                      </a:r>
                      <a:r>
                        <a:rPr lang="zh-TW" altLang="en-US" sz="23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路徑傳輸</a:t>
                      </a:r>
                      <a:endParaRPr lang="en-US" altLang="zh-TW" sz="23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99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資料鏈結層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Data</a:t>
                      </a:r>
                      <a:r>
                        <a:rPr lang="en-US" altLang="zh-TW" sz="2800" b="1" kern="1200" baseline="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Link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決定資料的實體傳送位址，資料何時進行傳送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　及</a:t>
                      </a:r>
                      <a:r>
                        <a:rPr lang="zh-TW" altLang="en-US" sz="23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流量</a:t>
                      </a:r>
                      <a:r>
                        <a:rPr lang="zh-TW" altLang="en-US" sz="23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控制</a:t>
                      </a:r>
                      <a:r>
                        <a:rPr lang="en-US" altLang="zh-TW" sz="23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</a:t>
                      </a:r>
                      <a:r>
                        <a:rPr lang="en-US" altLang="zh-TW" sz="2300" b="1" kern="1200" baseline="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Flow Control)</a:t>
                      </a:r>
                      <a:endParaRPr lang="en-US" altLang="zh-TW" sz="23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負責確保實體層連結的資料之可靠性與正確性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負責將原始資料轉換成訊框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4.</a:t>
                      </a:r>
                      <a:r>
                        <a:rPr lang="zh-TW" altLang="en-US" sz="23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資料包裝拆裝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成可傳輸位元，</a:t>
                      </a:r>
                      <a:r>
                        <a:rPr lang="zh-TW" altLang="en-US" sz="23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資料分段與組合</a:t>
                      </a:r>
                      <a:endParaRPr lang="en-US" altLang="zh-TW" sz="23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4.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負責資料傳輸錯誤偵測、更正，建立可靠通信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  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協定介面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16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實體層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Physical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定義終端設備與網路間使用的介面</a:t>
                      </a:r>
                      <a:endParaRPr lang="en-US" altLang="zh-TW" sz="23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負責訂定電腦連接的</a:t>
                      </a:r>
                      <a:r>
                        <a:rPr lang="zh-TW" altLang="en-US" sz="23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電氣特性協定</a:t>
                      </a:r>
                      <a:endParaRPr lang="en-US" altLang="zh-TW" sz="23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TW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3.</a:t>
                      </a:r>
                      <a:r>
                        <a:rPr lang="zh-TW" altLang="en-US" sz="23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決定採用何種佈線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開放系統連結參考模式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0"/>
          <a:ext cx="9144000" cy="578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0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9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應用層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Ａ</a:t>
                      </a:r>
                      <a:r>
                        <a:rPr lang="en-US" altLang="zh-TW" sz="2800" b="1" kern="1200" dirty="0" err="1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pplication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提供使用者應用程式介面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負責檔案交換及模擬終端機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24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展示層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Presentation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1.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資料格式轉換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、資料表現方式、連線管理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（連</a:t>
                      </a:r>
                      <a:endParaRPr lang="en-US" altLang="zh-TW" sz="2100" b="1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　線建立與終止）</a:t>
                      </a:r>
                      <a:endParaRPr lang="en-US" altLang="zh-TW" sz="2100" b="1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負責翻譯資料格式、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加密解密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、壓縮解壓縮、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100" b="1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 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字碼轉換、編碼與解碼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24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會談層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Session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決定資料如何進行交換、何時進行傳輸、何時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 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結束（資料傳送及接收的時機）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負責管理各使用者之間資料交換形式，交換形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 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式有單工、半雙工及全雙工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22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傳輸層</a:t>
                      </a:r>
                      <a:endParaRPr lang="en-US" altLang="zh-TW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Transport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確保資料在網路層與會談層之間的傳輸品質正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 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確、沒有遺失沒有重復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2.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定義資料的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傳輸與控制（</a:t>
                      </a:r>
                      <a:r>
                        <a:rPr lang="en-US" altLang="zh-TW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End-to-End</a:t>
                      </a:r>
                      <a:r>
                        <a:rPr lang="en-US" altLang="zh-TW" sz="2100" b="1" baseline="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baseline="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    Connectivity</a:t>
                      </a:r>
                      <a:r>
                        <a:rPr lang="zh-TW" altLang="en-US" sz="2100" b="1" baseline="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）</a:t>
                      </a:r>
                      <a:r>
                        <a:rPr lang="zh-TW" altLang="en-US" sz="2100" b="1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包括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流量管制（</a:t>
                      </a:r>
                      <a:r>
                        <a:rPr lang="en-US" altLang="zh-TW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flow Control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）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　</a:t>
                      </a:r>
                      <a:endParaRPr lang="en-US" altLang="zh-TW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流程控制</a:t>
                      </a:r>
                      <a:r>
                        <a:rPr lang="zh-TW" altLang="en-US" sz="21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、建立傳輸、資料確認、</a:t>
                      </a:r>
                      <a:r>
                        <a:rPr lang="zh-TW" altLang="en-US" sz="21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錯誤偵測</a:t>
                      </a:r>
                      <a:r>
                        <a:rPr lang="zh-TW" altLang="en-US" sz="2100" b="1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處理</a:t>
                      </a:r>
                      <a:endParaRPr lang="en-US" altLang="zh-TW" sz="2100" b="1" dirty="0" smtClean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100" b="1" dirty="0" smtClean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3.</a:t>
                      </a:r>
                      <a:r>
                        <a:rPr lang="zh-TW" altLang="en-US" sz="2100" b="1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透過埠號</a:t>
                      </a:r>
                      <a:r>
                        <a:rPr lang="zh-TW" altLang="en-US" sz="2100" b="1" dirty="0" smtClean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zh-TW" altLang="en-US" sz="2100" b="1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序號</a:t>
                      </a:r>
                      <a:r>
                        <a:rPr lang="zh-TW" altLang="en-US" sz="2100" b="1" dirty="0" smtClean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zh-TW" altLang="en-US" sz="2100" b="1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確認號碼</a:t>
                      </a:r>
                      <a:r>
                        <a:rPr lang="zh-TW" altLang="en-US" sz="2100" b="1" dirty="0" smtClean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管理主機間分離資料流</a:t>
                      </a:r>
                      <a:endParaRPr lang="zh-TW" altLang="en-US" sz="21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開放系統連結參考模式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0"/>
          <a:ext cx="9143999" cy="5786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4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L7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Application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應用層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提供各種應用程式協定給使用者，例如：檔案傳輸、電子郵件、網頁瀏覽等服務</a:t>
                      </a:r>
                      <a:endParaRPr lang="en-US" altLang="zh-TW" sz="24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L6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Presentation 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展示層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主要定義資料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內碼轉換、壓縮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解壓縮和加密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解密資料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L5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Session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會談層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負責通訊的雙方在正式開始傳輸前的</a:t>
                      </a:r>
                      <a:r>
                        <a:rPr lang="zh-TW" altLang="en-US" sz="2400" b="1" dirty="0" smtClean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溝通，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目的在於建立傳輸時所遵循的規則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L4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Transport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傳輸層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負責切割資料編定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序號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，決定資料要以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TCP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或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UDP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方式傳送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L3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Network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主要負責傳送資料的來源端與目的端的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定址（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IP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）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及選擇傳送資料路徑</a:t>
                      </a:r>
                      <a:endParaRPr lang="en-US" altLang="zh-TW" sz="24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L2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Data-Link</a:t>
                      </a:r>
                    </a:p>
                    <a:p>
                      <a:pPr algn="ctr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資料鏈結層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主要負責資料的同步、偵錯、制定媒體存取控制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Media Access Control</a:t>
                      </a:r>
                      <a:r>
                        <a:rPr lang="zh-TW" altLang="en-US" sz="24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）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的方法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663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L1</a:t>
                      </a:r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Physical</a:t>
                      </a:r>
                    </a:p>
                    <a:p>
                      <a:pPr marL="0" algn="ctr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實體層</a:t>
                      </a:r>
                    </a:p>
                  </a:txBody>
                  <a:tcPr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4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主要定義傳輸資訊的介質規格，例如：同軸電纜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、雙絞線、無線電波、紅外線等</a:t>
                      </a:r>
                      <a:endParaRPr lang="en-US" altLang="zh-TW" sz="24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實體層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1026" name="Picture 2" descr="C:\Users\ST15\Desktop\新增資料夾\-4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資料鏈結層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4098" name="Picture 2" descr="C:\Users\ST15\Desktop\新增資料夾\-5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112"/>
            <a:ext cx="9144000" cy="579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5122" name="Picture 2" descr="C:\Users\ST15\Desktop\新增資料夾\-6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6" y="1079500"/>
            <a:ext cx="9146126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傳輸層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6146" name="Picture 2" descr="C:\Users\ST15\Desktop\新增資料夾\-7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112"/>
            <a:ext cx="9144000" cy="579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會議層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7170" name="Picture 2" descr="C:\Users\ST15\Desktop\新增資料夾\-9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6292"/>
            <a:ext cx="9144000" cy="580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展示層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8194" name="Picture 2" descr="C:\Users\ST15\Desktop\新增資料夾\-10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4166"/>
            <a:ext cx="9144000" cy="580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OSI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應用層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9218" name="Picture 2" descr="C:\Users\ST15\Desktop\新增資料夾\-11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設備</a:t>
            </a:r>
            <a:r>
              <a:rPr lang="en-US" altLang="zh-TW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OSI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架構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1069315"/>
          <a:ext cx="9144001" cy="5822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051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設備名稱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層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4000" dirty="0">
                          <a:latin typeface="微軟正黑體" pitchFamily="34" charset="-120"/>
                          <a:ea typeface="微軟正黑體" pitchFamily="34" charset="-120"/>
                        </a:rPr>
                        <a:t>資料傳送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路由器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Router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3.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IP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位址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交換器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Switch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資料連結層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橋接器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Bridge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中繼器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Repeater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實體層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TCP/IP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協定網路架構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1"/>
          <a:ext cx="9144000" cy="5786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4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OSI</a:t>
                      </a:r>
                      <a:endParaRPr lang="zh-TW" altLang="en-US" sz="4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40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TCP/IP</a:t>
                      </a:r>
                      <a:endParaRPr lang="zh-TW" altLang="en-US" sz="40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應用層Ａ</a:t>
                      </a:r>
                      <a:r>
                        <a:rPr lang="en-US" altLang="zh-TW" sz="3000" b="1" kern="1200" dirty="0" err="1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pplication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應用層Ａ</a:t>
                      </a:r>
                      <a:r>
                        <a:rPr lang="en-US" altLang="zh-TW" sz="3000" b="1" kern="1200" dirty="0" err="1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pplication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展示層</a:t>
                      </a:r>
                      <a:r>
                        <a:rPr lang="en-US" altLang="zh-TW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Presentation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會談層</a:t>
                      </a:r>
                      <a:r>
                        <a:rPr lang="en-US" altLang="zh-TW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Session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傳輸層</a:t>
                      </a:r>
                      <a:r>
                        <a:rPr lang="en-US" altLang="zh-TW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Transport</a:t>
                      </a:r>
                      <a:endParaRPr lang="zh-TW" altLang="en-US" sz="3000" b="1" kern="1200" dirty="0" smtClean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主機傳輸層</a:t>
                      </a:r>
                      <a:r>
                        <a:rPr lang="en-US" altLang="zh-TW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Transport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網路層</a:t>
                      </a:r>
                      <a:r>
                        <a:rPr lang="en-US" altLang="zh-TW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Network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網際網路層</a:t>
                      </a:r>
                      <a:r>
                        <a:rPr lang="en-US" altLang="zh-TW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Internet</a:t>
                      </a:r>
                      <a:endParaRPr lang="zh-TW" altLang="en-US" sz="3000" b="1" kern="1200" dirty="0" smtClean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資料鏈結層</a:t>
                      </a:r>
                      <a:r>
                        <a:rPr lang="en-US" altLang="zh-TW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Data</a:t>
                      </a:r>
                      <a:r>
                        <a:rPr lang="en-US" altLang="zh-TW" sz="3000" b="1" kern="1200" baseline="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 Link</a:t>
                      </a:r>
                      <a:endParaRPr lang="en-US" altLang="zh-TW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網路存取層</a:t>
                      </a:r>
                      <a:r>
                        <a:rPr lang="en-US" altLang="zh-TW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Network </a:t>
                      </a:r>
                      <a:r>
                        <a:rPr lang="en-US" altLang="zh-TW" sz="3000" b="1" kern="1200" dirty="0" smtClean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Access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28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支援</a:t>
                      </a:r>
                      <a:r>
                        <a:rPr lang="en-US" altLang="zh-TW" sz="28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LAN</a:t>
                      </a:r>
                      <a:r>
                        <a:rPr lang="zh-TW" altLang="en-US" sz="28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和</a:t>
                      </a:r>
                      <a:r>
                        <a:rPr lang="en-US" altLang="zh-TW" sz="2800" b="1" kern="1200" dirty="0" smtClean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WAN</a:t>
                      </a:r>
                      <a:endParaRPr lang="zh-TW" altLang="en-US" sz="28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419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實體層</a:t>
                      </a:r>
                      <a:r>
                        <a:rPr lang="en-US" altLang="zh-TW" sz="30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Physical</a:t>
                      </a:r>
                      <a:endParaRPr lang="zh-TW" altLang="en-US" sz="30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TCP/IP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協定網路架構</a:t>
            </a:r>
          </a:p>
        </p:txBody>
      </p:sp>
      <p:pic>
        <p:nvPicPr>
          <p:cNvPr id="6" name="Picture 2" descr="ãç¶²è·¯ä¸å±¤æ¶æ§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9" y="1700808"/>
            <a:ext cx="8930122" cy="469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6516216" y="2204864"/>
            <a:ext cx="1224136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220072" y="5301208"/>
            <a:ext cx="720080" cy="109108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zh-TW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非連結導向</a:t>
            </a:r>
            <a:r>
              <a:rPr kumimoji="1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Connection Less</a:t>
            </a:r>
            <a:endParaRPr kumimoji="1" lang="zh-TW" altLang="en-US" sz="5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2964" y="1412776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一、網際協定</a:t>
            </a: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Internet Protocol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、使用者資料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</a:t>
            </a: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User Datagram Protocol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二、是一種不可靠、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非連接導向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的通訊協定，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三、</a:t>
            </a:r>
            <a:r>
              <a:rPr kumimoji="0" lang="zh-TW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負責將訊息傳到網路上，不在傳輸資料前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</a:t>
            </a:r>
            <a:r>
              <a:rPr kumimoji="0" lang="zh-TW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先建立</a:t>
            </a: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connection</a:t>
            </a:r>
            <a:r>
              <a:rPr kumimoji="0" lang="zh-TW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，不檢查資料是否被接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</a:t>
            </a:r>
            <a:r>
              <a:rPr kumimoji="0" lang="zh-TW" altLang="zh-TW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收</a:t>
            </a:r>
            <a:r>
              <a:rPr kumimoji="0" lang="zh-TW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，例如</a:t>
            </a:r>
            <a:r>
              <a:rPr kumimoji="0" lang="zh-TW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寄平信</a:t>
            </a:r>
            <a:r>
              <a:rPr kumimoji="0" lang="zh-TW" altLang="zh-TW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。</a:t>
            </a:r>
            <a:endParaRPr kumimoji="0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TCP傳輸控制協定</a:t>
            </a:r>
            <a:endParaRPr kumimoji="1" lang="zh-TW" altLang="en-US" sz="4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56" y="1085788"/>
            <a:ext cx="914400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一、 </a:t>
            </a: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Transmission Control Protocol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二、是一種可靠、全雙工串流、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連接導向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的通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訊協定，提供錯誤控制及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封包重送機制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三、主要任務確保資料在網路上能正確的傳輸，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</a:t>
            </a: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提供流量控制的</a:t>
            </a:r>
            <a:r>
              <a:rPr kumimoji="0" lang="zh-TW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特性，例如</a:t>
            </a:r>
            <a:r>
              <a:rPr kumimoji="0" lang="zh-TW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寄掛號</a:t>
            </a:r>
            <a:r>
              <a:rPr kumimoji="0" lang="zh-TW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。</a:t>
            </a:r>
            <a:endParaRPr kumimoji="0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四</a:t>
            </a:r>
            <a:r>
              <a:rPr kumimoji="0" lang="zh-TW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 另外</a:t>
            </a:r>
            <a:r>
              <a:rPr kumimoji="0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Asynchronous Transfer Mode</a:t>
            </a:r>
            <a:r>
              <a:rPr kumimoji="0" lang="zh-TW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非</a:t>
            </a:r>
            <a:endParaRPr kumimoji="0" lang="en-US" altLang="zh-TW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 </a:t>
            </a:r>
            <a:r>
              <a:rPr kumimoji="0" lang="zh-TW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同步傳輸模式也屬連接導向通訊協定</a:t>
            </a:r>
            <a:endParaRPr kumimoji="0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/>
          <p:cNvCxnSpPr/>
          <p:nvPr/>
        </p:nvCxnSpPr>
        <p:spPr>
          <a:xfrm flipV="1">
            <a:off x="1341897" y="3718612"/>
            <a:ext cx="1" cy="2869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zh-TW" sz="4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連結導向</a:t>
            </a:r>
            <a:r>
              <a:rPr kumimoji="1" lang="en-US" altLang="zh-TW" sz="4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Connection-Oriented</a:t>
            </a:r>
            <a:endParaRPr kumimoji="1" lang="zh-TW" altLang="en-US" sz="4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07950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TCP 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協定的三向式的握手程序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在終端使用者應用程式間建立</a:t>
            </a:r>
            <a:r>
              <a:rPr kumimoji="0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虛擬會談</a:t>
            </a:r>
            <a:r>
              <a:rPr lang="zh-TW" altLang="en-US" sz="2800" b="1" noProof="0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kumimoji="0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經由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連線請求、連線確認、連線成功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的程序，便形成了三向式握手程序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</a:rPr>
              <a:t>(3-way handshaking)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7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17" y="2731403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265" y="2490410"/>
            <a:ext cx="1028700" cy="12382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104965" y="2886646"/>
            <a:ext cx="15121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接收端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Server</a:t>
            </a:r>
          </a:p>
        </p:txBody>
      </p:sp>
      <p:sp>
        <p:nvSpPr>
          <p:cNvPr id="8" name="矩形 7"/>
          <p:cNvSpPr/>
          <p:nvPr/>
        </p:nvSpPr>
        <p:spPr>
          <a:xfrm>
            <a:off x="13232" y="2983567"/>
            <a:ext cx="15121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發送端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client</a:t>
            </a:r>
          </a:p>
        </p:txBody>
      </p:sp>
      <p:cxnSp>
        <p:nvCxnSpPr>
          <p:cNvPr id="13" name="直線接點 12"/>
          <p:cNvCxnSpPr/>
          <p:nvPr/>
        </p:nvCxnSpPr>
        <p:spPr>
          <a:xfrm flipV="1">
            <a:off x="5622354" y="3717643"/>
            <a:ext cx="1" cy="2869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1341897" y="3810903"/>
            <a:ext cx="4280457" cy="755005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1341897" y="4721483"/>
            <a:ext cx="4296327" cy="41808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357767" y="5571308"/>
            <a:ext cx="4280457" cy="755005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 bwMode="auto">
          <a:xfrm>
            <a:off x="2591220" y="3553584"/>
            <a:ext cx="1117903" cy="4016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SYN=1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2591219" y="4309298"/>
            <a:ext cx="1117903" cy="571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SYN=1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ACK=1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2591219" y="5161237"/>
            <a:ext cx="1117903" cy="648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SYN=0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ACK=1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724128" y="4003739"/>
            <a:ext cx="3266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同步旗標(SYN , Synchronize)</a:t>
            </a:r>
          </a:p>
        </p:txBody>
      </p:sp>
      <p:sp>
        <p:nvSpPr>
          <p:cNvPr id="31" name="矩形 30"/>
          <p:cNvSpPr/>
          <p:nvPr/>
        </p:nvSpPr>
        <p:spPr>
          <a:xfrm>
            <a:off x="5724128" y="4588749"/>
            <a:ext cx="3438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確認旗標(ACK, Acknowledge)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通訊協定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0" y="1071563"/>
          <a:ext cx="9144000" cy="578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68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Apple Talk</a:t>
                      </a:r>
                      <a:endParaRPr lang="zh-TW" altLang="en-US" sz="3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由蘋果公司開發的一套專有軟體通訊協議堆疊。在</a:t>
                      </a:r>
                      <a:r>
                        <a:rPr lang="en-US" altLang="zh-TW" sz="28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Mac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電腦上，不需要特別設定，或是通過某些伺服器，就可以直接透過</a:t>
                      </a:r>
                      <a:r>
                        <a:rPr lang="en-US" altLang="zh-TW" sz="28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AppleTalk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連結到區域網路中，屬即插即用架構</a:t>
                      </a: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27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Ｎ</a:t>
                      </a:r>
                      <a:r>
                        <a:rPr lang="en-US" altLang="zh-TW" sz="3600" b="1" kern="1200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etBIOS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8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Network Basic Input Output System</a:t>
                      </a:r>
                      <a:r>
                        <a:rPr lang="zh-TW" altLang="en-US" sz="28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IBM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公司所發展的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PC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網路協定</a:t>
                      </a:r>
                      <a:endParaRPr lang="en-US" altLang="zh-TW" sz="2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68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IPX/SPX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Internetwork Packet Exchange/Sequenced Packet Exchange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，網際網路封包交換／循序封包交換，為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Netware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通訊協定</a:t>
                      </a:r>
                      <a:endParaRPr lang="en-US" altLang="zh-TW" sz="2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284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SNMP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2050" name="Picture 2" descr="「SNMP」的圖片搜尋結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81362"/>
            <a:ext cx="8184223" cy="442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8452" y="5612701"/>
            <a:ext cx="91205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SNMP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Simple Network Management Protocol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）簡易網路管理協定，會監控網路上各類型設備狀態，並在這些設備之間進行溝通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TFTP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52" y="5258706"/>
            <a:ext cx="91205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TFTP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Trivial File Transfer Protocol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）是一種簡單型的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FTP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協定，早期電腦記憶體小，且傳輸檔案常常是在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LAN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內進行，因此產生這種簡單且不需要驗證（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使用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UDP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協定，不檢查資料的正確性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）的檔案傳輸協定。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4098" name="Picture 2" descr="「TFTP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81" y="1068842"/>
            <a:ext cx="5057199" cy="419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1" y="1065840"/>
            <a:ext cx="7968226" cy="4390860"/>
          </a:xfrm>
          <a:prstGeom prst="rect">
            <a:avLst/>
          </a:prstGeom>
        </p:spPr>
      </p:pic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POP3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5456700"/>
            <a:ext cx="91205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POP3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郵局協議（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Post Office Protocol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，簡稱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）主要用於支援使用用戶端遠端管理在伺服器上的電子郵件。最新版本為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POP3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通訊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埠為</a:t>
            </a: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110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，屬於收件伺服器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55576" y="2917152"/>
            <a:ext cx="3384376" cy="439840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SMTP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36" name="文字方塊 2"/>
          <p:cNvSpPr txBox="1">
            <a:spLocks noChangeArrowheads="1"/>
          </p:cNvSpPr>
          <p:nvPr/>
        </p:nvSpPr>
        <p:spPr bwMode="auto">
          <a:xfrm>
            <a:off x="7164289" y="696508"/>
            <a:ext cx="1979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195</a:t>
            </a: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</a:t>
            </a: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198</a:t>
            </a: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、</a:t>
            </a: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387</a:t>
            </a:r>
            <a:r>
              <a: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5456700"/>
            <a:ext cx="91205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簡單郵件傳輸協定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(Simple Mail Transfer Protocol, SMTP) 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是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Internet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傳輸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email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的標準，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通訊埠為</a:t>
            </a:r>
            <a:r>
              <a: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25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，屬於寄件伺服器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075200"/>
            <a:ext cx="790575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755576" y="3356992"/>
            <a:ext cx="3024336" cy="288032"/>
          </a:xfrm>
          <a:prstGeom prst="rect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FTP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6563" name="矩形 1"/>
          <p:cNvSpPr>
            <a:spLocks noChangeArrowheads="1"/>
          </p:cNvSpPr>
          <p:nvPr/>
        </p:nvSpPr>
        <p:spPr bwMode="auto">
          <a:xfrm>
            <a:off x="0" y="5940425"/>
            <a:ext cx="914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File Transfer Protocol  </a:t>
            </a: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主要的功能就是進行 </a:t>
            </a: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Server </a:t>
            </a: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端與 </a:t>
            </a: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Client </a:t>
            </a: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端之間的檔案傳送的功能。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66564" name="圖片 2"/>
          <p:cNvSpPr>
            <a:spLocks noChangeAspect="1"/>
          </p:cNvSpPr>
          <p:nvPr/>
        </p:nvSpPr>
        <p:spPr bwMode="auto">
          <a:xfrm>
            <a:off x="0" y="1077913"/>
            <a:ext cx="914400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66565" name="Picture 6" descr="「filezilla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913"/>
            <a:ext cx="914400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2"/>
          <p:cNvSpPr txBox="1">
            <a:spLocks noChangeArrowheads="1"/>
          </p:cNvSpPr>
          <p:nvPr/>
        </p:nvSpPr>
        <p:spPr bwMode="auto">
          <a:xfrm>
            <a:off x="8460432" y="710168"/>
            <a:ext cx="673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196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通訊協定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2"/>
          <a:ext cx="9144000" cy="578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8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微軟正黑體" pitchFamily="34" charset="-120"/>
                          <a:ea typeface="微軟正黑體" pitchFamily="34" charset="-120"/>
                        </a:rPr>
                        <a:t>TCP/IP</a:t>
                      </a:r>
                      <a:endParaRPr lang="zh-TW" altLang="en-US" sz="36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Transmission Control Protocol/Internet Protocol </a:t>
                      </a:r>
                      <a:r>
                        <a:rPr lang="zh-TW" altLang="en-US" sz="32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，</a:t>
                      </a:r>
                      <a:r>
                        <a:rPr lang="en-US" altLang="zh-TW" sz="32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TCP</a:t>
                      </a:r>
                      <a:r>
                        <a:rPr lang="zh-TW" altLang="en-US" sz="32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負責封包資料處理及傳輸協定，</a:t>
                      </a:r>
                      <a:r>
                        <a:rPr lang="en-US" altLang="zh-TW" sz="32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IP</a:t>
                      </a:r>
                      <a:r>
                        <a:rPr lang="zh-TW" altLang="en-US" sz="3200" b="1" kern="1200" baseline="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管理網路上各節點定址</a:t>
                      </a:r>
                      <a:endParaRPr lang="zh-TW" altLang="en-US" sz="32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79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600" b="1" kern="1200" dirty="0">
                          <a:solidFill>
                            <a:schemeClr val="lt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IPX/SPX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3200" b="1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Internetwork Packet Exchange/Sequenced Packet Exchange</a:t>
                      </a:r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，網際網路封包交換／循序封包交換，為</a:t>
                      </a:r>
                      <a:r>
                        <a:rPr lang="en-US" altLang="zh-TW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Netware</a:t>
                      </a:r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通訊協定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31"/>
          <p:cNvSpPr txBox="1"/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60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3" name="標題 31"/>
          <p:cNvSpPr txBox="1"/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/>
              <a:t>SSH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1088598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一、</a:t>
            </a: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Secure Shell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，由IETF的網路工作小組（Network Working 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　　Group）所制定，建立在應用層和傳輸層基礎上的安全協定。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二、目前較可靠，專為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遠程登錄會話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和其他網絡服務提供安全性的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　　協議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三、傳統的網路服務程式，如FTP、POP和</a:t>
            </a:r>
            <a:r>
              <a:rPr lang="zh-TW" altLang="en-US" sz="2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Telnet為不安全的服務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，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　　因為在網路上使用明文傳送資料、用戶帳號，很容易受到駭客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　　攻擊。</a:t>
            </a:r>
          </a:p>
        </p:txBody>
      </p:sp>
      <p:pic>
        <p:nvPicPr>
          <p:cNvPr id="2050" name="Picture 2" descr="「SSH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563083"/>
            <a:ext cx="7548101" cy="226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>
            <a:extLst/>
          </p:cNvPr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en-US" altLang="zh-TW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7059" name="矩形 1"/>
          <p:cNvSpPr>
            <a:spLocks noChangeArrowheads="1"/>
          </p:cNvSpPr>
          <p:nvPr/>
        </p:nvSpPr>
        <p:spPr bwMode="auto">
          <a:xfrm>
            <a:off x="4763" y="1079500"/>
            <a:ext cx="9139237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b="1" dirty="0">
                <a:solidFill>
                  <a:srgbClr val="000000"/>
                </a:solidFill>
                <a:latin typeface="新細明體" panose="02020500000000000000" pitchFamily="18" charset="-120"/>
              </a:rPr>
              <a:t>、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IPv4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數量不夠而產生新型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組成方式</a:t>
            </a:r>
            <a:endParaRPr lang="en-US" altLang="zh-TW" b="1" dirty="0">
              <a:solidFill>
                <a:srgbClr val="000000"/>
              </a:solidFill>
              <a:latin typeface="新細明體" panose="02020500000000000000" pitchFamily="18" charset="-12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zh-TW" altLang="en-US" b="1" dirty="0">
                <a:solidFill>
                  <a:srgbClr val="000000"/>
                </a:solidFill>
                <a:latin typeface="新細明體" panose="02020500000000000000" pitchFamily="18" charset="-120"/>
              </a:rPr>
              <a:t>、 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位址由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128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位元組成</a:t>
            </a:r>
            <a:endParaRPr lang="en-US" altLang="zh-TW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b="1" dirty="0">
                <a:solidFill>
                  <a:srgbClr val="000000"/>
                </a:solidFill>
                <a:latin typeface="新細明體" panose="02020500000000000000" pitchFamily="18" charset="-120"/>
              </a:rPr>
              <a:t>、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可提供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個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>
                <a:solidFill>
                  <a:srgbClr val="000000"/>
                </a:solidFill>
                <a:latin typeface="新細明體" panose="02020500000000000000" pitchFamily="18" charset="-120"/>
              </a:rPr>
              <a:t>、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分成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組數字，每組數字以「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」區隔</a:t>
            </a:r>
            <a:endParaRPr lang="en-US" altLang="zh-TW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zh-TW" altLang="en-US" b="1" dirty="0">
                <a:solidFill>
                  <a:srgbClr val="000000"/>
                </a:solidFill>
                <a:latin typeface="新細明體" panose="02020500000000000000" pitchFamily="18" charset="-120"/>
              </a:rPr>
              <a:t>、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進位數字組成</a:t>
            </a:r>
            <a:endParaRPr lang="en-US" altLang="zh-TW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spcBef>
                <a:spcPts val="2400"/>
              </a:spcBef>
              <a:buFontTx/>
              <a:buNone/>
            </a:pP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ACDC:1536:11A5:62B7:7423:1869:559E:1432 </a:t>
            </a:r>
            <a:endParaRPr lang="zh-TW" altLang="en-US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7060" name="文字方塊 32"/>
          <p:cNvSpPr txBox="1">
            <a:spLocks noChangeArrowheads="1"/>
          </p:cNvSpPr>
          <p:nvPr/>
        </p:nvSpPr>
        <p:spPr bwMode="auto">
          <a:xfrm>
            <a:off x="2322513" y="2492375"/>
            <a:ext cx="58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128</a:t>
            </a:r>
            <a:endParaRPr lang="zh-TW" altLang="en-US" sz="180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16" y="5911850"/>
            <a:ext cx="8774710" cy="70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kumimoji="1" lang="en-US" altLang="zh-TW" sz="3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4bit </a:t>
            </a:r>
            <a:r>
              <a:rPr kumimoji="1" lang="en-US" altLang="zh-TW" sz="3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4bit</a:t>
            </a:r>
            <a:r>
              <a:rPr kumimoji="1" lang="en-US" altLang="zh-TW" sz="3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3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4bit</a:t>
            </a:r>
            <a:r>
              <a:rPr kumimoji="1" lang="en-US" altLang="zh-TW" sz="3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3000" b="1" dirty="0" err="1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4bit</a:t>
            </a:r>
            <a:r>
              <a:rPr kumimoji="1" lang="zh-TW" altLang="en-US" sz="3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kumimoji="1" lang="en-US" altLang="zh-TW" sz="3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16bit*8=128bit/8=16Bytes</a:t>
            </a:r>
            <a:endParaRPr kumimoji="1" lang="en-US" altLang="zh-TW" sz="3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267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/>
              <a:t>VPN</a:t>
            </a:r>
            <a:r>
              <a:rPr lang="zh-TW" altLang="en-US" dirty="0"/>
              <a:t>虛擬私人網路</a:t>
            </a:r>
            <a:endParaRPr lang="en-US" altLang="zh-TW" dirty="0"/>
          </a:p>
        </p:txBody>
      </p:sp>
      <p:pic>
        <p:nvPicPr>
          <p:cNvPr id="1026" name="Picture 2" descr="https://upload.wikimedia.org/wikipedia/commons/thumb/0/00/Virtual_Private_Network_overview.svg/1280px-Virtual_Private_Network_overview.svg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4"/>
          <a:stretch>
            <a:fillRect/>
          </a:stretch>
        </p:blipFill>
        <p:spPr bwMode="auto">
          <a:xfrm>
            <a:off x="1043608" y="2300370"/>
            <a:ext cx="7022258" cy="429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6350" y="1196752"/>
            <a:ext cx="91376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VPN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Virtual Private Network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）</a:t>
            </a:r>
            <a:r>
              <a:rPr lang="zh-TW" altLang="en-US" sz="2800" b="1" dirty="0">
                <a:latin typeface="微軟正黑體" pitchFamily="34" charset="-120"/>
                <a:ea typeface="微軟正黑體" pitchFamily="34" charset="-120"/>
              </a:rPr>
              <a:t>利用已加密的通道協議（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Tunneling Protocol</a:t>
            </a:r>
            <a:r>
              <a:rPr lang="zh-TW" altLang="en-US" sz="2800" b="1" dirty="0">
                <a:latin typeface="微軟正黑體" pitchFamily="34" charset="-120"/>
                <a:ea typeface="微軟正黑體" pitchFamily="34" charset="-120"/>
              </a:rPr>
              <a:t>）來進行私人網路傳輸的加密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免費</a:t>
            </a: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VPN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6600" y="2830513"/>
            <a:ext cx="2374900" cy="5032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121860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8532813" cy="577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21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SoftEther</a:t>
            </a: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VPN Client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6600" y="2830513"/>
            <a:ext cx="2374900" cy="5032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123908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15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愛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奇</a:t>
            </a: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藝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25955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079500"/>
            <a:ext cx="9139237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93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中國愛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奇</a:t>
            </a: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藝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2800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079500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14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中國愛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奇</a:t>
            </a: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藝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80" y="1079500"/>
            <a:ext cx="9149184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快帆</a:t>
            </a: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VPN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79500"/>
            <a:ext cx="9144001" cy="57785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/>
          <a:srcRect t="30652" b="15475"/>
          <a:stretch/>
        </p:blipFill>
        <p:spPr>
          <a:xfrm>
            <a:off x="-2" y="4581128"/>
            <a:ext cx="9160416" cy="22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9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工作項目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一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資訊網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路</a:t>
            </a:r>
            <a:endParaRPr kumimoji="1" lang="zh-TW" altLang="en-US" sz="60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4997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文字方塊 10"/>
          <p:cNvSpPr txBox="1">
            <a:spLocks noChangeArrowheads="1"/>
          </p:cNvSpPr>
          <p:nvPr/>
        </p:nvSpPr>
        <p:spPr bwMode="auto">
          <a:xfrm>
            <a:off x="0" y="2348880"/>
            <a:ext cx="914400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工作項目一：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66~69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71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74~79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82~87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93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233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234</a:t>
            </a:r>
            <a:endParaRPr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接點 15"/>
          <p:cNvCxnSpPr/>
          <p:nvPr/>
        </p:nvCxnSpPr>
        <p:spPr>
          <a:xfrm flipV="1">
            <a:off x="282959" y="4124537"/>
            <a:ext cx="4289041" cy="791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74813" y="2127871"/>
            <a:ext cx="2220131" cy="3868117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1746821" y="2276872"/>
            <a:ext cx="1920082" cy="385173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六邊形 2"/>
          <p:cNvSpPr/>
          <p:nvPr/>
        </p:nvSpPr>
        <p:spPr>
          <a:xfrm>
            <a:off x="522288" y="1703388"/>
            <a:ext cx="4398962" cy="4292600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Mesh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網狀式網路</a:t>
            </a:r>
          </a:p>
        </p:txBody>
      </p:sp>
      <p:sp>
        <p:nvSpPr>
          <p:cNvPr id="2" name="橢圓 1"/>
          <p:cNvSpPr/>
          <p:nvPr/>
        </p:nvSpPr>
        <p:spPr>
          <a:xfrm>
            <a:off x="1000125" y="1343025"/>
            <a:ext cx="1152525" cy="1081088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A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4925" y="3611563"/>
            <a:ext cx="1152525" cy="1081087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B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211638" y="3611563"/>
            <a:ext cx="1152525" cy="1081087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E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1065213" y="5637213"/>
            <a:ext cx="1152525" cy="1081087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C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76600" y="5627688"/>
            <a:ext cx="1152525" cy="1081087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D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275013" y="1314450"/>
            <a:ext cx="1152525" cy="1081088"/>
          </a:xfrm>
          <a:prstGeom prst="ellipse">
            <a:avLst/>
          </a:prstGeom>
          <a:solidFill>
            <a:srgbClr val="580000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5400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F</a:t>
            </a:r>
            <a:endParaRPr kumimoji="1" lang="zh-TW" altLang="en-US" sz="540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250" name="矩形 12"/>
          <p:cNvSpPr>
            <a:spLocks noChangeArrowheads="1"/>
          </p:cNvSpPr>
          <p:nvPr/>
        </p:nvSpPr>
        <p:spPr bwMode="auto">
          <a:xfrm>
            <a:off x="5291773" y="1772920"/>
            <a:ext cx="3854450" cy="301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網狀拓撲（</a:t>
            </a:r>
            <a:r>
              <a:rPr lang="en-US" altLang="zh-TW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Mesh</a:t>
            </a:r>
            <a:r>
              <a:rPr lang="zh-TW" altLang="en-US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Topology）</a:t>
            </a:r>
            <a:r>
              <a:rPr lang="zh-TW" altLang="en-US" b="1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，所有節點電腦都可跟任一節點進行連線。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錯誤偵測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44739" name="矩形 4"/>
          <p:cNvSpPr>
            <a:spLocks noChangeArrowheads="1"/>
          </p:cNvSpPr>
          <p:nvPr/>
        </p:nvSpPr>
        <p:spPr bwMode="auto">
          <a:xfrm>
            <a:off x="0" y="1484784"/>
            <a:ext cx="91440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訊號被數位化後，在傳輸過程中難免會因受到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干擾而導致傳輸資料改變發生錯誤，因而可以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在資料中加入一些額外資料，使得資料傳送至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接收端時，可利用這些</a:t>
            </a: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額外多餘的資料來偵測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錯誤及校正錯誤。</a:t>
            </a:r>
            <a:endParaRPr kumimoji="1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26" name="Picture 2" descr="「數據機 類比轉數位」的圖片搜尋結果">
            <a:extLst>
              <a:ext uri="{FF2B5EF4-FFF2-40B4-BE49-F238E27FC236}">
                <a16:creationId xmlns:a16="http://schemas.microsoft.com/office/drawing/2014/main" id="{126754A5-43FD-45CD-9873-89B21F6811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2" b="44009"/>
          <a:stretch/>
        </p:blipFill>
        <p:spPr bwMode="auto">
          <a:xfrm>
            <a:off x="536586" y="4193218"/>
            <a:ext cx="8070827" cy="21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8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常見的錯誤偵測方法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44739" name="矩形 4"/>
          <p:cNvSpPr>
            <a:spLocks noChangeArrowheads="1"/>
          </p:cNvSpPr>
          <p:nvPr/>
        </p:nvSpPr>
        <p:spPr bwMode="auto">
          <a:xfrm>
            <a:off x="0" y="1484784"/>
            <a:ext cx="9144000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一、同位檢查碼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 </a:t>
            </a:r>
            <a:r>
              <a:rPr kumimoji="1" lang="en-US" altLang="zh-TW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parity check code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）</a:t>
            </a:r>
            <a:endParaRPr kumimoji="1" lang="en-US" altLang="zh-TW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   垂直冗餘檢查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Vertical redundancy check</a:t>
            </a:r>
            <a:r>
              <a:rPr kumimoji="1" lang="zh-TW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   縱向冗餘檢查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longitudinal  redundancy check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二、檢查和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check sum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三、循環冗餘檢查碼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 </a:t>
            </a:r>
            <a:r>
              <a:rPr kumimoji="1" lang="en-US" altLang="zh-TW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Cyclic Redundancy Check </a:t>
            </a:r>
            <a:r>
              <a:rPr kumimoji="1" lang="zh-TW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7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>
              <a:ext uri="{FF2B5EF4-FFF2-40B4-BE49-F238E27FC236}">
                <a16:creationId xmlns:a16="http://schemas.microsoft.com/office/drawing/2014/main" id="{E6276082-D612-4D05-B3D1-1BDB35EC21B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ASCII Code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5373E6-3593-414C-A750-0D7532143629}"/>
              </a:ext>
            </a:extLst>
          </p:cNvPr>
          <p:cNvGraphicFramePr>
            <a:graphicFrameLocks noGrp="1"/>
          </p:cNvGraphicFramePr>
          <p:nvPr/>
        </p:nvGraphicFramePr>
        <p:xfrm>
          <a:off x="0" y="1081088"/>
          <a:ext cx="9144000" cy="579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6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符號</a:t>
                      </a:r>
                    </a:p>
                  </a:txBody>
                  <a:tcPr marT="45731" marB="45731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ASCII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符號</a:t>
                      </a: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ASCII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</a:t>
                      </a: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</a:t>
                      </a: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66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68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69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82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84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73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J</a:t>
                      </a:r>
                      <a:endParaRPr lang="en-US" altLang="zh-TW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74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87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K</a:t>
                      </a:r>
                      <a:endParaRPr lang="en-US" altLang="zh-TW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88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76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89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77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60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>
            <a:extLst>
              <a:ext uri="{FF2B5EF4-FFF2-40B4-BE49-F238E27FC236}">
                <a16:creationId xmlns:a16="http://schemas.microsoft.com/office/drawing/2014/main" id="{F9BF9489-AD22-439B-B4DC-D04B4D75213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ASCII Code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6A0D23-3BAD-486E-B8DA-6F9887843A96}"/>
              </a:ext>
            </a:extLst>
          </p:cNvPr>
          <p:cNvGraphicFramePr>
            <a:graphicFrameLocks noGrp="1"/>
          </p:cNvGraphicFramePr>
          <p:nvPr/>
        </p:nvGraphicFramePr>
        <p:xfrm>
          <a:off x="0" y="1081088"/>
          <a:ext cx="9144000" cy="5792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6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符號</a:t>
                      </a:r>
                    </a:p>
                  </a:txBody>
                  <a:tcPr marT="45731" marB="45731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ASCII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符號</a:t>
                      </a: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ASCII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97</a:t>
                      </a: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110</a:t>
                      </a:r>
                    </a:p>
                  </a:txBody>
                  <a:tcPr marT="45731" marB="4573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99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101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115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104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1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106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119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k</a:t>
                      </a:r>
                      <a:endParaRPr lang="en-US" altLang="zh-TW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107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120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108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121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674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109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</a:t>
                      </a:r>
                    </a:p>
                  </a:txBody>
                  <a:tcPr marT="45731" marB="45731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122</a:t>
                      </a:r>
                    </a:p>
                  </a:txBody>
                  <a:tcPr marT="45731" marB="45731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186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循環冗餘檢查碼</a:t>
            </a:r>
          </a:p>
        </p:txBody>
      </p:sp>
      <p:pic>
        <p:nvPicPr>
          <p:cNvPr id="1026" name="Picture 2" descr="「crc檢查碼」的圖片搜尋結果">
            <a:extLst>
              <a:ext uri="{FF2B5EF4-FFF2-40B4-BE49-F238E27FC236}">
                <a16:creationId xmlns:a16="http://schemas.microsoft.com/office/drawing/2014/main" id="{EFC9FC20-7E7C-418F-B3E5-7DAC0C2CB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76" y="1079500"/>
            <a:ext cx="8604448" cy="397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DA0F7-E28B-44BC-860E-0FCD9979C7BF}"/>
              </a:ext>
            </a:extLst>
          </p:cNvPr>
          <p:cNvSpPr/>
          <p:nvPr/>
        </p:nvSpPr>
        <p:spPr>
          <a:xfrm>
            <a:off x="0" y="4790543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計算方式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將待傳輸的資料區塊視為一堆連續位元所構成的一整個數值，並將此數值除以一特定的除數，兩數相除後得到的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餘數即為循環冗餘檢查碼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(CRC code)</a:t>
            </a:r>
          </a:p>
        </p:txBody>
      </p:sp>
    </p:spTree>
    <p:extLst>
      <p:ext uri="{BB962C8B-B14F-4D97-AF65-F5344CB8AC3E}">
        <p14:creationId xmlns:p14="http://schemas.microsoft.com/office/powerpoint/2010/main" val="1794705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66" name="Picture 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2809875"/>
            <a:ext cx="7429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6067" name="Picture 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157288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NAT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網路位址轉換</a:t>
            </a:r>
            <a:endParaRPr kumimoji="0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16070" name="Text Box 50"/>
          <p:cNvSpPr txBox="1">
            <a:spLocks noChangeArrowheads="1"/>
          </p:cNvSpPr>
          <p:nvPr/>
        </p:nvSpPr>
        <p:spPr bwMode="auto">
          <a:xfrm>
            <a:off x="106363" y="2082800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172.22.22.1</a:t>
            </a:r>
          </a:p>
        </p:txBody>
      </p:sp>
      <p:sp>
        <p:nvSpPr>
          <p:cNvPr id="216071" name="Text Box 50"/>
          <p:cNvSpPr txBox="1">
            <a:spLocks noChangeArrowheads="1"/>
          </p:cNvSpPr>
          <p:nvPr/>
        </p:nvSpPr>
        <p:spPr bwMode="auto">
          <a:xfrm>
            <a:off x="3041650" y="3544888"/>
            <a:ext cx="10985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6072" name="Text Box 50"/>
          <p:cNvSpPr txBox="1">
            <a:spLocks noChangeArrowheads="1"/>
          </p:cNvSpPr>
          <p:nvPr/>
        </p:nvSpPr>
        <p:spPr bwMode="auto">
          <a:xfrm>
            <a:off x="5730875" y="3579813"/>
            <a:ext cx="121602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防火牆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6073" name="Text Box 50"/>
          <p:cNvSpPr txBox="1">
            <a:spLocks noChangeArrowheads="1"/>
          </p:cNvSpPr>
          <p:nvPr/>
        </p:nvSpPr>
        <p:spPr bwMode="auto">
          <a:xfrm>
            <a:off x="4194175" y="3581400"/>
            <a:ext cx="13366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路由器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16074" name="Picture 5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2540000"/>
            <a:ext cx="631825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1" name="直線接點 40"/>
          <p:cNvCxnSpPr/>
          <p:nvPr/>
        </p:nvCxnSpPr>
        <p:spPr>
          <a:xfrm>
            <a:off x="1404938" y="1824038"/>
            <a:ext cx="1668462" cy="1030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076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2997200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6077" name="Picture 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4870450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6078" name="Text Box 50"/>
          <p:cNvSpPr txBox="1">
            <a:spLocks noChangeArrowheads="1"/>
          </p:cNvSpPr>
          <p:nvPr/>
        </p:nvSpPr>
        <p:spPr bwMode="auto">
          <a:xfrm>
            <a:off x="79375" y="5908675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172.22.22.3</a:t>
            </a:r>
          </a:p>
        </p:txBody>
      </p:sp>
      <p:sp>
        <p:nvSpPr>
          <p:cNvPr id="216079" name="Text Box 50"/>
          <p:cNvSpPr txBox="1">
            <a:spLocks noChangeArrowheads="1"/>
          </p:cNvSpPr>
          <p:nvPr/>
        </p:nvSpPr>
        <p:spPr bwMode="auto">
          <a:xfrm>
            <a:off x="82550" y="4029075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172.22.22.2</a:t>
            </a:r>
          </a:p>
        </p:txBody>
      </p:sp>
      <p:cxnSp>
        <p:nvCxnSpPr>
          <p:cNvPr id="57" name="直線接點 56"/>
          <p:cNvCxnSpPr>
            <a:endCxn id="216066" idx="1"/>
          </p:cNvCxnSpPr>
          <p:nvPr/>
        </p:nvCxnSpPr>
        <p:spPr>
          <a:xfrm flipV="1">
            <a:off x="1477963" y="3090863"/>
            <a:ext cx="1563687" cy="450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V="1">
            <a:off x="1404938" y="3222625"/>
            <a:ext cx="1936750" cy="2211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082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2865438"/>
            <a:ext cx="65405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直線接點 60"/>
          <p:cNvCxnSpPr/>
          <p:nvPr/>
        </p:nvCxnSpPr>
        <p:spPr>
          <a:xfrm flipV="1">
            <a:off x="6562725" y="3222625"/>
            <a:ext cx="639763" cy="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084" name="群組 8"/>
          <p:cNvGrpSpPr>
            <a:grpSpLocks/>
          </p:cNvGrpSpPr>
          <p:nvPr/>
        </p:nvGrpSpPr>
        <p:grpSpPr bwMode="auto">
          <a:xfrm>
            <a:off x="6875463" y="2617788"/>
            <a:ext cx="2159000" cy="1177925"/>
            <a:chOff x="3571392" y="1285668"/>
            <a:chExt cx="2157278" cy="1177368"/>
          </a:xfrm>
        </p:grpSpPr>
        <p:pic>
          <p:nvPicPr>
            <p:cNvPr id="216118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392" y="1285668"/>
              <a:ext cx="2157278" cy="1177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6119" name="Text Box 50"/>
            <p:cNvSpPr txBox="1">
              <a:spLocks noChangeArrowheads="1"/>
            </p:cNvSpPr>
            <p:nvPr/>
          </p:nvSpPr>
          <p:spPr bwMode="auto">
            <a:xfrm>
              <a:off x="3967134" y="1674534"/>
              <a:ext cx="1356055" cy="39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457200" marR="0" lvl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Internet</a:t>
              </a:r>
            </a:p>
          </p:txBody>
        </p:sp>
      </p:grpSp>
      <p:cxnSp>
        <p:nvCxnSpPr>
          <p:cNvPr id="64" name="直線接點 63"/>
          <p:cNvCxnSpPr/>
          <p:nvPr/>
        </p:nvCxnSpPr>
        <p:spPr>
          <a:xfrm flipV="1">
            <a:off x="5072063" y="3201988"/>
            <a:ext cx="8207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3773488" y="3201988"/>
            <a:ext cx="8096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433638" y="4457700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0000FF"/>
                          </a:solidFill>
                        </a:rPr>
                        <a:t>NAT Translation Table</a:t>
                      </a:r>
                      <a:endParaRPr lang="zh-TW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Local IP</a:t>
                      </a:r>
                    </a:p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Source </a:t>
                      </a:r>
                    </a:p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Port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Internet</a:t>
                      </a:r>
                    </a:p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172.22.22.1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1394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211.12.33.2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172.22.22.2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89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211.12.33.2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172.22.22.3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211.12.33.2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116" name="手繪多邊形 26"/>
          <p:cNvSpPr>
            <a:spLocks/>
          </p:cNvSpPr>
          <p:nvPr/>
        </p:nvSpPr>
        <p:spPr bwMode="auto">
          <a:xfrm rot="5400000">
            <a:off x="4246562" y="3535363"/>
            <a:ext cx="1139825" cy="6667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16117" name="矩形 2"/>
          <p:cNvSpPr>
            <a:spLocks noChangeArrowheads="1"/>
          </p:cNvSpPr>
          <p:nvPr/>
        </p:nvSpPr>
        <p:spPr bwMode="auto">
          <a:xfrm>
            <a:off x="3011488" y="1063625"/>
            <a:ext cx="6348412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可以讓區域網路內的多台電腦虛擬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，以一個實體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進行上網</a:t>
            </a:r>
            <a:endParaRPr kumimoji="1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2170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名詞解釋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0" y="1071562"/>
          <a:ext cx="9144000" cy="584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140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X.509</a:t>
                      </a:r>
                      <a:endParaRPr lang="zh-TW" altLang="en-US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在密碼學中，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X.509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是由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ITU-T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為了公開金鑰基礎建設（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PKI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）與授權管理基礎建設（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PMI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）提出的產業標準。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X.509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標準，規範了公開金鑰認證、憑證吊銷列表、授權憑證、憑證路徑驗證演算法等。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1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IPX</a:t>
                      </a:r>
                      <a:endParaRPr lang="zh-TW" altLang="en-US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網際網路分組交換協議（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Internetwork Packet Exchange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IPX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），由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Novell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公司提出的運行於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OSI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模型第三層的協議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6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SSL</a:t>
                      </a:r>
                      <a:endParaRPr lang="zh-TW" altLang="en-US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SSL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憑證服務，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https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（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http</a:t>
                      </a:r>
                      <a:r>
                        <a:rPr lang="en-US" altLang="zh-TW" sz="2000" b="1" kern="1200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over SSL</a:t>
                      </a:r>
                      <a:r>
                        <a:rPr lang="zh-TW" altLang="en-US" sz="2000" b="1" kern="1200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用於建立瀏覽器和網站伺服器之間的安全通道，提供伺服器身分鑑別及資料傳輸加密。 </a:t>
                      </a:r>
                      <a:r>
                        <a:rPr lang="zh-TW" altLang="en-US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透過</a:t>
                      </a:r>
                      <a:r>
                        <a:rPr lang="en-US" altLang="zh-TW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SSL</a:t>
                      </a:r>
                      <a:r>
                        <a:rPr lang="zh-TW" altLang="en-US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機制建立一個安全通道，保護網路使用者所傳輸的個人資料</a:t>
                      </a:r>
                      <a:r>
                        <a:rPr lang="en-US" altLang="zh-TW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如信用卡號、帳號、密碼等</a:t>
                      </a:r>
                      <a:r>
                        <a:rPr lang="en-US" altLang="zh-TW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20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在傳輸過程中不被駭客截取或竄改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，保護網站用戶個人資料，強化網路使用者對於網路交易信心。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315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H.323</a:t>
                      </a:r>
                      <a:endParaRPr lang="zh-TW" altLang="en-US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H.323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協定是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ITU-T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提出的關於影片電話及多媒體會議傳輸協定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H.32x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系列中的一部分。</a:t>
                      </a: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303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SSL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協定</a:t>
            </a:r>
            <a:endParaRPr kumimoji="0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-6350" y="1119988"/>
            <a:ext cx="9144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SSL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（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Secure Socket Layer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），安全協定，目的是為網際網路通訊，提供安全及資料完整性保障。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3269"/>
            <a:ext cx="9137650" cy="459473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5536" y="2420888"/>
            <a:ext cx="854958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62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0" y="1079500"/>
            <a:ext cx="9120689" cy="576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://1.bp.blogspot.com/-U-ygIYny_hQ/T6zsYCRSPtI/AAAAAAAAAXU/4RE4AAt13eg/s1600/add+gateways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372" r="687" b="2922"/>
          <a:stretch/>
        </p:blipFill>
        <p:spPr bwMode="auto">
          <a:xfrm>
            <a:off x="1691679" y="3573016"/>
            <a:ext cx="7452319" cy="324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Route add</a:t>
            </a:r>
            <a:r>
              <a:rPr kumimoji="1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靜態路由</a:t>
            </a:r>
          </a:p>
        </p:txBody>
      </p:sp>
      <p:sp>
        <p:nvSpPr>
          <p:cNvPr id="2" name="矩形 1"/>
          <p:cNvSpPr/>
          <p:nvPr/>
        </p:nvSpPr>
        <p:spPr>
          <a:xfrm>
            <a:off x="2771800" y="2276872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Metric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 指傳送成本的參考數字，通常與網路連接速度有關，越低表示速度越快。</a:t>
            </a:r>
          </a:p>
        </p:txBody>
      </p:sp>
    </p:spTree>
    <p:extLst>
      <p:ext uri="{BB962C8B-B14F-4D97-AF65-F5344CB8AC3E}">
        <p14:creationId xmlns:p14="http://schemas.microsoft.com/office/powerpoint/2010/main" val="4192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「samba linux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28" y="4234314"/>
            <a:ext cx="2795328" cy="16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「samba linux」的圖片搜尋結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" r="1625" b="3538"/>
          <a:stretch/>
        </p:blipFill>
        <p:spPr bwMode="auto">
          <a:xfrm>
            <a:off x="2771800" y="2756986"/>
            <a:ext cx="6372200" cy="413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824" y="1279658"/>
            <a:ext cx="91421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Samba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桑巴，可以讓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Linux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與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Windows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互相存取分享的資料及印表機</a:t>
            </a:r>
          </a:p>
        </p:txBody>
      </p:sp>
      <p:sp>
        <p:nvSpPr>
          <p:cNvPr id="6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2D2D8A">
              <a:lumMod val="50000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Samba</a:t>
            </a:r>
            <a:endParaRPr kumimoji="0" lang="ko-KR" altLang="en-US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27984" y="3789040"/>
            <a:ext cx="4716015" cy="720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10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同步光纖網路</a:t>
            </a:r>
          </a:p>
        </p:txBody>
      </p:sp>
      <p:sp>
        <p:nvSpPr>
          <p:cNvPr id="2" name="矩形 1"/>
          <p:cNvSpPr/>
          <p:nvPr/>
        </p:nvSpPr>
        <p:spPr>
          <a:xfrm>
            <a:off x="-11626" y="1079500"/>
            <a:ext cx="9155625" cy="598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一、同步光纖網路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(SONET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Synchronous 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Optical Network)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是由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ANSI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組織為了數位光</a:t>
            </a: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纖傳輸所開發的通訊</a:t>
            </a:r>
            <a:r>
              <a:rPr kumimoji="0" lang="zh-TW" alt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標準</a:t>
            </a:r>
            <a:endParaRPr kumimoji="0" lang="en-US" altLang="zh-TW" sz="29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lvl="0">
              <a:defRPr/>
            </a:pPr>
            <a:r>
              <a:rPr lang="zh-TW" altLang="en-US" sz="3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廣域網路骨幹傳輸技術中</a:t>
            </a: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SONET</a:t>
            </a: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屬於實體</a:t>
            </a:r>
            <a:endParaRPr lang="en-US" altLang="zh-TW" sz="3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defRPr/>
            </a:pPr>
            <a:r>
              <a:rPr lang="en-US" altLang="zh-TW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層規格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三、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以規劃好的資料傳輸率來傳送資料，「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同步傳輸</a:t>
            </a: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訊號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(STS-N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Synchronous Transport Signal 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level N)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」</a:t>
            </a: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四、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最低的資料傳輸率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STS-1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51.84Mbps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，其</a:t>
            </a: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他資料傳輸率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STS-N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則是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STS-1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倍</a:t>
            </a: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五、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光訊號的傳輸稱為「光載波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(OC-N</a:t>
            </a: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Optical 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0" lang="en-US" altLang="zh-TW" sz="2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Carrier level N)</a:t>
            </a:r>
            <a:r>
              <a:rPr kumimoji="0" lang="zh-TW" alt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」</a:t>
            </a:r>
            <a:endParaRPr kumimoji="0" lang="en-US" altLang="zh-TW" sz="29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8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同步光纖網路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1794" y="1080314"/>
          <a:ext cx="9144001" cy="5777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379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SONET</a:t>
                      </a:r>
                      <a:r>
                        <a:rPr lang="zh-TW" altLang="en-US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altLang="zh-TW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TW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ANSI</a:t>
                      </a:r>
                      <a:r>
                        <a:rPr lang="zh-TW" altLang="en-US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代號</a:t>
                      </a: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光載波</a:t>
                      </a:r>
                      <a:endParaRPr lang="en-US" altLang="zh-TW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1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線路速率</a:t>
                      </a:r>
                      <a:endParaRPr lang="en-US" altLang="zh-TW" sz="31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STS-1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OC-1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51.84Mbps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64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STS-3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OC-3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155.52Mbps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STS-9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OC-9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466.56Mbps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STS-12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OC-12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622.08Mbps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STS-18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OC-18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933.12Mbps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STS-24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OC-24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1244.15Mbps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STS-36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OC-36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1866.24Mbps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STS-48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OC-48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2488.32Mbps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STS-96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OC-96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4976.64Mbps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4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STS-192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OC-192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9953.28Mbps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5" marB="457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28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同步光纖網路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2132856"/>
            <a:ext cx="9144000" cy="1782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OC-1</a:t>
            </a:r>
            <a:r>
              <a:rPr lang="zh-TW" altLang="en-US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9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51.84</a:t>
            </a:r>
            <a:r>
              <a:rPr lang="zh-TW" altLang="en-US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3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OC-</a:t>
            </a:r>
            <a:r>
              <a:rPr lang="en-US" altLang="zh-TW" sz="39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3072</a:t>
            </a:r>
            <a:r>
              <a:rPr lang="en-US" altLang="zh-TW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=159252.48MB</a:t>
            </a:r>
          </a:p>
          <a:p>
            <a:pPr>
              <a:lnSpc>
                <a:spcPct val="150000"/>
              </a:lnSpc>
            </a:pPr>
            <a:r>
              <a:rPr lang="en-US" altLang="zh-TW" sz="39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=159.252480GB</a:t>
            </a:r>
            <a:endParaRPr lang="en-US" altLang="zh-TW" sz="3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563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訊框中繼</a:t>
            </a:r>
            <a:r>
              <a:rPr kumimoji="1" lang="en-US" altLang="zh-TW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Frame Relay</a:t>
            </a:r>
            <a:endParaRPr kumimoji="1" lang="zh-TW" altLang="en-US" sz="5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26" name="Picture 2" descr="http://www.netadmin.com.tw/images/news/NP1402170002140217120757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468556"/>
            <a:ext cx="6048672" cy="338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0" y="1079500"/>
            <a:ext cx="91724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一、訊框中繼扮演業界標準廣泛連接路由器與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ISP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，是一個效能相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當高的廣域網路協定，運作於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OSI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網路模型中的實體層和資料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連結層。</a:t>
            </a:r>
          </a:p>
        </p:txBody>
      </p:sp>
      <p:sp>
        <p:nvSpPr>
          <p:cNvPr id="6" name="矩形 5"/>
          <p:cNvSpPr/>
          <p:nvPr/>
        </p:nvSpPr>
        <p:spPr>
          <a:xfrm>
            <a:off x="3923928" y="5987728"/>
            <a:ext cx="395536" cy="323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53468" y="5847128"/>
            <a:ext cx="720080" cy="323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87824" y="4581128"/>
            <a:ext cx="720080" cy="323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3888" y="3462099"/>
            <a:ext cx="37890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PVC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Permanent Virtual </a:t>
            </a:r>
            <a:r>
              <a:rPr kumimoji="0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Circuit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永久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虛擬連線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2333983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二、約定資料速率（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Committed Information Rate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CIR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）是指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在一般的情況之下，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ISP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業者所保證能在虛擬線路上使用的平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均頻寬</a:t>
            </a:r>
          </a:p>
        </p:txBody>
      </p:sp>
    </p:spTree>
    <p:extLst>
      <p:ext uri="{BB962C8B-B14F-4D97-AF65-F5344CB8AC3E}">
        <p14:creationId xmlns:p14="http://schemas.microsoft.com/office/powerpoint/2010/main" val="338037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節省遠距傳輸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1393906" y="2780928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台北</a:t>
            </a:r>
          </a:p>
        </p:txBody>
      </p:sp>
      <p:cxnSp>
        <p:nvCxnSpPr>
          <p:cNvPr id="15" name="直線接點 14"/>
          <p:cNvCxnSpPr>
            <a:stCxn id="44" idx="0"/>
          </p:cNvCxnSpPr>
          <p:nvPr/>
        </p:nvCxnSpPr>
        <p:spPr>
          <a:xfrm flipV="1">
            <a:off x="1014336" y="3593971"/>
            <a:ext cx="763736" cy="21385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42" idx="0"/>
          </p:cNvCxnSpPr>
          <p:nvPr/>
        </p:nvCxnSpPr>
        <p:spPr>
          <a:xfrm flipH="1" flipV="1">
            <a:off x="2313004" y="3593972"/>
            <a:ext cx="1030179" cy="2157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>
            <a:off x="1628927" y="6157828"/>
            <a:ext cx="1008113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793602" y="420155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42" name="矩形 41"/>
          <p:cNvSpPr/>
          <p:nvPr/>
        </p:nvSpPr>
        <p:spPr bwMode="auto">
          <a:xfrm>
            <a:off x="2659107" y="5751306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花蓮</a:t>
            </a:r>
          </a:p>
        </p:txBody>
      </p:sp>
      <p:sp>
        <p:nvSpPr>
          <p:cNvPr id="44" name="矩形 43"/>
          <p:cNvSpPr/>
          <p:nvPr/>
        </p:nvSpPr>
        <p:spPr bwMode="auto">
          <a:xfrm>
            <a:off x="330260" y="5732471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台中</a:t>
            </a:r>
          </a:p>
        </p:txBody>
      </p:sp>
      <p:sp>
        <p:nvSpPr>
          <p:cNvPr id="46" name="矩形 45"/>
          <p:cNvSpPr/>
          <p:nvPr/>
        </p:nvSpPr>
        <p:spPr bwMode="auto">
          <a:xfrm>
            <a:off x="5930410" y="2780928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台北</a:t>
            </a:r>
          </a:p>
        </p:txBody>
      </p:sp>
      <p:cxnSp>
        <p:nvCxnSpPr>
          <p:cNvPr id="47" name="直線接點 46"/>
          <p:cNvCxnSpPr>
            <a:stCxn id="54" idx="0"/>
          </p:cNvCxnSpPr>
          <p:nvPr/>
        </p:nvCxnSpPr>
        <p:spPr>
          <a:xfrm flipV="1">
            <a:off x="5550840" y="5175243"/>
            <a:ext cx="523586" cy="5572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53" idx="0"/>
          </p:cNvCxnSpPr>
          <p:nvPr/>
        </p:nvCxnSpPr>
        <p:spPr>
          <a:xfrm flipH="1" flipV="1">
            <a:off x="7195611" y="5175243"/>
            <a:ext cx="684076" cy="57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 bwMode="auto">
          <a:xfrm>
            <a:off x="7195611" y="5751306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花蓮</a:t>
            </a:r>
          </a:p>
        </p:txBody>
      </p:sp>
      <p:sp>
        <p:nvSpPr>
          <p:cNvPr id="54" name="矩形 53"/>
          <p:cNvSpPr/>
          <p:nvPr/>
        </p:nvSpPr>
        <p:spPr bwMode="auto">
          <a:xfrm>
            <a:off x="4866764" y="5732471"/>
            <a:ext cx="1368152" cy="813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台中</a:t>
            </a:r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6657092" y="3593971"/>
            <a:ext cx="0" cy="6170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976" y="3996641"/>
            <a:ext cx="2443687" cy="146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Text Box 50"/>
          <p:cNvSpPr txBox="1">
            <a:spLocks noChangeArrowheads="1"/>
          </p:cNvSpPr>
          <p:nvPr/>
        </p:nvSpPr>
        <p:spPr bwMode="auto">
          <a:xfrm>
            <a:off x="5659614" y="4299139"/>
            <a:ext cx="2080495" cy="7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Frame Relay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網路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879243" y="36066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71" name="矩形 70"/>
          <p:cNvSpPr/>
          <p:nvPr/>
        </p:nvSpPr>
        <p:spPr>
          <a:xfrm>
            <a:off x="4841210" y="527080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72" name="矩形 71"/>
          <p:cNvSpPr/>
          <p:nvPr/>
        </p:nvSpPr>
        <p:spPr>
          <a:xfrm>
            <a:off x="7652846" y="527080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73" name="矩形 72"/>
          <p:cNvSpPr/>
          <p:nvPr/>
        </p:nvSpPr>
        <p:spPr>
          <a:xfrm>
            <a:off x="671156" y="421097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74" name="矩形 73"/>
          <p:cNvSpPr/>
          <p:nvPr/>
        </p:nvSpPr>
        <p:spPr>
          <a:xfrm>
            <a:off x="1760637" y="568769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專線</a:t>
            </a:r>
          </a:p>
        </p:txBody>
      </p:sp>
      <p:sp>
        <p:nvSpPr>
          <p:cNvPr id="75" name="矩形 74"/>
          <p:cNvSpPr/>
          <p:nvPr/>
        </p:nvSpPr>
        <p:spPr>
          <a:xfrm>
            <a:off x="0" y="1450350"/>
            <a:ext cx="43231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租用3條長途專線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費用昂貴</a:t>
            </a:r>
          </a:p>
        </p:txBody>
      </p:sp>
      <p:sp>
        <p:nvSpPr>
          <p:cNvPr id="76" name="弧形 75"/>
          <p:cNvSpPr/>
          <p:nvPr/>
        </p:nvSpPr>
        <p:spPr>
          <a:xfrm rot="3579269">
            <a:off x="3378291" y="3123373"/>
            <a:ext cx="2718400" cy="2199393"/>
          </a:xfrm>
          <a:prstGeom prst="arc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solidFill>
                  <a:srgbClr val="000000"/>
                </a:solidFill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9" name="弧形 78"/>
          <p:cNvSpPr/>
          <p:nvPr/>
        </p:nvSpPr>
        <p:spPr>
          <a:xfrm rot="13558682">
            <a:off x="7089041" y="3579680"/>
            <a:ext cx="2718400" cy="2199393"/>
          </a:xfrm>
          <a:prstGeom prst="arc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solidFill>
                  <a:srgbClr val="000000"/>
                </a:solidFill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80" name="弧形 79"/>
          <p:cNvSpPr/>
          <p:nvPr/>
        </p:nvSpPr>
        <p:spPr>
          <a:xfrm rot="19302313">
            <a:off x="5105684" y="5304337"/>
            <a:ext cx="2718400" cy="2199393"/>
          </a:xfrm>
          <a:prstGeom prst="arc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solidFill>
                  <a:srgbClr val="000000"/>
                </a:solidFill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408860" y="3398654"/>
            <a:ext cx="7884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PVC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FC3AFC-D59E-40B1-99C8-F2984683CBA8}"/>
              </a:ext>
            </a:extLst>
          </p:cNvPr>
          <p:cNvSpPr/>
          <p:nvPr/>
        </p:nvSpPr>
        <p:spPr>
          <a:xfrm>
            <a:off x="4108033" y="1259611"/>
            <a:ext cx="48772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透過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ISP 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提供的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Frame Relay Network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，連接不同的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Site 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來建立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WAN 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連線</a:t>
            </a:r>
          </a:p>
        </p:txBody>
      </p:sp>
    </p:spTree>
    <p:extLst>
      <p:ext uri="{BB962C8B-B14F-4D97-AF65-F5344CB8AC3E}">
        <p14:creationId xmlns:p14="http://schemas.microsoft.com/office/powerpoint/2010/main" val="62295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FRAD</a:t>
            </a:r>
            <a:endParaRPr kumimoji="1" lang="zh-TW" altLang="en-US" sz="5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050" name="Picture 2" descr="「Frame relay assembler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789040"/>
            <a:ext cx="6229350" cy="296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1842" y="1079500"/>
            <a:ext cx="91321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Frame Relay Assembler Disassembler（Frame Relay組合/拆解器）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的縮寫，將使用者的資料轉換為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Frame Relay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封包的設備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封包－第三層　　訊框－第二層</a:t>
            </a:r>
          </a:p>
        </p:txBody>
      </p:sp>
    </p:spTree>
    <p:extLst>
      <p:ext uri="{BB962C8B-B14F-4D97-AF65-F5344CB8AC3E}">
        <p14:creationId xmlns:p14="http://schemas.microsoft.com/office/powerpoint/2010/main" val="328096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線接點 39"/>
          <p:cNvCxnSpPr/>
          <p:nvPr/>
        </p:nvCxnSpPr>
        <p:spPr>
          <a:xfrm flipV="1">
            <a:off x="3248888" y="2484407"/>
            <a:ext cx="936104" cy="1013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非同步傳輸架構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686514" y="3498348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pic>
        <p:nvPicPr>
          <p:cNvPr id="7" name="Picture 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48" y="5115702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 bwMode="auto">
          <a:xfrm>
            <a:off x="2280738" y="3498348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483886" y="4510950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cxnSp>
        <p:nvCxnSpPr>
          <p:cNvPr id="10" name="直線接點 9"/>
          <p:cNvCxnSpPr>
            <a:endCxn id="8" idx="1"/>
          </p:cNvCxnSpPr>
          <p:nvPr/>
        </p:nvCxnSpPr>
        <p:spPr>
          <a:xfrm>
            <a:off x="1766851" y="3786380"/>
            <a:ext cx="513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2208730" y="4074412"/>
            <a:ext cx="618157" cy="436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 flipV="1">
            <a:off x="1270944" y="4074412"/>
            <a:ext cx="579877" cy="436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85357" y="2186333"/>
            <a:ext cx="3330437" cy="3300189"/>
          </a:xfrm>
          <a:prstGeom prst="ellipse">
            <a:avLst/>
          </a:prstGeom>
          <a:solidFill>
            <a:srgbClr val="99CCFF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3602" y="2775868"/>
            <a:ext cx="2100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區域網路</a:t>
            </a:r>
          </a:p>
        </p:txBody>
      </p:sp>
      <p:cxnSp>
        <p:nvCxnSpPr>
          <p:cNvPr id="23" name="直線接點 22"/>
          <p:cNvCxnSpPr>
            <a:stCxn id="7" idx="3"/>
          </p:cNvCxnSpPr>
          <p:nvPr/>
        </p:nvCxnSpPr>
        <p:spPr>
          <a:xfrm flipV="1">
            <a:off x="913877" y="5088992"/>
            <a:ext cx="1109916" cy="4743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 bwMode="auto">
          <a:xfrm>
            <a:off x="5873006" y="3450441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pic>
        <p:nvPicPr>
          <p:cNvPr id="30" name="Picture 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958709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矩形 30"/>
          <p:cNvSpPr/>
          <p:nvPr/>
        </p:nvSpPr>
        <p:spPr bwMode="auto">
          <a:xfrm>
            <a:off x="7467230" y="3450441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6670378" y="4463043"/>
            <a:ext cx="1092299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交換機</a:t>
            </a:r>
          </a:p>
        </p:txBody>
      </p:sp>
      <p:cxnSp>
        <p:nvCxnSpPr>
          <p:cNvPr id="33" name="直線接點 32"/>
          <p:cNvCxnSpPr>
            <a:endCxn id="31" idx="1"/>
          </p:cNvCxnSpPr>
          <p:nvPr/>
        </p:nvCxnSpPr>
        <p:spPr>
          <a:xfrm>
            <a:off x="6953343" y="3738473"/>
            <a:ext cx="513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 flipV="1">
            <a:off x="7395222" y="4026505"/>
            <a:ext cx="618157" cy="436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H="1" flipV="1">
            <a:off x="6457436" y="4026505"/>
            <a:ext cx="579877" cy="436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橢圓 35"/>
          <p:cNvSpPr/>
          <p:nvPr/>
        </p:nvSpPr>
        <p:spPr>
          <a:xfrm>
            <a:off x="5562382" y="2179834"/>
            <a:ext cx="3422091" cy="3363013"/>
          </a:xfrm>
          <a:prstGeom prst="ellipse">
            <a:avLst/>
          </a:prstGeom>
          <a:solidFill>
            <a:srgbClr val="99CCFF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160094" y="2727961"/>
            <a:ext cx="2100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廣域網路</a:t>
            </a:r>
          </a:p>
        </p:txBody>
      </p:sp>
      <p:cxnSp>
        <p:nvCxnSpPr>
          <p:cNvPr id="38" name="直線接點 37"/>
          <p:cNvCxnSpPr/>
          <p:nvPr/>
        </p:nvCxnSpPr>
        <p:spPr>
          <a:xfrm flipV="1">
            <a:off x="5436096" y="5041085"/>
            <a:ext cx="1774189" cy="2601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046" y="1822970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矩形 41"/>
          <p:cNvSpPr/>
          <p:nvPr/>
        </p:nvSpPr>
        <p:spPr>
          <a:xfrm>
            <a:off x="562895" y="575668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工作站</a:t>
            </a:r>
          </a:p>
        </p:txBody>
      </p:sp>
      <p:sp>
        <p:nvSpPr>
          <p:cNvPr id="43" name="矩形 42"/>
          <p:cNvSpPr/>
          <p:nvPr/>
        </p:nvSpPr>
        <p:spPr>
          <a:xfrm>
            <a:off x="3073985" y="1787166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工作站</a:t>
            </a:r>
          </a:p>
        </p:txBody>
      </p:sp>
      <p:sp>
        <p:nvSpPr>
          <p:cNvPr id="44" name="矩形 43"/>
          <p:cNvSpPr/>
          <p:nvPr/>
        </p:nvSpPr>
        <p:spPr>
          <a:xfrm>
            <a:off x="5349611" y="540638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工作站</a:t>
            </a:r>
          </a:p>
        </p:txBody>
      </p:sp>
      <p:cxnSp>
        <p:nvCxnSpPr>
          <p:cNvPr id="45" name="直線接點 44"/>
          <p:cNvCxnSpPr/>
          <p:nvPr/>
        </p:nvCxnSpPr>
        <p:spPr>
          <a:xfrm flipH="1">
            <a:off x="3373037" y="3763578"/>
            <a:ext cx="2499969" cy="4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4329009" y="3738473"/>
            <a:ext cx="785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NNI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04212" y="5429200"/>
            <a:ext cx="764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UNI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788175" y="2746976"/>
            <a:ext cx="764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UNI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99159" y="4835447"/>
            <a:ext cx="764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UNI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023793" y="6069884"/>
            <a:ext cx="4515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UNI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User Network Interface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023793" y="6445649"/>
            <a:ext cx="52248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NNI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Network Network Interface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10048" y="1108337"/>
            <a:ext cx="91941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Asynchronous Transfer Mode，由國際電話電報諮詢委員會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(CCITT)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所制定具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有高速分封及多工交換標準的高速網路傳輸協定，已普遍應用於廣域網路</a:t>
            </a:r>
          </a:p>
        </p:txBody>
      </p:sp>
    </p:spTree>
    <p:extLst>
      <p:ext uri="{BB962C8B-B14F-4D97-AF65-F5344CB8AC3E}">
        <p14:creationId xmlns:p14="http://schemas.microsoft.com/office/powerpoint/2010/main" val="417096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路徑表</a:t>
            </a:r>
            <a:r>
              <a:rPr kumimoji="1" lang="en-US" altLang="zh-TW" sz="5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Routing Table</a:t>
            </a:r>
            <a:endParaRPr kumimoji="1" lang="zh-TW" altLang="en-US" sz="5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079500"/>
            <a:ext cx="6429375" cy="4221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21580" y="5527724"/>
            <a:ext cx="9122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閘道：封包要到目地端網路，需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送到下一顆路由器的那個介面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240" y="5930582"/>
            <a:ext cx="9122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介面：封包要到目地端網路，需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透過自己這顆路由器那個介面出去</a:t>
            </a: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-1096" y="6359455"/>
            <a:ext cx="91224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計量：封包要到目地端網路，需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經過幾顆路由器（本身也要算）</a:t>
            </a:r>
          </a:p>
        </p:txBody>
      </p:sp>
      <p:sp>
        <p:nvSpPr>
          <p:cNvPr id="7" name="矩形 6"/>
          <p:cNvSpPr/>
          <p:nvPr/>
        </p:nvSpPr>
        <p:spPr>
          <a:xfrm>
            <a:off x="1619672" y="4005064"/>
            <a:ext cx="1296144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80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路由器</a:t>
            </a: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&amp;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橋接器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0" y="1081088"/>
          <a:ext cx="9144000" cy="577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26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設備名稱</a:t>
                      </a:r>
                    </a:p>
                  </a:txBody>
                  <a:tcPr marT="45716" marB="4571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功能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04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路由器（</a:t>
                      </a:r>
                      <a:r>
                        <a:rPr lang="en-US" altLang="zh-TW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Router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）用來決定資料傳遞路徑的設備，工作在於 </a:t>
                      </a:r>
                      <a:r>
                        <a:rPr lang="en-US" altLang="zh-TW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OSI 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模式第三層網路層，</a:t>
                      </a:r>
                      <a:r>
                        <a:rPr lang="zh-TW" altLang="en-US" sz="28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支援乙太網路及記號環網路環境</a:t>
                      </a:r>
                      <a:endParaRPr lang="en-US" altLang="zh-TW" sz="28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23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橋接器（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Bridge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）負責網路橋接之用，用來連接不同的網路區段的設備，例如：連接兩個 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Ethernet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區段、或連接一個 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Token Ring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區段到一個 </a:t>
                      </a: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Ethernet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區段，將網路的多個網段在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工作在於 </a:t>
                      </a:r>
                      <a:r>
                        <a:rPr lang="en-US" altLang="zh-TW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OSI 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模式</a:t>
                      </a:r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第二層資料鏈路層連線起來（即橋接）</a:t>
                      </a:r>
                      <a:r>
                        <a:rPr lang="zh-TW" altLang="en-US" sz="28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2800" b="1" kern="1200" dirty="0">
                          <a:solidFill>
                            <a:srgbClr val="FFFF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支援乙太網路及記號環網路環境</a:t>
                      </a:r>
                      <a:endParaRPr lang="en-US" altLang="zh-TW" sz="2800" b="1" kern="1200" dirty="0">
                        <a:solidFill>
                          <a:srgbClr val="FFFF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AutoShape 2" descr="「橋接器」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" name="AutoShape 4" descr="「橋接器」的圖片搜尋結果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52230" name="Picture 6" descr="「橋接器」的圖片搜尋結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353" y="4941168"/>
            <a:ext cx="2789225" cy="106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32" name="Picture 8" descr="「cisco 路由器」的圖片搜尋結果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6" b="19071"/>
          <a:stretch/>
        </p:blipFill>
        <p:spPr bwMode="auto">
          <a:xfrm>
            <a:off x="-1882" y="2276872"/>
            <a:ext cx="2769753" cy="139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84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記號環網路架構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44824"/>
            <a:ext cx="5744337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5851522" y="1845399"/>
            <a:ext cx="329247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每個網路節點以點對點的方式，連結形成一個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環狀單向的迴路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，所有資料沿著特定方向依序傳遞，經過每個網路節點</a:t>
            </a:r>
          </a:p>
        </p:txBody>
      </p:sp>
    </p:spTree>
    <p:extLst>
      <p:ext uri="{BB962C8B-B14F-4D97-AF65-F5344CB8AC3E}">
        <p14:creationId xmlns:p14="http://schemas.microsoft.com/office/powerpoint/2010/main" val="263763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乙太網路</a:t>
            </a:r>
          </a:p>
        </p:txBody>
      </p:sp>
      <p:sp>
        <p:nvSpPr>
          <p:cNvPr id="2" name="矩形 1"/>
          <p:cNvSpPr/>
          <p:nvPr/>
        </p:nvSpPr>
        <p:spPr>
          <a:xfrm>
            <a:off x="-17904" y="4581128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乙太網路（英語：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Ethernet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）是一種電腦區域網路技術。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IEEE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組織的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IEEE 802.3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標準制定了乙太網路的技術標準，它規定了包括實體層的連線、電子訊號和介質存取層協定的內容。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" y="1079500"/>
            <a:ext cx="5973926" cy="3182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0" name="Picture 4" descr="圖片搜尋結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871" y="1959156"/>
            <a:ext cx="3069993" cy="230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09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P2P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93187" name="Picture 2" descr="http://www.tcgs.tc.edu.tw/~sagit/info/images/p2p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989263"/>
            <a:ext cx="648017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矩形 1"/>
          <p:cNvSpPr>
            <a:spLocks noChangeArrowheads="1"/>
          </p:cNvSpPr>
          <p:nvPr/>
        </p:nvSpPr>
        <p:spPr bwMode="auto">
          <a:xfrm>
            <a:off x="0" y="1079500"/>
            <a:ext cx="9144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P2P 的原文是 Peer-to-Peer，中文翻作「點對點」，是一種網路技術或架構。它相對於傳統的主從式(Client-Server)架構，所有用戶端(Client)的交流都透過伺服器(Server)來傳遞。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P2P</a:t>
            </a: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可能被惡意人員放置木馬後門程式，導致個人資料外洩。</a:t>
            </a:r>
          </a:p>
        </p:txBody>
      </p:sp>
    </p:spTree>
    <p:extLst>
      <p:ext uri="{BB962C8B-B14F-4D97-AF65-F5344CB8AC3E}">
        <p14:creationId xmlns:p14="http://schemas.microsoft.com/office/powerpoint/2010/main" val="221219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11" descr="「bittorrent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079500"/>
            <a:ext cx="4608512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5" name="Picture 9" descr="「Thunder 迅雷」的圖片搜尋結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3976688"/>
            <a:ext cx="455453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6" name="Picture 7" descr="「eMule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9"/>
          <a:stretch>
            <a:fillRect/>
          </a:stretch>
        </p:blipFill>
        <p:spPr bwMode="auto">
          <a:xfrm>
            <a:off x="4548188" y="3965575"/>
            <a:ext cx="4619625" cy="29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P2P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軟體</a:t>
            </a:r>
          </a:p>
        </p:txBody>
      </p:sp>
      <p:pic>
        <p:nvPicPr>
          <p:cNvPr id="95238" name="Picture 5" descr="「BitComet」的圖片搜尋結果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913"/>
            <a:ext cx="4548188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0" y="3546475"/>
            <a:ext cx="4572000" cy="430213"/>
          </a:xfrm>
          <a:prstGeom prst="rect">
            <a:avLst/>
          </a:prstGeom>
          <a:solidFill>
            <a:schemeClr val="accent4">
              <a:lumMod val="65000"/>
              <a:lumOff val="35000"/>
              <a:alpha val="75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BitComet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比特慧星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572000" y="3546475"/>
            <a:ext cx="4572000" cy="431800"/>
          </a:xfrm>
          <a:prstGeom prst="rect">
            <a:avLst/>
          </a:prstGeom>
          <a:solidFill>
            <a:schemeClr val="accent4">
              <a:lumMod val="65000"/>
              <a:lumOff val="35000"/>
              <a:alpha val="75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BitTorrent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位元洪流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-14288" y="6434138"/>
            <a:ext cx="4591051" cy="431800"/>
          </a:xfrm>
          <a:prstGeom prst="rect">
            <a:avLst/>
          </a:prstGeom>
          <a:solidFill>
            <a:schemeClr val="accent4">
              <a:lumMod val="65000"/>
              <a:lumOff val="35000"/>
              <a:alpha val="75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Thunder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迅電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4576763" y="6434138"/>
            <a:ext cx="4572000" cy="431800"/>
          </a:xfrm>
          <a:prstGeom prst="rect">
            <a:avLst/>
          </a:prstGeom>
          <a:solidFill>
            <a:schemeClr val="accent4">
              <a:lumMod val="65000"/>
              <a:lumOff val="35000"/>
              <a:alpha val="75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2D2D8A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eMule</a:t>
            </a:r>
            <a:endParaRPr kumimoji="1" lang="zh-TW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2D2D8A">
                  <a:lumMod val="20000"/>
                  <a:lumOff val="8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26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Client/Server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架構</a:t>
            </a:r>
          </a:p>
        </p:txBody>
      </p:sp>
      <p:pic>
        <p:nvPicPr>
          <p:cNvPr id="31746" name="Picture 2" descr="「client/server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937" y="1340768"/>
            <a:ext cx="6556125" cy="39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0" y="5517232"/>
            <a:ext cx="9144000" cy="740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伺服器集中管理資源的派送、資源的安全及正確性</a:t>
            </a:r>
          </a:p>
        </p:txBody>
      </p:sp>
    </p:spTree>
    <p:extLst>
      <p:ext uri="{BB962C8B-B14F-4D97-AF65-F5344CB8AC3E}">
        <p14:creationId xmlns:p14="http://schemas.microsoft.com/office/powerpoint/2010/main" val="222662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BBS/ESS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3252" name="Picture 4" descr="「wireless BSS/ESS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07316"/>
            <a:ext cx="7596747" cy="4002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0" y="5144134"/>
            <a:ext cx="9144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BBS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（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Basic Service Set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）指在基本服務區中所有工作站的集合，若是以數個基本服務集可形成擴充服務集（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ESS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Extended Service Set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1043608" y="2523661"/>
            <a:ext cx="30963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SSID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：</a:t>
            </a:r>
            <a:r>
              <a:rPr kumimoji="1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Tsvtc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-w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9" name="矩形 1"/>
          <p:cNvSpPr>
            <a:spLocks noChangeArrowheads="1"/>
          </p:cNvSpPr>
          <p:nvPr/>
        </p:nvSpPr>
        <p:spPr bwMode="auto">
          <a:xfrm>
            <a:off x="4337924" y="2523660"/>
            <a:ext cx="42665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SSID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：</a:t>
            </a:r>
            <a:r>
              <a:rPr kumimoji="1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Tsvtc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-guest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86154" y="1287840"/>
            <a:ext cx="41456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Service  Set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Identifier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服務集識別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44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Piconet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微微網</a:t>
            </a: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0" y="5104893"/>
            <a:ext cx="9144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經由一對一或一對多彼此連結起來的藍芽網路，該網路最高可支援８個藍芽裝置</a:t>
            </a:r>
          </a:p>
        </p:txBody>
      </p:sp>
      <p:pic>
        <p:nvPicPr>
          <p:cNvPr id="12290" name="Picture 2" descr="「微微網 藍芽」的圖片搜尋結果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" t="8371" r="3110" b="12482"/>
          <a:stretch/>
        </p:blipFill>
        <p:spPr bwMode="auto">
          <a:xfrm>
            <a:off x="197768" y="2276872"/>
            <a:ext cx="3399971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「藍芽」的圖片搜尋結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739" y="1412776"/>
            <a:ext cx="5546261" cy="369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66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DDos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阻斷式攻擊</a:t>
            </a:r>
            <a:endParaRPr kumimoji="0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67588" name="Picture 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5057775"/>
            <a:ext cx="6762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9" name="Picture 5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5057775"/>
            <a:ext cx="6762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90" name="Picture 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2852738"/>
            <a:ext cx="7429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91" name="Picture 5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4767263"/>
            <a:ext cx="5715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92" name="Picture 6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4770438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93" name="Text Box 50"/>
          <p:cNvSpPr txBox="1">
            <a:spLocks noChangeArrowheads="1"/>
          </p:cNvSpPr>
          <p:nvPr/>
        </p:nvSpPr>
        <p:spPr bwMode="auto">
          <a:xfrm>
            <a:off x="-73025" y="6037263"/>
            <a:ext cx="1874838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Web </a:t>
            </a:r>
          </a:p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Server 1</a:t>
            </a:r>
          </a:p>
        </p:txBody>
      </p:sp>
      <p:sp>
        <p:nvSpPr>
          <p:cNvPr id="67594" name="Text Box 50"/>
          <p:cNvSpPr txBox="1">
            <a:spLocks noChangeArrowheads="1"/>
          </p:cNvSpPr>
          <p:nvPr/>
        </p:nvSpPr>
        <p:spPr bwMode="auto">
          <a:xfrm>
            <a:off x="2306638" y="6013450"/>
            <a:ext cx="197802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Web </a:t>
            </a:r>
          </a:p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Server 2</a:t>
            </a:r>
          </a:p>
        </p:txBody>
      </p:sp>
      <p:sp>
        <p:nvSpPr>
          <p:cNvPr id="67595" name="Text Box 50"/>
          <p:cNvSpPr txBox="1">
            <a:spLocks noChangeArrowheads="1"/>
          </p:cNvSpPr>
          <p:nvPr/>
        </p:nvSpPr>
        <p:spPr bwMode="auto">
          <a:xfrm>
            <a:off x="2320925" y="3038475"/>
            <a:ext cx="13557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7596" name="圖片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084763"/>
            <a:ext cx="1511300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7" name="Text Box 50"/>
          <p:cNvSpPr txBox="1">
            <a:spLocks noChangeArrowheads="1"/>
          </p:cNvSpPr>
          <p:nvPr/>
        </p:nvSpPr>
        <p:spPr bwMode="auto">
          <a:xfrm>
            <a:off x="2339975" y="2114550"/>
            <a:ext cx="1216025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防火牆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7598" name="Text Box 50"/>
          <p:cNvSpPr txBox="1">
            <a:spLocks noChangeArrowheads="1"/>
          </p:cNvSpPr>
          <p:nvPr/>
        </p:nvSpPr>
        <p:spPr bwMode="auto">
          <a:xfrm>
            <a:off x="2205038" y="4094163"/>
            <a:ext cx="1955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負載平衡器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67599" name="群組 8"/>
          <p:cNvGrpSpPr>
            <a:grpSpLocks/>
          </p:cNvGrpSpPr>
          <p:nvPr/>
        </p:nvGrpSpPr>
        <p:grpSpPr bwMode="auto">
          <a:xfrm>
            <a:off x="3571875" y="1223963"/>
            <a:ext cx="2157413" cy="1177925"/>
            <a:chOff x="3571392" y="1285668"/>
            <a:chExt cx="2157278" cy="1177368"/>
          </a:xfrm>
        </p:grpSpPr>
        <p:pic>
          <p:nvPicPr>
            <p:cNvPr id="67625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392" y="1285668"/>
              <a:ext cx="2157278" cy="1177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7626" name="Text Box 50"/>
            <p:cNvSpPr txBox="1">
              <a:spLocks noChangeArrowheads="1"/>
            </p:cNvSpPr>
            <p:nvPr/>
          </p:nvSpPr>
          <p:spPr bwMode="auto">
            <a:xfrm>
              <a:off x="3967134" y="1674534"/>
              <a:ext cx="1356055" cy="39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457200" marR="0" lvl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Internet</a:t>
              </a:r>
            </a:p>
          </p:txBody>
        </p:sp>
      </p:grpSp>
      <p:pic>
        <p:nvPicPr>
          <p:cNvPr id="67600" name="Picture 5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1184275"/>
            <a:ext cx="669925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601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3997325"/>
            <a:ext cx="65405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2" name="直線接點 21"/>
          <p:cNvCxnSpPr/>
          <p:nvPr/>
        </p:nvCxnSpPr>
        <p:spPr>
          <a:xfrm flipH="1">
            <a:off x="1100138" y="4386263"/>
            <a:ext cx="755650" cy="768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265363" y="4425950"/>
            <a:ext cx="955675" cy="7286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2014538" y="3233738"/>
            <a:ext cx="0" cy="844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2055813" y="2125663"/>
            <a:ext cx="0" cy="844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endCxn id="67625" idx="1"/>
          </p:cNvCxnSpPr>
          <p:nvPr/>
        </p:nvCxnSpPr>
        <p:spPr>
          <a:xfrm>
            <a:off x="2446338" y="1812925"/>
            <a:ext cx="11255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607" name="Picture 18" descr="http://wpmu.org/wp-content/uploads/2012/07/hacker-cartoon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1371600"/>
            <a:ext cx="15367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08" name="Text Box 50"/>
          <p:cNvSpPr txBox="1">
            <a:spLocks noChangeArrowheads="1"/>
          </p:cNvSpPr>
          <p:nvPr/>
        </p:nvSpPr>
        <p:spPr bwMode="auto">
          <a:xfrm>
            <a:off x="7285038" y="1117600"/>
            <a:ext cx="13557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駭客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58" name="直線接點 57"/>
          <p:cNvCxnSpPr/>
          <p:nvPr/>
        </p:nvCxnSpPr>
        <p:spPr>
          <a:xfrm flipV="1">
            <a:off x="5324475" y="2005013"/>
            <a:ext cx="1985963" cy="3048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610" name="Picture 6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213" y="3279775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611" name="Picture 3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100" y="4484688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612" name="Picture 3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788" y="5805488"/>
            <a:ext cx="56197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直線接點 36"/>
          <p:cNvCxnSpPr/>
          <p:nvPr/>
        </p:nvCxnSpPr>
        <p:spPr>
          <a:xfrm>
            <a:off x="5324475" y="2309813"/>
            <a:ext cx="2784475" cy="141605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5324475" y="2309813"/>
            <a:ext cx="2935288" cy="255111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5324475" y="2286000"/>
            <a:ext cx="2940050" cy="3668713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16" name="Text Box 50"/>
          <p:cNvSpPr txBox="1">
            <a:spLocks noChangeArrowheads="1"/>
          </p:cNvSpPr>
          <p:nvPr/>
        </p:nvSpPr>
        <p:spPr bwMode="auto">
          <a:xfrm>
            <a:off x="6635750" y="2743200"/>
            <a:ext cx="1955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DDOS</a:t>
            </a: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攻擊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7617" name="Text Box 50"/>
          <p:cNvSpPr txBox="1">
            <a:spLocks noChangeArrowheads="1"/>
          </p:cNvSpPr>
          <p:nvPr/>
        </p:nvSpPr>
        <p:spPr bwMode="auto">
          <a:xfrm>
            <a:off x="5064125" y="5584825"/>
            <a:ext cx="13557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使用者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45" name="直線接點 44"/>
          <p:cNvCxnSpPr>
            <a:endCxn id="67591" idx="0"/>
          </p:cNvCxnSpPr>
          <p:nvPr/>
        </p:nvCxnSpPr>
        <p:spPr>
          <a:xfrm>
            <a:off x="4656138" y="2401888"/>
            <a:ext cx="525462" cy="23653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橢圓 47"/>
          <p:cNvSpPr/>
          <p:nvPr/>
        </p:nvSpPr>
        <p:spPr>
          <a:xfrm>
            <a:off x="0" y="4940300"/>
            <a:ext cx="1801813" cy="109696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cxnSp>
        <p:nvCxnSpPr>
          <p:cNvPr id="43" name="直線接點 42"/>
          <p:cNvCxnSpPr>
            <a:endCxn id="67625" idx="1"/>
          </p:cNvCxnSpPr>
          <p:nvPr/>
        </p:nvCxnSpPr>
        <p:spPr>
          <a:xfrm>
            <a:off x="2446338" y="1808163"/>
            <a:ext cx="1125537" cy="476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H="1" flipV="1">
            <a:off x="2054225" y="2114550"/>
            <a:ext cx="0" cy="8477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 flipV="1">
            <a:off x="2014538" y="3225800"/>
            <a:ext cx="0" cy="84772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1128713" y="4411663"/>
            <a:ext cx="701675" cy="71755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11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2495550"/>
            <a:ext cx="5489575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422146" y="6269863"/>
            <a:ext cx="346800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Distributed Denial of Services</a:t>
            </a:r>
          </a:p>
        </p:txBody>
      </p:sp>
    </p:spTree>
    <p:extLst>
      <p:ext uri="{BB962C8B-B14F-4D97-AF65-F5344CB8AC3E}">
        <p14:creationId xmlns:p14="http://schemas.microsoft.com/office/powerpoint/2010/main" val="216424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ATM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" y="1113982"/>
            <a:ext cx="91439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Asynchronous Transfer Mode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，非同步傳輸模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式，為一種交換技術，應用於廣域至區域，企業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網路至私人網路，屬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連接導向的通訊協定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284984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網路主要是由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(ATM Switch)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和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端點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(ATM Endpoint)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組成。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480425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三、 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交換器就像是電話系統的交換機，負責在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輸入埠和輸出埠之間建立實體的電路連線，然後 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兩端才能傳送資料；至於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端點則可以是個</a:t>
            </a:r>
            <a:endParaRPr kumimoji="0" lang="en-US" altLang="zh-TW" sz="3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人電腦、</a:t>
            </a: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L2 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交換器、路由器等等設備。</a:t>
            </a:r>
          </a:p>
        </p:txBody>
      </p:sp>
    </p:spTree>
    <p:extLst>
      <p:ext uri="{BB962C8B-B14F-4D97-AF65-F5344CB8AC3E}">
        <p14:creationId xmlns:p14="http://schemas.microsoft.com/office/powerpoint/2010/main" val="37076903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ATM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基本架構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97"/>
          <a:stretch/>
        </p:blipFill>
        <p:spPr bwMode="auto">
          <a:xfrm>
            <a:off x="251520" y="1700808"/>
            <a:ext cx="8333864" cy="347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5373216"/>
            <a:ext cx="91439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交換器與交換器透過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NNI (Network </a:t>
            </a: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Interface) 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規格溝通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二、交換器與端點則透過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UNI (User Network Interface) 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規格溝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通</a:t>
            </a:r>
          </a:p>
        </p:txBody>
      </p:sp>
    </p:spTree>
    <p:extLst>
      <p:ext uri="{BB962C8B-B14F-4D97-AF65-F5344CB8AC3E}">
        <p14:creationId xmlns:p14="http://schemas.microsoft.com/office/powerpoint/2010/main" val="272943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ATM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特色</a:t>
            </a: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 bwMode="auto">
          <a:xfrm>
            <a:off x="-19972" y="1057030"/>
            <a:ext cx="9144000" cy="580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省略錯誤檢查和流量控制工作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隨著線路品質改進，錯誤檢查工作由接收端執行，流量控制改由 </a:t>
            </a:r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ATM </a:t>
            </a: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端點高層協定執行</a:t>
            </a:r>
            <a:endParaRPr kumimoji="1" lang="en-US" altLang="zh-TW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TW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每個連線擁有專屬頻寬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不會因連線數量增加而稀釋了自己的頻寬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TW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提供多樣化的傳輸速率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 </a:t>
            </a:r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25 / 51 / 100 / 155 / 622 Mbps </a:t>
            </a: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及 </a:t>
            </a:r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2.4 </a:t>
            </a:r>
            <a:r>
              <a:rPr kumimoji="1" lang="en-US" altLang="zh-TW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Gbps</a:t>
            </a:r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等傳輸速率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TW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支援多種傳輸介質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可使用光纖、同軸電纜和雙絞線作為傳輸介質</a:t>
            </a:r>
            <a:r>
              <a:rPr kumimoji="1" lang="en-US" altLang="zh-TW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, </a:t>
            </a:r>
            <a:r>
              <a:rPr kumimoji="1" lang="zh-TW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在實際應用上非常有彈性</a:t>
            </a:r>
            <a:endParaRPr kumimoji="1" lang="en-US" altLang="zh-TW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33723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defRPr>
                <a:latin typeface="Arial" charset="0"/>
                <a:ea typeface="新細明體" charset="-120"/>
              </a:defRPr>
            </a:lvl2pPr>
            <a:lvl3pPr marL="1143000" indent="-228600">
              <a:defRPr>
                <a:latin typeface="Arial" charset="0"/>
                <a:ea typeface="新細明體" charset="-120"/>
              </a:defRPr>
            </a:lvl3pPr>
            <a:lvl4pPr marL="1600200" indent="-228600">
              <a:defRPr>
                <a:latin typeface="Arial" charset="0"/>
                <a:ea typeface="新細明體" charset="-120"/>
              </a:defRPr>
            </a:lvl4pPr>
            <a:lvl5pPr marL="2057400" indent="-22860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ATM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特色</a:t>
            </a:r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83"/>
          <a:stretch/>
        </p:blipFill>
        <p:spPr bwMode="auto">
          <a:xfrm>
            <a:off x="0" y="4365104"/>
            <a:ext cx="9144000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27"/>
          <p:cNvSpPr txBox="1">
            <a:spLocks noChangeArrowheads="1"/>
          </p:cNvSpPr>
          <p:nvPr/>
        </p:nvSpPr>
        <p:spPr bwMode="auto">
          <a:xfrm>
            <a:off x="0" y="1268760"/>
            <a:ext cx="914400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固定封包長度</a:t>
            </a:r>
            <a:endParaRPr kumimoji="1" lang="en-US" altLang="zh-TW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固定長度信元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(Cell) 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為基本傳輸單位</a:t>
            </a:r>
            <a:endParaRPr kumimoji="1" lang="en-US" altLang="zh-TW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每個信元佔 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53 Bytes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其中 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 Bytes 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為表頭</a:t>
            </a:r>
            <a:endParaRPr kumimoji="1" lang="en-US" altLang="zh-TW" sz="3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(Header)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kumimoji="1" lang="en-US" altLang="zh-TW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48 Bytes</a:t>
            </a:r>
            <a:r>
              <a:rPr kumimoji="1" lang="zh-TW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為承載的資料</a:t>
            </a:r>
            <a:endParaRPr kumimoji="1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CC"/>
              </a:buClr>
              <a:buSzPct val="80000"/>
              <a:buFont typeface="Wingdings" panose="05000000000000000000" pitchFamily="2" charset="2"/>
              <a:buChar char="n"/>
              <a:tabLst/>
              <a:defRPr/>
            </a:pPr>
            <a:endParaRPr kumimoji="1" lang="zh-TW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1839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工作項目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二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6000" b="1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資訊網</a:t>
            </a:r>
            <a:r>
              <a:rPr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路</a:t>
            </a:r>
            <a:endParaRPr kumimoji="1" lang="zh-TW" altLang="en-US" sz="60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4997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10"/>
          <p:cNvSpPr txBox="1">
            <a:spLocks noChangeArrowheads="1"/>
          </p:cNvSpPr>
          <p:nvPr/>
        </p:nvSpPr>
        <p:spPr bwMode="auto">
          <a:xfrm>
            <a:off x="0" y="1556792"/>
            <a:ext cx="91440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工作項目二：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159~162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164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171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176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177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180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182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187~192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200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206~208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213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240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~245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340~342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345~349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352~355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359~364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366~368</a:t>
            </a:r>
            <a:r>
              <a:rPr lang="zh-TW" altLang="en-US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371~373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子網路切割</a:t>
            </a:r>
            <a:endParaRPr lang="en-US" altLang="zh-TW" sz="2800" b="1" dirty="0" smtClean="0"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215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228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246</a:t>
            </a:r>
            <a:r>
              <a:rPr lang="zh-TW" altLang="en-US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247</a:t>
            </a:r>
            <a:endParaRPr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710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/>
          <p:cNvCxnSpPr/>
          <p:nvPr/>
        </p:nvCxnSpPr>
        <p:spPr>
          <a:xfrm flipV="1">
            <a:off x="1657350" y="4568825"/>
            <a:ext cx="1619250" cy="143668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H="1" flipV="1">
            <a:off x="3349625" y="4497388"/>
            <a:ext cx="1800225" cy="1508125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276600" y="2232025"/>
            <a:ext cx="0" cy="233680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92150" y="3735388"/>
            <a:ext cx="2584450" cy="79851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3276600" y="3770313"/>
            <a:ext cx="2376488" cy="68421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Star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星狀網路</a:t>
            </a:r>
          </a:p>
        </p:txBody>
      </p:sp>
      <p:sp>
        <p:nvSpPr>
          <p:cNvPr id="8200" name="文字方塊 10"/>
          <p:cNvSpPr txBox="1">
            <a:spLocks noChangeArrowheads="1"/>
          </p:cNvSpPr>
          <p:nvPr/>
        </p:nvSpPr>
        <p:spPr bwMode="auto">
          <a:xfrm>
            <a:off x="3889375" y="1493838"/>
            <a:ext cx="523081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以一個中央控制器主電腦，以放射狀和所有的電腦連接，任何二部電腦之間的通訊都必須透過中央主電腦。</a:t>
            </a:r>
            <a:endParaRPr kumimoji="1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02" name="文字方塊 10"/>
          <p:cNvSpPr txBox="1">
            <a:spLocks noChangeArrowheads="1"/>
          </p:cNvSpPr>
          <p:nvPr/>
        </p:nvSpPr>
        <p:spPr bwMode="auto">
          <a:xfrm>
            <a:off x="3865563" y="1001713"/>
            <a:ext cx="527843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星型拓撲（</a:t>
            </a:r>
            <a:r>
              <a: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Star Topology</a:t>
            </a: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 </a:t>
            </a:r>
            <a:endParaRPr kumimoji="1" lang="en-US" altLang="zh-TW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03" name="矩形 2"/>
          <p:cNvSpPr>
            <a:spLocks noChangeArrowheads="1"/>
          </p:cNvSpPr>
          <p:nvPr/>
        </p:nvSpPr>
        <p:spPr bwMode="auto">
          <a:xfrm>
            <a:off x="6186488" y="4189413"/>
            <a:ext cx="2973387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拓撲（</a:t>
            </a:r>
            <a:r>
              <a:rPr kumimoji="1" lang="en-US" altLang="zh-TW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Mesh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指網路上的電腦、纜線、集線器以及其他設備所組成的整體配置方式</a:t>
            </a:r>
            <a:endParaRPr kumimoji="1" lang="en-US" altLang="zh-TW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8204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638" y="1676400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5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068638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6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613" y="3333750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7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5621338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8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8" y="5632450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9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3" y="3989388"/>
            <a:ext cx="6762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10" name="文字方塊 10"/>
          <p:cNvSpPr txBox="1">
            <a:spLocks noChangeArrowheads="1"/>
          </p:cNvSpPr>
          <p:nvPr/>
        </p:nvSpPr>
        <p:spPr bwMode="auto">
          <a:xfrm>
            <a:off x="3070225" y="1003300"/>
            <a:ext cx="4587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Ａ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11" name="文字方塊 10"/>
          <p:cNvSpPr txBox="1">
            <a:spLocks noChangeArrowheads="1"/>
          </p:cNvSpPr>
          <p:nvPr/>
        </p:nvSpPr>
        <p:spPr bwMode="auto">
          <a:xfrm>
            <a:off x="5462588" y="2693988"/>
            <a:ext cx="4603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Ｂ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12" name="文字方塊 10"/>
          <p:cNvSpPr txBox="1">
            <a:spLocks noChangeArrowheads="1"/>
          </p:cNvSpPr>
          <p:nvPr/>
        </p:nvSpPr>
        <p:spPr bwMode="auto">
          <a:xfrm>
            <a:off x="5046663" y="4929188"/>
            <a:ext cx="4603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Ｃ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13" name="文字方塊 10"/>
          <p:cNvSpPr txBox="1">
            <a:spLocks noChangeArrowheads="1"/>
          </p:cNvSpPr>
          <p:nvPr/>
        </p:nvSpPr>
        <p:spPr bwMode="auto">
          <a:xfrm>
            <a:off x="1316038" y="4929188"/>
            <a:ext cx="4603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Ｄ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214" name="文字方塊 10"/>
          <p:cNvSpPr txBox="1">
            <a:spLocks noChangeArrowheads="1"/>
          </p:cNvSpPr>
          <p:nvPr/>
        </p:nvSpPr>
        <p:spPr bwMode="auto">
          <a:xfrm>
            <a:off x="373063" y="2427288"/>
            <a:ext cx="4603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Ｅ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048083"/>
            <a:ext cx="2928938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流通量(throughput) </a:t>
            </a:r>
            <a:r>
              <a:rPr kumimoji="1" lang="zh-TW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在固定時間內傳輸兩端節點之間的封包數</a:t>
            </a:r>
          </a:p>
        </p:txBody>
      </p:sp>
    </p:spTree>
    <p:extLst>
      <p:ext uri="{BB962C8B-B14F-4D97-AF65-F5344CB8AC3E}">
        <p14:creationId xmlns:p14="http://schemas.microsoft.com/office/powerpoint/2010/main" val="1624555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網路介面卡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l="357" t="3211" r="-357" b="70114"/>
          <a:stretch/>
        </p:blipFill>
        <p:spPr>
          <a:xfrm>
            <a:off x="0" y="1078945"/>
            <a:ext cx="9144000" cy="1664255"/>
          </a:xfrm>
          <a:prstGeom prst="rect">
            <a:avLst/>
          </a:prstGeom>
        </p:spPr>
      </p:pic>
      <p:pic>
        <p:nvPicPr>
          <p:cNvPr id="2050" name="Picture 2" descr="相關圖片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12532"/>
            <a:ext cx="4568304" cy="317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12"/>
          <p:cNvSpPr>
            <a:spLocks noChangeArrowheads="1"/>
          </p:cNvSpPr>
          <p:nvPr/>
        </p:nvSpPr>
        <p:spPr bwMode="auto">
          <a:xfrm>
            <a:off x="4067944" y="2946007"/>
            <a:ext cx="4963195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從有線媒介改成無線時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36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停用</a:t>
            </a:r>
            <a:r>
              <a:rPr lang="zh-TW" altLang="en-US" sz="3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區域連線</a:t>
            </a:r>
            <a:endParaRPr lang="en-US" altLang="zh-TW" sz="36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zh-TW" altLang="en-US" sz="3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無線網路連線</a:t>
            </a:r>
            <a:endParaRPr lang="en-US" altLang="zh-TW" sz="36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72602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傳輸媒介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0" y="1081088"/>
          <a:ext cx="9144001" cy="58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5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7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種類</a:t>
                      </a:r>
                    </a:p>
                  </a:txBody>
                  <a:tcPr marT="45716" marB="4571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傳輸速度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用途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61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電話線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８</a:t>
                      </a:r>
                      <a:r>
                        <a:rPr lang="en-US" altLang="zh-TW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Mbps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透過電話線撥接上網，不管網路是光纖、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ADSL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或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56K</a:t>
                      </a:r>
                      <a:endParaRPr lang="zh-TW" altLang="en-US" sz="2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5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同軸電纜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10Mbps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Coaxial</a:t>
                      </a:r>
                      <a:r>
                        <a:rPr lang="en-US" altLang="zh-TW" sz="2200" b="1" kern="1200" baseline="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Cable</a:t>
                      </a:r>
                      <a:r>
                        <a:rPr lang="zh-TW" altLang="en-US" sz="2200" b="1" kern="1200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由相互絕緣的同軸心導體構成，電纜用於電視台的網路上使用電視訊號線，如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Cable TV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98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雙絞線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２</a:t>
                      </a:r>
                      <a:r>
                        <a:rPr lang="en-US" altLang="zh-TW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.4Gbps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Twisted Pair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，含有二條絞在一起互相絕緣的導線，用於連接網路相關設備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98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光纖</a:t>
                      </a:r>
                      <a:endParaRPr lang="en-US" altLang="zh-TW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 </a:t>
                      </a:r>
                      <a:r>
                        <a:rPr lang="en-US" altLang="zh-TW" sz="2200" b="1" kern="1200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Gbps</a:t>
                      </a:r>
                      <a:endParaRPr lang="en-US" altLang="zh-TW" sz="2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Fiber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，使用極細的玻璃纖維材質來傳輸光源訊號，較不易受外界雜訊的影響</a:t>
                      </a:r>
                      <a:r>
                        <a:rPr lang="en-US" altLang="zh-TW" sz="2200" b="1" kern="1200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zh-TW" altLang="en-US" sz="2200" b="1" kern="1200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允許更長距離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8398" name="Picture 12" descr="https://encrypted-tbn2.gstatic.com/images?q=tbn:ANd9GcTcK-IOn6RXmDyppUFJeYwTm7wV_YwacfnRaYB6a9KoEgMFZ2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142688"/>
            <a:ext cx="1098550" cy="81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9" name="圖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821277"/>
            <a:ext cx="1098550" cy="767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400" name="Picture 47" descr="http://www.ofweek.com/Upload/Product/2008-4/2008415103841316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23" y="6051479"/>
            <a:ext cx="1098550" cy="7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401" name="Picture 51" descr="http://ec1img.pchome.com.tw/pic/v1/data/item/201208/D/M/A/A/5/P/DMAA5P-A67047156000_5020cc58a4fd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9" t="21005" r="7121" b="14195"/>
          <a:stretch>
            <a:fillRect/>
          </a:stretch>
        </p:blipFill>
        <p:spPr bwMode="auto">
          <a:xfrm>
            <a:off x="611188" y="3485398"/>
            <a:ext cx="109855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1408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r>
              <a:rPr kumimoji="0"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網路設備說明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0" y="1081088"/>
          <a:ext cx="9144000" cy="5790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6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marT="45716" marB="4571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73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集線器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將多條乙太網路雙絞線或光纖集合連接在同一段下的裝置</a:t>
                      </a:r>
                      <a:endParaRPr lang="en-US" altLang="zh-TW" sz="26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64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橋接器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2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用來連接二個或多個相同或不相同型態的區域網路，以目的地的</a:t>
                      </a:r>
                      <a:r>
                        <a:rPr lang="en-US" altLang="zh-TW" sz="2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MAC</a:t>
                      </a:r>
                      <a:r>
                        <a:rPr lang="zh-TW" altLang="en-US" sz="2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位址做為將訊框往外部網路或內部網路傳送</a:t>
                      </a:r>
                      <a:endParaRPr lang="en-US" altLang="zh-TW" sz="26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2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交換器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將多台電腦互連，組成區網，</a:t>
                      </a:r>
                      <a:r>
                        <a:rPr lang="zh-TW" altLang="en-US" sz="26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有別於集線器以廣播方式派送資料，是以直接點對點進行傳輸</a:t>
                      </a:r>
                      <a:endParaRPr lang="en-US" altLang="zh-TW" sz="26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27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閘道器</a:t>
                      </a:r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en-US" altLang="zh-TW" sz="3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用來連接兩個不同的網段，及轉換不同通訊協定　</a:t>
                      </a:r>
                      <a:endParaRPr lang="en-US" altLang="zh-TW" sz="26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7160" name="Picture 4" descr="http://farm3.static.flickr.com/2786/4202364926_7f253250fa_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05" y="4927247"/>
            <a:ext cx="13541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7161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381250"/>
            <a:ext cx="1354137" cy="61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7162" name="Picture 18" descr="http://www.welltech.com/image/wellgate_2540_1h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211729"/>
            <a:ext cx="1346200" cy="63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7163" name="Picture 22" descr="http://pic.pimg.tw/jay506/282d9d3d5d56f1930e6967191357302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12" y="3584576"/>
            <a:ext cx="1355725" cy="643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52907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橋接器資料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傳遞</a:t>
            </a:r>
          </a:p>
        </p:txBody>
      </p:sp>
      <p:pic>
        <p:nvPicPr>
          <p:cNvPr id="46083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95"/>
          <a:stretch>
            <a:fillRect/>
          </a:stretch>
        </p:blipFill>
        <p:spPr bwMode="auto">
          <a:xfrm>
            <a:off x="684213" y="1406525"/>
            <a:ext cx="7267575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群組 21"/>
          <p:cNvGrpSpPr>
            <a:grpSpLocks/>
          </p:cNvGrpSpPr>
          <p:nvPr/>
        </p:nvGrpSpPr>
        <p:grpSpPr bwMode="auto">
          <a:xfrm>
            <a:off x="4405313" y="1871663"/>
            <a:ext cx="3171825" cy="3452812"/>
            <a:chOff x="4764782" y="2598812"/>
            <a:chExt cx="3172544" cy="3451820"/>
          </a:xfrm>
        </p:grpSpPr>
        <p:cxnSp>
          <p:nvCxnSpPr>
            <p:cNvPr id="9" name="直線單箭頭接點 8"/>
            <p:cNvCxnSpPr/>
            <p:nvPr/>
          </p:nvCxnSpPr>
          <p:spPr>
            <a:xfrm>
              <a:off x="4764782" y="2598812"/>
              <a:ext cx="2592975" cy="288048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06" name="文字方塊 24"/>
            <p:cNvSpPr txBox="1">
              <a:spLocks noChangeArrowheads="1"/>
            </p:cNvSpPr>
            <p:nvPr/>
          </p:nvSpPr>
          <p:spPr bwMode="auto">
            <a:xfrm>
              <a:off x="6857826" y="5526757"/>
              <a:ext cx="1079500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grpSp>
        <p:nvGrpSpPr>
          <p:cNvPr id="29" name="群組 28"/>
          <p:cNvGrpSpPr>
            <a:grpSpLocks/>
          </p:cNvGrpSpPr>
          <p:nvPr/>
        </p:nvGrpSpPr>
        <p:grpSpPr bwMode="auto">
          <a:xfrm>
            <a:off x="3060700" y="2198688"/>
            <a:ext cx="1079500" cy="3449637"/>
            <a:chOff x="3419376" y="2926259"/>
            <a:chExt cx="1080616" cy="3449736"/>
          </a:xfrm>
        </p:grpSpPr>
        <p:grpSp>
          <p:nvGrpSpPr>
            <p:cNvPr id="46099" name="群組 16"/>
            <p:cNvGrpSpPr>
              <a:grpSpLocks/>
            </p:cNvGrpSpPr>
            <p:nvPr/>
          </p:nvGrpSpPr>
          <p:grpSpPr bwMode="auto">
            <a:xfrm>
              <a:off x="3419376" y="2926259"/>
              <a:ext cx="1080616" cy="3142257"/>
              <a:chOff x="3419376" y="2926259"/>
              <a:chExt cx="1080616" cy="3142257"/>
            </a:xfrm>
          </p:grpSpPr>
          <p:cxnSp>
            <p:nvCxnSpPr>
              <p:cNvPr id="15" name="直線單箭頭接點 14"/>
              <p:cNvCxnSpPr/>
              <p:nvPr/>
            </p:nvCxnSpPr>
            <p:spPr>
              <a:xfrm flipH="1">
                <a:off x="4001002" y="2926259"/>
                <a:ext cx="498990" cy="259087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104" name="文字方塊 24"/>
              <p:cNvSpPr txBox="1">
                <a:spLocks noChangeArrowheads="1"/>
              </p:cNvSpPr>
              <p:nvPr/>
            </p:nvSpPr>
            <p:spPr bwMode="auto">
              <a:xfrm>
                <a:off x="3419376" y="5544641"/>
                <a:ext cx="1079500" cy="523875"/>
              </a:xfrm>
              <a:prstGeom prst="rect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資料</a:t>
                </a:r>
              </a:p>
            </p:txBody>
          </p:sp>
        </p:grpSp>
        <p:grpSp>
          <p:nvGrpSpPr>
            <p:cNvPr id="46100" name="群組 27"/>
            <p:cNvGrpSpPr>
              <a:grpSpLocks/>
            </p:cNvGrpSpPr>
            <p:nvPr/>
          </p:nvGrpSpPr>
          <p:grpSpPr bwMode="auto">
            <a:xfrm>
              <a:off x="3557638" y="5469979"/>
              <a:ext cx="720080" cy="906016"/>
              <a:chOff x="3557638" y="5469979"/>
              <a:chExt cx="720080" cy="906016"/>
            </a:xfrm>
          </p:grpSpPr>
          <p:cxnSp>
            <p:nvCxnSpPr>
              <p:cNvPr id="24" name="直線接點 23"/>
              <p:cNvCxnSpPr/>
              <p:nvPr/>
            </p:nvCxnSpPr>
            <p:spPr>
              <a:xfrm>
                <a:off x="3557632" y="5510783"/>
                <a:ext cx="719881" cy="8652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/>
              <p:cNvCxnSpPr/>
              <p:nvPr/>
            </p:nvCxnSpPr>
            <p:spPr>
              <a:xfrm flipH="1">
                <a:off x="3573523" y="5469507"/>
                <a:ext cx="672207" cy="89537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群組 29"/>
          <p:cNvGrpSpPr>
            <a:grpSpLocks/>
          </p:cNvGrpSpPr>
          <p:nvPr/>
        </p:nvGrpSpPr>
        <p:grpSpPr bwMode="auto">
          <a:xfrm>
            <a:off x="4346575" y="2198688"/>
            <a:ext cx="1530350" cy="3333750"/>
            <a:chOff x="4705350" y="2926259"/>
            <a:chExt cx="1531739" cy="3333327"/>
          </a:xfrm>
        </p:grpSpPr>
        <p:grpSp>
          <p:nvGrpSpPr>
            <p:cNvPr id="46093" name="群組 17"/>
            <p:cNvGrpSpPr>
              <a:grpSpLocks/>
            </p:cNvGrpSpPr>
            <p:nvPr/>
          </p:nvGrpSpPr>
          <p:grpSpPr bwMode="auto">
            <a:xfrm>
              <a:off x="4705350" y="2926259"/>
              <a:ext cx="1531739" cy="3129879"/>
              <a:chOff x="4705350" y="2926259"/>
              <a:chExt cx="1531739" cy="3129879"/>
            </a:xfrm>
          </p:grpSpPr>
          <p:cxnSp>
            <p:nvCxnSpPr>
              <p:cNvPr id="13" name="直線單箭頭接點 12"/>
              <p:cNvCxnSpPr/>
              <p:nvPr/>
            </p:nvCxnSpPr>
            <p:spPr>
              <a:xfrm>
                <a:off x="4705350" y="2926259"/>
                <a:ext cx="975610" cy="259047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098" name="文字方塊 24"/>
              <p:cNvSpPr txBox="1">
                <a:spLocks noChangeArrowheads="1"/>
              </p:cNvSpPr>
              <p:nvPr/>
            </p:nvSpPr>
            <p:spPr bwMode="auto">
              <a:xfrm>
                <a:off x="5157589" y="5532263"/>
                <a:ext cx="1079500" cy="523875"/>
              </a:xfrm>
              <a:prstGeom prst="rect">
                <a:avLst/>
              </a:pr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資料</a:t>
                </a:r>
              </a:p>
            </p:txBody>
          </p:sp>
        </p:grpSp>
        <p:grpSp>
          <p:nvGrpSpPr>
            <p:cNvPr id="46094" name="群組 30"/>
            <p:cNvGrpSpPr>
              <a:grpSpLocks/>
            </p:cNvGrpSpPr>
            <p:nvPr/>
          </p:nvGrpSpPr>
          <p:grpSpPr bwMode="auto">
            <a:xfrm>
              <a:off x="5318311" y="5353570"/>
              <a:ext cx="720080" cy="906016"/>
              <a:chOff x="3557638" y="5469979"/>
              <a:chExt cx="720080" cy="906016"/>
            </a:xfrm>
          </p:grpSpPr>
          <p:cxnSp>
            <p:nvCxnSpPr>
              <p:cNvPr id="32" name="直線接點 31"/>
              <p:cNvCxnSpPr/>
              <p:nvPr/>
            </p:nvCxnSpPr>
            <p:spPr>
              <a:xfrm>
                <a:off x="3558008" y="5510917"/>
                <a:ext cx="719791" cy="86507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/>
              <p:nvPr/>
            </p:nvCxnSpPr>
            <p:spPr>
              <a:xfrm flipH="1">
                <a:off x="3573898" y="5469647"/>
                <a:ext cx="672123" cy="8952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群組 33"/>
          <p:cNvGrpSpPr>
            <a:grpSpLocks/>
          </p:cNvGrpSpPr>
          <p:nvPr/>
        </p:nvGrpSpPr>
        <p:grpSpPr bwMode="auto">
          <a:xfrm>
            <a:off x="1211263" y="1909763"/>
            <a:ext cx="2568575" cy="2833687"/>
            <a:chOff x="1570434" y="2636912"/>
            <a:chExt cx="2569518" cy="2833067"/>
          </a:xfrm>
        </p:grpSpPr>
        <p:cxnSp>
          <p:nvCxnSpPr>
            <p:cNvPr id="5" name="直線單箭頭接點 4"/>
            <p:cNvCxnSpPr/>
            <p:nvPr/>
          </p:nvCxnSpPr>
          <p:spPr>
            <a:xfrm flipV="1">
              <a:off x="2123087" y="2636912"/>
              <a:ext cx="2016865" cy="280767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92" name="文字方塊 24"/>
            <p:cNvSpPr txBox="1">
              <a:spLocks noChangeArrowheads="1"/>
            </p:cNvSpPr>
            <p:nvPr/>
          </p:nvSpPr>
          <p:spPr bwMode="auto">
            <a:xfrm>
              <a:off x="1570434" y="4946104"/>
              <a:ext cx="1079500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sp>
        <p:nvSpPr>
          <p:cNvPr id="38" name="文字方塊 41"/>
          <p:cNvSpPr txBox="1">
            <a:spLocks noChangeArrowheads="1"/>
          </p:cNvSpPr>
          <p:nvPr/>
        </p:nvSpPr>
        <p:spPr bwMode="auto">
          <a:xfrm>
            <a:off x="6186488" y="2300288"/>
            <a:ext cx="22987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只有</a:t>
            </a:r>
            <a:r>
              <a:rPr kumimoji="1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PC4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會處理資料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6089" name="文字方塊 41"/>
          <p:cNvSpPr txBox="1">
            <a:spLocks noChangeArrowheads="1"/>
          </p:cNvSpPr>
          <p:nvPr/>
        </p:nvSpPr>
        <p:spPr bwMode="auto">
          <a:xfrm>
            <a:off x="107950" y="5937250"/>
            <a:ext cx="2952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000D.BD3C.483C</a:t>
            </a:r>
            <a:endParaRPr kumimoji="1" lang="zh-TW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6090" name="文字方塊 41"/>
          <p:cNvSpPr txBox="1">
            <a:spLocks noChangeArrowheads="1"/>
          </p:cNvSpPr>
          <p:nvPr/>
        </p:nvSpPr>
        <p:spPr bwMode="auto">
          <a:xfrm>
            <a:off x="5580063" y="5937250"/>
            <a:ext cx="2952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0001.646D.CD6C</a:t>
            </a:r>
            <a:endParaRPr kumimoji="1" lang="zh-TW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47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傳送中</a:t>
            </a: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位址</a:t>
            </a:r>
          </a:p>
        </p:txBody>
      </p:sp>
      <p:sp>
        <p:nvSpPr>
          <p:cNvPr id="25" name="矩形 24"/>
          <p:cNvSpPr/>
          <p:nvPr/>
        </p:nvSpPr>
        <p:spPr>
          <a:xfrm>
            <a:off x="323850" y="3284538"/>
            <a:ext cx="3648075" cy="1714500"/>
          </a:xfrm>
          <a:prstGeom prst="rect">
            <a:avLst/>
          </a:prstGeom>
          <a:solidFill>
            <a:schemeClr val="tx1">
              <a:lumMod val="95000"/>
              <a:lumOff val="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0001.646D.CD6C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968750" y="3284538"/>
            <a:ext cx="3625850" cy="1716087"/>
          </a:xfrm>
          <a:prstGeom prst="rect">
            <a:avLst/>
          </a:prstGeom>
          <a:solidFill>
            <a:schemeClr val="tx2">
              <a:lumMod val="95000"/>
              <a:lumOff val="5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000D.BD3C.483C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133" name="文字方塊 41"/>
          <p:cNvSpPr txBox="1">
            <a:spLocks noChangeArrowheads="1"/>
          </p:cNvSpPr>
          <p:nvPr/>
        </p:nvSpPr>
        <p:spPr bwMode="auto">
          <a:xfrm>
            <a:off x="3968750" y="4999038"/>
            <a:ext cx="3625850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來源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134" name="文字方塊 7"/>
          <p:cNvSpPr txBox="1">
            <a:spLocks noChangeArrowheads="1"/>
          </p:cNvSpPr>
          <p:nvPr/>
        </p:nvSpPr>
        <p:spPr bwMode="auto">
          <a:xfrm>
            <a:off x="333375" y="5011738"/>
            <a:ext cx="3624263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目的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</a:p>
        </p:txBody>
      </p:sp>
      <p:sp>
        <p:nvSpPr>
          <p:cNvPr id="9" name="矩形 8"/>
          <p:cNvSpPr/>
          <p:nvPr/>
        </p:nvSpPr>
        <p:spPr>
          <a:xfrm>
            <a:off x="7594600" y="3282950"/>
            <a:ext cx="1225550" cy="1716088"/>
          </a:xfrm>
          <a:prstGeom prst="rect">
            <a:avLst/>
          </a:prstGeom>
          <a:solidFill>
            <a:schemeClr val="accent6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</p:spTree>
    <p:extLst>
      <p:ext uri="{BB962C8B-B14F-4D97-AF65-F5344CB8AC3E}">
        <p14:creationId xmlns:p14="http://schemas.microsoft.com/office/powerpoint/2010/main" val="379660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MAC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位址</a:t>
            </a:r>
          </a:p>
        </p:txBody>
      </p:sp>
      <p:pic>
        <p:nvPicPr>
          <p:cNvPr id="174083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084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025" y="5308600"/>
            <a:ext cx="34956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195513" y="5661025"/>
            <a:ext cx="1800225" cy="3270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84663" y="2879725"/>
            <a:ext cx="2087562" cy="3270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74087" name="矩形 1"/>
          <p:cNvSpPr>
            <a:spLocks noChangeArrowheads="1"/>
          </p:cNvSpPr>
          <p:nvPr/>
        </p:nvSpPr>
        <p:spPr bwMode="auto">
          <a:xfrm>
            <a:off x="0" y="1506538"/>
            <a:ext cx="989806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6Bytes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表示，前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3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個為廠商代號，後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3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個為產品序號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是電腦上網的識別位址，每組數字由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2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個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16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進位組成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82501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23850" y="4806950"/>
            <a:ext cx="4248150" cy="1727200"/>
          </a:xfrm>
          <a:prstGeom prst="rect">
            <a:avLst/>
          </a:prstGeom>
          <a:solidFill>
            <a:schemeClr val="tx1">
              <a:lumMod val="95000"/>
              <a:lumOff val="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OUI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網路卡製造商編號</a:t>
            </a:r>
          </a:p>
        </p:txBody>
      </p:sp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實體位址</a:t>
            </a: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3796" name="文字方塊 41"/>
          <p:cNvSpPr txBox="1">
            <a:spLocks noChangeArrowheads="1"/>
          </p:cNvSpPr>
          <p:nvPr/>
        </p:nvSpPr>
        <p:spPr bwMode="auto">
          <a:xfrm>
            <a:off x="9525" y="1158875"/>
            <a:ext cx="91440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電腦身分證字號，記錄在電腦網路卡上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2.48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位元組成，分為二部份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3.OUI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Organizationally Unique Identifier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4.NIC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 Interface Controller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7092950" y="4591050"/>
            <a:ext cx="1689100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72000" y="4806950"/>
            <a:ext cx="4248150" cy="1727200"/>
          </a:xfrm>
          <a:prstGeom prst="rect">
            <a:avLst/>
          </a:prstGeom>
          <a:solidFill>
            <a:schemeClr val="tx2">
              <a:lumMod val="95000"/>
              <a:lumOff val="5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廠商內控流水號</a:t>
            </a:r>
          </a:p>
        </p:txBody>
      </p:sp>
      <p:cxnSp>
        <p:nvCxnSpPr>
          <p:cNvPr id="30" name="直線單箭頭接點 29"/>
          <p:cNvCxnSpPr/>
          <p:nvPr/>
        </p:nvCxnSpPr>
        <p:spPr>
          <a:xfrm flipH="1" flipV="1">
            <a:off x="4643438" y="4581525"/>
            <a:ext cx="1593850" cy="952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00" name="文字方塊 41"/>
          <p:cNvSpPr txBox="1">
            <a:spLocks noChangeArrowheads="1"/>
          </p:cNvSpPr>
          <p:nvPr/>
        </p:nvSpPr>
        <p:spPr bwMode="auto">
          <a:xfrm>
            <a:off x="6094413" y="4157663"/>
            <a:ext cx="1150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24bits</a:t>
            </a: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2843213" y="4581525"/>
            <a:ext cx="1690687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 flipV="1">
            <a:off x="395288" y="4573588"/>
            <a:ext cx="1592262" cy="793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03" name="文字方塊 41"/>
          <p:cNvSpPr txBox="1">
            <a:spLocks noChangeArrowheads="1"/>
          </p:cNvSpPr>
          <p:nvPr/>
        </p:nvSpPr>
        <p:spPr bwMode="auto">
          <a:xfrm>
            <a:off x="1844675" y="4149725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24bits</a:t>
            </a:r>
          </a:p>
        </p:txBody>
      </p:sp>
    </p:spTree>
    <p:extLst>
      <p:ext uri="{BB962C8B-B14F-4D97-AF65-F5344CB8AC3E}">
        <p14:creationId xmlns:p14="http://schemas.microsoft.com/office/powerpoint/2010/main" val="14081583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ISDN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146" name="Picture 2" descr="http://www.notebook-service.biz/bild/Andreas/router/cisco/876/Cisco_876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80" y="2420888"/>
            <a:ext cx="8142440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5547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整合服務數位網路</a:t>
            </a:r>
          </a:p>
        </p:txBody>
      </p:sp>
      <p:sp>
        <p:nvSpPr>
          <p:cNvPr id="138247" name="AutoShape 4" descr="「印表機」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8248" name="AutoShape 6" descr="「印表機」的圖片搜尋結果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41277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Integrated Services Digital Network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ISDN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，是一個數位電話網路國際標準，是一種典型的電路交換網路系統（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circuit-switching network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）。</a:t>
            </a: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它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透過普通的銅纜以更高的速率和品質傳輸語音和資料。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ISDN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是歐洲普及的電話網路形式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4098" name="Picture 2" descr="「ISDN」的圖片搜尋結果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821" y="3861048"/>
            <a:ext cx="5528358" cy="264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01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資料傳輸</a:t>
            </a:r>
          </a:p>
        </p:txBody>
      </p:sp>
      <p:sp>
        <p:nvSpPr>
          <p:cNvPr id="138243" name="文字方塊 10"/>
          <p:cNvSpPr txBox="1">
            <a:spLocks noChangeArrowheads="1"/>
          </p:cNvSpPr>
          <p:nvPr/>
        </p:nvSpPr>
        <p:spPr bwMode="auto">
          <a:xfrm>
            <a:off x="2979738" y="3079750"/>
            <a:ext cx="262255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並列傳輸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8244" name="手繪多邊形 26"/>
          <p:cNvSpPr>
            <a:spLocks/>
          </p:cNvSpPr>
          <p:nvPr/>
        </p:nvSpPr>
        <p:spPr bwMode="auto">
          <a:xfrm>
            <a:off x="3282950" y="2017713"/>
            <a:ext cx="2016125" cy="549275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</a:t>
            </a: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67338" y="1127125"/>
            <a:ext cx="1012825" cy="304165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</a:t>
            </a:r>
          </a:p>
        </p:txBody>
      </p:sp>
      <p:sp>
        <p:nvSpPr>
          <p:cNvPr id="13" name="矩形 12"/>
          <p:cNvSpPr/>
          <p:nvPr/>
        </p:nvSpPr>
        <p:spPr>
          <a:xfrm>
            <a:off x="1843088" y="1143000"/>
            <a:ext cx="1012825" cy="3041650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</a:t>
            </a:r>
          </a:p>
        </p:txBody>
      </p:sp>
      <p:sp>
        <p:nvSpPr>
          <p:cNvPr id="138247" name="AutoShape 4" descr="「印表機」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8248" name="AutoShape 6" descr="「印表機」的圖片搜尋結果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38249" name="Picture 8" descr="http://www.oasky.com.tw/upload/product_cat/200908010157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1" r="13641"/>
          <a:stretch>
            <a:fillRect/>
          </a:stretch>
        </p:blipFill>
        <p:spPr bwMode="auto">
          <a:xfrm>
            <a:off x="6745288" y="1766888"/>
            <a:ext cx="1966912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50" name="文字方塊 10"/>
          <p:cNvSpPr txBox="1">
            <a:spLocks noChangeArrowheads="1"/>
          </p:cNvSpPr>
          <p:nvPr/>
        </p:nvSpPr>
        <p:spPr bwMode="auto">
          <a:xfrm>
            <a:off x="401638" y="1838325"/>
            <a:ext cx="1779587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並列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LPT</a:t>
            </a:r>
          </a:p>
        </p:txBody>
      </p:sp>
      <p:sp>
        <p:nvSpPr>
          <p:cNvPr id="18" name="矩形 17"/>
          <p:cNvSpPr/>
          <p:nvPr/>
        </p:nvSpPr>
        <p:spPr>
          <a:xfrm>
            <a:off x="1843088" y="4808538"/>
            <a:ext cx="4537075" cy="555625"/>
          </a:xfrm>
          <a:prstGeom prst="rect">
            <a:avLst/>
          </a:prstGeom>
          <a:solidFill>
            <a:srgbClr val="5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87654321</a:t>
            </a:r>
          </a:p>
        </p:txBody>
      </p:sp>
      <p:sp>
        <p:nvSpPr>
          <p:cNvPr id="138252" name="文字方塊 10"/>
          <p:cNvSpPr txBox="1">
            <a:spLocks noChangeArrowheads="1"/>
          </p:cNvSpPr>
          <p:nvPr/>
        </p:nvSpPr>
        <p:spPr bwMode="auto">
          <a:xfrm>
            <a:off x="3132138" y="5921375"/>
            <a:ext cx="262255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串列傳輸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8253" name="手繪多邊形 26"/>
          <p:cNvSpPr>
            <a:spLocks/>
          </p:cNvSpPr>
          <p:nvPr/>
        </p:nvSpPr>
        <p:spPr bwMode="auto">
          <a:xfrm>
            <a:off x="3435350" y="5410200"/>
            <a:ext cx="2016125" cy="549275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 </a:t>
            </a: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8254" name="文字方塊 10"/>
          <p:cNvSpPr txBox="1">
            <a:spLocks noChangeArrowheads="1"/>
          </p:cNvSpPr>
          <p:nvPr/>
        </p:nvSpPr>
        <p:spPr bwMode="auto">
          <a:xfrm>
            <a:off x="417513" y="5059363"/>
            <a:ext cx="1779587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串列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COM</a:t>
            </a:r>
          </a:p>
        </p:txBody>
      </p:sp>
      <p:pic>
        <p:nvPicPr>
          <p:cNvPr id="138255" name="Picture 10" descr="http://www.user.jqw.com/2008/10/13/31755/product/b20081013154230612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8" r="18539"/>
          <a:stretch>
            <a:fillRect/>
          </a:stretch>
        </p:blipFill>
        <p:spPr bwMode="auto">
          <a:xfrm>
            <a:off x="6648450" y="4883150"/>
            <a:ext cx="2055813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574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記號環網路架構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81" y="1079500"/>
            <a:ext cx="7704855" cy="3588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4228" y="4797152"/>
            <a:ext cx="913977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一、每個網路節點以點對點的方式，連結形成一個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環狀單向的迴路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所有資料沿著特定方向依序傳遞，經過每個網路節點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二、資訊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訊框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包括有目的端及來源端的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MAC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位址，以進行記號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Token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）及資料的傳送</a:t>
            </a:r>
          </a:p>
        </p:txBody>
      </p:sp>
    </p:spTree>
    <p:extLst>
      <p:ext uri="{BB962C8B-B14F-4D97-AF65-F5344CB8AC3E}">
        <p14:creationId xmlns:p14="http://schemas.microsoft.com/office/powerpoint/2010/main" val="34448909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乙太網路</a:t>
            </a:r>
          </a:p>
        </p:txBody>
      </p:sp>
      <p:sp>
        <p:nvSpPr>
          <p:cNvPr id="2" name="矩形 1"/>
          <p:cNvSpPr/>
          <p:nvPr/>
        </p:nvSpPr>
        <p:spPr>
          <a:xfrm>
            <a:off x="14808" y="4118414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一、乙太網路（英語：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Ethernet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）是一種電腦區域網路技術。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IEEE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組織的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IEEE 802.3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標準制定了乙太網路的技術標準，它規定了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包括實體層的連線、電子訊號和介質存取層協定的內容。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二、當偵測到沒有任何訊號在傳輸時，會等待一段隨機時間後，開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始傳輸資料，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偵測無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線上訊號時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三、以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廣播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做為資料傳送方式，並以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MAC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作為目的端及來源端的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　　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MAC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位址進行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位元及訊框傳遞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，以決定資料的接收及傳輸對象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6"/>
          <a:stretch/>
        </p:blipFill>
        <p:spPr bwMode="auto">
          <a:xfrm>
            <a:off x="-6990" y="1196752"/>
            <a:ext cx="5973926" cy="2732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0" name="Picture 4" descr="圖片搜尋結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911" y="1592631"/>
            <a:ext cx="3069993" cy="230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8881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Ping 127.0.0.1</a:t>
            </a:r>
            <a:endParaRPr lang="zh-TW" altLang="en-US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90" y="1093065"/>
            <a:ext cx="7092280" cy="4637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9"/>
          <p:cNvSpPr txBox="1">
            <a:spLocks noChangeArrowheads="1"/>
          </p:cNvSpPr>
          <p:nvPr/>
        </p:nvSpPr>
        <p:spPr bwMode="auto">
          <a:xfrm>
            <a:off x="0" y="6078008"/>
            <a:ext cx="92156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保留本地主機的網路連接測試</a:t>
            </a:r>
          </a:p>
        </p:txBody>
      </p:sp>
    </p:spTree>
    <p:extLst>
      <p:ext uri="{BB962C8B-B14F-4D97-AF65-F5344CB8AC3E}">
        <p14:creationId xmlns:p14="http://schemas.microsoft.com/office/powerpoint/2010/main" val="798405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6000" b="1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5400" dirty="0"/>
              <a:t>DHCP</a:t>
            </a:r>
          </a:p>
        </p:txBody>
      </p:sp>
      <p:sp>
        <p:nvSpPr>
          <p:cNvPr id="109572" name="矩形 2"/>
          <p:cNvSpPr>
            <a:spLocks noChangeArrowheads="1"/>
          </p:cNvSpPr>
          <p:nvPr/>
        </p:nvSpPr>
        <p:spPr bwMode="auto">
          <a:xfrm>
            <a:off x="0" y="1354138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Dynamic Host Configuration Protocol</a:t>
            </a:r>
            <a:r>
              <a:rPr kumimoji="1" lang="zh-TW" altLang="en-US" sz="2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，動態主機設定協定，可自動分配</a:t>
            </a:r>
            <a:r>
              <a:rPr kumimoji="1" lang="en-US" altLang="zh-TW" sz="2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kumimoji="1" lang="zh-TW" altLang="en-US" sz="2800" b="1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位址給用戶</a:t>
            </a:r>
            <a:endParaRPr kumimoji="1" lang="en-US" altLang="zh-TW" sz="2800" b="1">
              <a:solidFill>
                <a:srgbClr val="0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9573" name="Picture 2" descr="「DHCP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05038"/>
            <a:ext cx="5543550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3141663"/>
            <a:ext cx="3203575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3390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設備</a:t>
            </a: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OSI</a:t>
            </a: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0" y="1069315"/>
          <a:ext cx="9144001" cy="5822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051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設備名稱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層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資料傳送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路由器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Router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IP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位址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交換器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Switch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資料連結層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橋接器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Bridge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45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中繼器</a:t>
                      </a: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Repeater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實體層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ＭＡＣ位址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67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集線器碰撞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8371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95"/>
          <a:stretch>
            <a:fillRect/>
          </a:stretch>
        </p:blipFill>
        <p:spPr bwMode="auto">
          <a:xfrm>
            <a:off x="396482" y="2060848"/>
            <a:ext cx="697547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372" name="群組 25"/>
          <p:cNvGrpSpPr>
            <a:grpSpLocks/>
          </p:cNvGrpSpPr>
          <p:nvPr/>
        </p:nvGrpSpPr>
        <p:grpSpPr bwMode="auto">
          <a:xfrm>
            <a:off x="756845" y="2479948"/>
            <a:ext cx="2568575" cy="2833687"/>
            <a:chOff x="1570434" y="2636912"/>
            <a:chExt cx="2569518" cy="2833067"/>
          </a:xfrm>
        </p:grpSpPr>
        <p:cxnSp>
          <p:nvCxnSpPr>
            <p:cNvPr id="27" name="直線單箭頭接點 26"/>
            <p:cNvCxnSpPr/>
            <p:nvPr/>
          </p:nvCxnSpPr>
          <p:spPr>
            <a:xfrm flipV="1">
              <a:off x="2123087" y="2636912"/>
              <a:ext cx="2016865" cy="280767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379" name="文字方塊 24"/>
            <p:cNvSpPr txBox="1">
              <a:spLocks noChangeArrowheads="1"/>
            </p:cNvSpPr>
            <p:nvPr/>
          </p:nvSpPr>
          <p:spPr bwMode="auto">
            <a:xfrm>
              <a:off x="1570434" y="4946104"/>
              <a:ext cx="1079500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sp>
        <p:nvSpPr>
          <p:cNvPr id="58373" name="文字方塊 41"/>
          <p:cNvSpPr txBox="1">
            <a:spLocks noChangeArrowheads="1"/>
          </p:cNvSpPr>
          <p:nvPr/>
        </p:nvSpPr>
        <p:spPr bwMode="auto">
          <a:xfrm>
            <a:off x="-395680" y="6396310"/>
            <a:ext cx="2952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000D.BD3C.483C</a:t>
            </a:r>
            <a:endParaRPr kumimoji="1" lang="zh-TW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8374" name="文字方塊 41"/>
          <p:cNvSpPr txBox="1">
            <a:spLocks noChangeArrowheads="1"/>
          </p:cNvSpPr>
          <p:nvPr/>
        </p:nvSpPr>
        <p:spPr bwMode="auto">
          <a:xfrm>
            <a:off x="5000232" y="6412185"/>
            <a:ext cx="2952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0001.646D.CD6C</a:t>
            </a:r>
            <a:endParaRPr kumimoji="1" lang="zh-TW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8375" name="文字方塊 24"/>
          <p:cNvSpPr txBox="1">
            <a:spLocks noChangeArrowheads="1"/>
          </p:cNvSpPr>
          <p:nvPr/>
        </p:nvSpPr>
        <p:spPr bwMode="auto">
          <a:xfrm>
            <a:off x="5897170" y="4789760"/>
            <a:ext cx="1079500" cy="523875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  <p:cxnSp>
        <p:nvCxnSpPr>
          <p:cNvPr id="35" name="直線單箭頭接點 34"/>
          <p:cNvCxnSpPr/>
          <p:nvPr/>
        </p:nvCxnSpPr>
        <p:spPr bwMode="auto">
          <a:xfrm flipH="1" flipV="1">
            <a:off x="3988995" y="2414860"/>
            <a:ext cx="2159000" cy="23749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77" name="文字方塊 41"/>
          <p:cNvSpPr txBox="1">
            <a:spLocks noChangeArrowheads="1"/>
          </p:cNvSpPr>
          <p:nvPr/>
        </p:nvSpPr>
        <p:spPr bwMode="auto">
          <a:xfrm>
            <a:off x="-28575" y="1092200"/>
            <a:ext cx="91725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匯流排屬共用，當二台電腦同時送出資料，即發生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碰撞（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Collision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，碰撞後的資料稱為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垃圾資料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" name="文字方塊 41"/>
          <p:cNvSpPr txBox="1">
            <a:spLocks noChangeArrowheads="1"/>
          </p:cNvSpPr>
          <p:nvPr/>
        </p:nvSpPr>
        <p:spPr bwMode="auto">
          <a:xfrm>
            <a:off x="4744422" y="2281918"/>
            <a:ext cx="446449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Tx/>
              <a:buNone/>
            </a:pPr>
            <a:r>
              <a:rPr lang="zh-TW" altLang="en-US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延伸碰撞區域包括有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Hub</a:t>
            </a:r>
            <a:r>
              <a:rPr lang="zh-TW" altLang="en-US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Repeater</a:t>
            </a:r>
          </a:p>
          <a:p>
            <a:pPr>
              <a:buFontTx/>
              <a:buNone/>
            </a:pPr>
            <a:r>
              <a:rPr lang="zh-TW" altLang="en-US" sz="2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sz="2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NIC</a:t>
            </a:r>
            <a:r>
              <a:rPr lang="zh-TW" altLang="en-US" sz="2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2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Switch</a:t>
            </a:r>
            <a:r>
              <a:rPr lang="zh-TW" altLang="en-US" sz="20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zh-TW" altLang="en-US" sz="20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再生資料訊號</a:t>
            </a:r>
            <a:r>
              <a:rPr lang="zh-TW" altLang="en-US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以延伸碰撞領域內網路線的區段</a:t>
            </a:r>
          </a:p>
        </p:txBody>
      </p:sp>
    </p:spTree>
    <p:extLst>
      <p:ext uri="{BB962C8B-B14F-4D97-AF65-F5344CB8AC3E}">
        <p14:creationId xmlns:p14="http://schemas.microsoft.com/office/powerpoint/2010/main" val="220654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66563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95"/>
          <a:stretch>
            <a:fillRect/>
          </a:stretch>
        </p:blipFill>
        <p:spPr bwMode="auto">
          <a:xfrm>
            <a:off x="736600" y="2027238"/>
            <a:ext cx="76962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4" name="文字方塊 41"/>
          <p:cNvSpPr txBox="1">
            <a:spLocks noChangeArrowheads="1"/>
          </p:cNvSpPr>
          <p:nvPr/>
        </p:nvSpPr>
        <p:spPr bwMode="auto">
          <a:xfrm>
            <a:off x="723900" y="63134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000D.BD3C.483C</a:t>
            </a: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6565" name="文字方塊 41"/>
          <p:cNvSpPr txBox="1">
            <a:spLocks noChangeArrowheads="1"/>
          </p:cNvSpPr>
          <p:nvPr/>
        </p:nvSpPr>
        <p:spPr bwMode="auto">
          <a:xfrm>
            <a:off x="-28575" y="1092200"/>
            <a:ext cx="91725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集線器整個就是一個碰撞區域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Collision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Domain</a:t>
            </a: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，四台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PC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在傳送資料時都有可能會發生碰撞問題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6566" name="文字方塊 41"/>
          <p:cNvSpPr txBox="1">
            <a:spLocks noChangeArrowheads="1"/>
          </p:cNvSpPr>
          <p:nvPr/>
        </p:nvSpPr>
        <p:spPr bwMode="auto">
          <a:xfrm>
            <a:off x="2681288" y="6313488"/>
            <a:ext cx="1944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0010.11E4.2B2B</a:t>
            </a: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6567" name="文字方塊 41"/>
          <p:cNvSpPr txBox="1">
            <a:spLocks noChangeArrowheads="1"/>
          </p:cNvSpPr>
          <p:nvPr/>
        </p:nvSpPr>
        <p:spPr bwMode="auto">
          <a:xfrm>
            <a:off x="4645025" y="6313488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0090.2BC9.80A4</a:t>
            </a: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6568" name="文字方塊 41"/>
          <p:cNvSpPr txBox="1">
            <a:spLocks noChangeArrowheads="1"/>
          </p:cNvSpPr>
          <p:nvPr/>
        </p:nvSpPr>
        <p:spPr bwMode="auto">
          <a:xfrm>
            <a:off x="6569075" y="63134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0001.646D.CD6C</a:t>
            </a: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68313" y="3789363"/>
            <a:ext cx="8188325" cy="29527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6570" name="文字方塊 41"/>
          <p:cNvSpPr txBox="1">
            <a:spLocks noChangeArrowheads="1"/>
          </p:cNvSpPr>
          <p:nvPr/>
        </p:nvSpPr>
        <p:spPr bwMode="auto">
          <a:xfrm>
            <a:off x="6569075" y="4005263"/>
            <a:ext cx="2147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</a:p>
        </p:txBody>
      </p:sp>
    </p:spTree>
    <p:extLst>
      <p:ext uri="{BB962C8B-B14F-4D97-AF65-F5344CB8AC3E}">
        <p14:creationId xmlns:p14="http://schemas.microsoft.com/office/powerpoint/2010/main" val="217754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9" b="14099"/>
          <a:stretch>
            <a:fillRect/>
          </a:stretch>
        </p:blipFill>
        <p:spPr bwMode="auto">
          <a:xfrm>
            <a:off x="323850" y="1989138"/>
            <a:ext cx="8439150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碰撞區域數目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8612" name="文字方塊 41"/>
          <p:cNvSpPr txBox="1">
            <a:spLocks noChangeArrowheads="1"/>
          </p:cNvSpPr>
          <p:nvPr/>
        </p:nvSpPr>
        <p:spPr bwMode="auto">
          <a:xfrm>
            <a:off x="2963863" y="2024063"/>
            <a:ext cx="32162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二個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5650" y="3500438"/>
            <a:ext cx="3384550" cy="22320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32363" y="3532188"/>
            <a:ext cx="3384550" cy="22320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8615" name="文字方塊 41"/>
          <p:cNvSpPr txBox="1">
            <a:spLocks noChangeArrowheads="1"/>
          </p:cNvSpPr>
          <p:nvPr/>
        </p:nvSpPr>
        <p:spPr bwMode="auto">
          <a:xfrm>
            <a:off x="1314450" y="4648200"/>
            <a:ext cx="2147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</a:p>
        </p:txBody>
      </p:sp>
      <p:sp>
        <p:nvSpPr>
          <p:cNvPr id="68616" name="文字方塊 41"/>
          <p:cNvSpPr txBox="1">
            <a:spLocks noChangeArrowheads="1"/>
          </p:cNvSpPr>
          <p:nvPr/>
        </p:nvSpPr>
        <p:spPr bwMode="auto">
          <a:xfrm>
            <a:off x="5651500" y="4652963"/>
            <a:ext cx="21478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</a:p>
        </p:txBody>
      </p:sp>
    </p:spTree>
    <p:extLst>
      <p:ext uri="{BB962C8B-B14F-4D97-AF65-F5344CB8AC3E}">
        <p14:creationId xmlns:p14="http://schemas.microsoft.com/office/powerpoint/2010/main" val="27804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060575"/>
            <a:ext cx="7839075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碰撞區域數目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8000" y="3644900"/>
            <a:ext cx="8312150" cy="25923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0661" name="文字方塊 41"/>
          <p:cNvSpPr txBox="1">
            <a:spLocks noChangeArrowheads="1"/>
          </p:cNvSpPr>
          <p:nvPr/>
        </p:nvSpPr>
        <p:spPr bwMode="auto">
          <a:xfrm>
            <a:off x="3384550" y="5605463"/>
            <a:ext cx="2147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</a:p>
        </p:txBody>
      </p:sp>
      <p:sp>
        <p:nvSpPr>
          <p:cNvPr id="70662" name="文字方塊 41"/>
          <p:cNvSpPr txBox="1">
            <a:spLocks noChangeArrowheads="1"/>
          </p:cNvSpPr>
          <p:nvPr/>
        </p:nvSpPr>
        <p:spPr bwMode="auto">
          <a:xfrm>
            <a:off x="3014663" y="1589088"/>
            <a:ext cx="32988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一個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碰撞區域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0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ts val="1200"/>
              </a:spcBef>
              <a:spcAft>
                <a:spcPts val="1200"/>
              </a:spcAft>
              <a:defRPr/>
            </a:pPr>
            <a:r>
              <a:rPr lang="zh-TW" altLang="en-US" sz="5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交換器碰撞區域</a:t>
            </a:r>
            <a:endParaRPr lang="en-US" altLang="zh-TW" sz="5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5235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7" b="8167"/>
          <a:stretch>
            <a:fillRect/>
          </a:stretch>
        </p:blipFill>
        <p:spPr bwMode="auto">
          <a:xfrm>
            <a:off x="900113" y="2243138"/>
            <a:ext cx="7091362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1042988" y="5540375"/>
            <a:ext cx="771525" cy="1168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27313" y="5557838"/>
            <a:ext cx="771525" cy="11668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79838" y="3565525"/>
            <a:ext cx="1800225" cy="3159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61063" y="3565525"/>
            <a:ext cx="2030412" cy="3159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79838" y="3573463"/>
            <a:ext cx="1800225" cy="31511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3437220">
            <a:off x="3426619" y="2324894"/>
            <a:ext cx="450850" cy="1785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95242" name="文字方塊 41"/>
          <p:cNvSpPr txBox="1">
            <a:spLocks noChangeArrowheads="1"/>
          </p:cNvSpPr>
          <p:nvPr/>
        </p:nvSpPr>
        <p:spPr bwMode="auto">
          <a:xfrm>
            <a:off x="5961063" y="2100263"/>
            <a:ext cx="29670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zh-TW" altLang="en-US" sz="44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五個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碰撞區域</a:t>
            </a:r>
            <a:endParaRPr lang="en-US" altLang="zh-TW" b="1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243" name="文字方塊 41"/>
          <p:cNvSpPr txBox="1">
            <a:spLocks noChangeArrowheads="1"/>
          </p:cNvSpPr>
          <p:nvPr/>
        </p:nvSpPr>
        <p:spPr bwMode="auto">
          <a:xfrm>
            <a:off x="0" y="1052513"/>
            <a:ext cx="91440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ts val="600"/>
              </a:spcBef>
              <a:spcAft>
                <a:spcPct val="0"/>
              </a:spcAft>
              <a:buFontTx/>
              <a:buNone/>
            </a:pPr>
            <a:r>
              <a:rPr lang="zh-TW" altLang="en-US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一、交換器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上的每一個連接埠算一個碰撞</a:t>
            </a:r>
            <a:r>
              <a:rPr lang="zh-TW" altLang="en-US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</a:t>
            </a:r>
            <a:endParaRPr lang="en-US" altLang="zh-TW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  <a:buNone/>
            </a:pPr>
            <a:r>
              <a:rPr lang="zh-TW" altLang="en-US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二、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流通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量(throughput) 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在固定時間內傳輸</a:t>
            </a:r>
            <a:r>
              <a:rPr lang="zh-TW" altLang="en-US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兩端</a:t>
            </a:r>
            <a:endParaRPr lang="en-US" altLang="zh-TW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ts val="600"/>
              </a:spcBef>
              <a:spcAft>
                <a:spcPct val="0"/>
              </a:spcAft>
              <a:buNone/>
            </a:pPr>
            <a:r>
              <a:rPr lang="en-US" alt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</a:t>
            </a:r>
            <a:r>
              <a:rPr lang="zh-TW" altLang="en-US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之間的封包數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zh-TW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57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路由器多</a:t>
            </a: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個碰撞領域</a:t>
            </a:r>
          </a:p>
        </p:txBody>
      </p:sp>
      <p:sp>
        <p:nvSpPr>
          <p:cNvPr id="158725" name="文字方塊 41"/>
          <p:cNvSpPr txBox="1">
            <a:spLocks noChangeArrowheads="1"/>
          </p:cNvSpPr>
          <p:nvPr/>
        </p:nvSpPr>
        <p:spPr bwMode="auto">
          <a:xfrm>
            <a:off x="0" y="1092200"/>
            <a:ext cx="9144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FontTx/>
              <a:buNone/>
            </a:pP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路由器功能會阻擋廣播資料，故路由器可以切割廣播區域</a:t>
            </a:r>
            <a:endParaRPr lang="en-US" altLang="zh-TW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/>
          <a:srcRect l="4559" t="8229" r="5829" b="13888"/>
          <a:stretch/>
        </p:blipFill>
        <p:spPr>
          <a:xfrm>
            <a:off x="755576" y="2492896"/>
            <a:ext cx="8064896" cy="42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443288"/>
            <a:ext cx="86010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 Table</a:t>
            </a:r>
          </a:p>
        </p:txBody>
      </p:sp>
      <p:sp>
        <p:nvSpPr>
          <p:cNvPr id="97284" name="文字方塊 41"/>
          <p:cNvSpPr txBox="1">
            <a:spLocks noChangeArrowheads="1"/>
          </p:cNvSpPr>
          <p:nvPr/>
        </p:nvSpPr>
        <p:spPr bwMode="auto">
          <a:xfrm>
            <a:off x="0" y="1052513"/>
            <a:ext cx="9144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交換器會維護一個</a:t>
            </a:r>
            <a:r>
              <a:rPr kumimoji="1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 Table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，儲存在記憶體</a:t>
            </a:r>
            <a:r>
              <a:rPr kumimoji="1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RAM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空間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00113" y="3016250"/>
            <a:ext cx="2376487" cy="852488"/>
          </a:xfrm>
          <a:prstGeom prst="rect">
            <a:avLst/>
          </a:prstGeom>
          <a:solidFill>
            <a:schemeClr val="tx1">
              <a:lumMod val="95000"/>
              <a:lumOff val="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目的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0001.646D.CD6C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6600" y="3016250"/>
            <a:ext cx="2303463" cy="852488"/>
          </a:xfrm>
          <a:prstGeom prst="rect">
            <a:avLst/>
          </a:prstGeom>
          <a:solidFill>
            <a:schemeClr val="tx2">
              <a:lumMod val="95000"/>
              <a:lumOff val="5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來源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000D.BD3C.483C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580063" y="3016250"/>
            <a:ext cx="1008062" cy="852488"/>
          </a:xfrm>
          <a:prstGeom prst="rect">
            <a:avLst/>
          </a:prstGeom>
          <a:solidFill>
            <a:schemeClr val="accent6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  <p:sp>
        <p:nvSpPr>
          <p:cNvPr id="5" name="向右箭號 4"/>
          <p:cNvSpPr/>
          <p:nvPr/>
        </p:nvSpPr>
        <p:spPr>
          <a:xfrm>
            <a:off x="6659563" y="3482975"/>
            <a:ext cx="1296987" cy="4048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924300" y="5681663"/>
          <a:ext cx="4714875" cy="98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Port no.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8" marR="91418" marT="45652" marB="45652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MAC address</a:t>
                      </a:r>
                    </a:p>
                  </a:txBody>
                  <a:tcPr marL="91418" marR="91418" marT="45652" marB="45652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Fa0/1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8" marR="91418" marT="45652" marB="456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000D.BD3C.483C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8" marR="91418" marT="45652" marB="4565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向右箭號 25"/>
          <p:cNvSpPr/>
          <p:nvPr/>
        </p:nvSpPr>
        <p:spPr>
          <a:xfrm rot="8134523">
            <a:off x="6832600" y="4924425"/>
            <a:ext cx="1295400" cy="4048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97301" name="文字方塊 41"/>
          <p:cNvSpPr txBox="1">
            <a:spLocks noChangeArrowheads="1"/>
          </p:cNvSpPr>
          <p:nvPr/>
        </p:nvSpPr>
        <p:spPr bwMode="auto">
          <a:xfrm>
            <a:off x="7308850" y="3808413"/>
            <a:ext cx="898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Fa0/1</a:t>
            </a:r>
          </a:p>
        </p:txBody>
      </p:sp>
    </p:spTree>
    <p:extLst>
      <p:ext uri="{BB962C8B-B14F-4D97-AF65-F5344CB8AC3E}">
        <p14:creationId xmlns:p14="http://schemas.microsoft.com/office/powerpoint/2010/main" val="419216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 Table</a:t>
            </a:r>
          </a:p>
        </p:txBody>
      </p:sp>
      <p:pic>
        <p:nvPicPr>
          <p:cNvPr id="99331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300"/>
            <a:ext cx="6119813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364163" y="1273175"/>
          <a:ext cx="3708400" cy="2509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3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Port no.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52" marR="91452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MAC address</a:t>
                      </a:r>
                    </a:p>
                  </a:txBody>
                  <a:tcPr marL="91452" marR="91452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Fa0/1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000D.BD3C.483C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Fa0/2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0010.11E4.2B2B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Fa0/3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Fa0/4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0001.646D.CD6C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52" marR="9145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6" name="群組 15"/>
          <p:cNvGrpSpPr>
            <a:grpSpLocks/>
          </p:cNvGrpSpPr>
          <p:nvPr/>
        </p:nvGrpSpPr>
        <p:grpSpPr bwMode="auto">
          <a:xfrm>
            <a:off x="107950" y="3141663"/>
            <a:ext cx="2519363" cy="2352675"/>
            <a:chOff x="1570434" y="2636912"/>
            <a:chExt cx="2569518" cy="2833067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2122549" y="2636912"/>
              <a:ext cx="2017403" cy="28082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357" name="文字方塊 24"/>
            <p:cNvSpPr txBox="1">
              <a:spLocks noChangeArrowheads="1"/>
            </p:cNvSpPr>
            <p:nvPr/>
          </p:nvSpPr>
          <p:spPr bwMode="auto">
            <a:xfrm>
              <a:off x="1570434" y="4946104"/>
              <a:ext cx="1079500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cxnSp>
        <p:nvCxnSpPr>
          <p:cNvPr id="23" name="直線單箭頭接點 22"/>
          <p:cNvCxnSpPr/>
          <p:nvPr/>
        </p:nvCxnSpPr>
        <p:spPr bwMode="auto">
          <a:xfrm>
            <a:off x="3348038" y="3213100"/>
            <a:ext cx="1871662" cy="20637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54" name="文字方塊 24"/>
          <p:cNvSpPr txBox="1">
            <a:spLocks noChangeArrowheads="1"/>
          </p:cNvSpPr>
          <p:nvPr/>
        </p:nvSpPr>
        <p:spPr bwMode="auto">
          <a:xfrm>
            <a:off x="4133850" y="3783013"/>
            <a:ext cx="1079500" cy="523875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  <p:sp>
        <p:nvSpPr>
          <p:cNvPr id="27" name="向右箭號 26"/>
          <p:cNvSpPr/>
          <p:nvPr/>
        </p:nvSpPr>
        <p:spPr>
          <a:xfrm rot="20469185">
            <a:off x="3328988" y="2479675"/>
            <a:ext cx="1995487" cy="4048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1" name="文字方塊 2"/>
          <p:cNvSpPr txBox="1">
            <a:spLocks noChangeArrowheads="1"/>
          </p:cNvSpPr>
          <p:nvPr/>
        </p:nvSpPr>
        <p:spPr bwMode="auto">
          <a:xfrm>
            <a:off x="8473172" y="710168"/>
            <a:ext cx="660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189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32" y="1091685"/>
            <a:ext cx="53541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Table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若查不到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PC3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 Address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，此時交換器的做法與集線器一樣，只好將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資料傳送給所有連結在交換器的電腦</a:t>
            </a:r>
          </a:p>
        </p:txBody>
      </p:sp>
    </p:spTree>
    <p:extLst>
      <p:ext uri="{BB962C8B-B14F-4D97-AF65-F5344CB8AC3E}">
        <p14:creationId xmlns:p14="http://schemas.microsoft.com/office/powerpoint/2010/main" val="28712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廣播資料</a:t>
            </a:r>
          </a:p>
        </p:txBody>
      </p:sp>
      <p:sp>
        <p:nvSpPr>
          <p:cNvPr id="5" name="矩形 4"/>
          <p:cNvSpPr/>
          <p:nvPr/>
        </p:nvSpPr>
        <p:spPr>
          <a:xfrm>
            <a:off x="899592" y="3717032"/>
            <a:ext cx="3648075" cy="1714500"/>
          </a:xfrm>
          <a:prstGeom prst="rect">
            <a:avLst/>
          </a:prstGeom>
          <a:solidFill>
            <a:schemeClr val="tx1">
              <a:lumMod val="95000"/>
              <a:lumOff val="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FFFF.FFFF.FFFF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44492" y="3717032"/>
            <a:ext cx="3625850" cy="1716087"/>
          </a:xfrm>
          <a:prstGeom prst="rect">
            <a:avLst/>
          </a:prstGeom>
          <a:solidFill>
            <a:schemeClr val="tx2">
              <a:lumMod val="95000"/>
              <a:lumOff val="5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255.255.255.255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0533" name="文字方塊 41"/>
          <p:cNvSpPr txBox="1">
            <a:spLocks noChangeArrowheads="1"/>
          </p:cNvSpPr>
          <p:nvPr/>
        </p:nvSpPr>
        <p:spPr bwMode="auto">
          <a:xfrm>
            <a:off x="4544492" y="5431532"/>
            <a:ext cx="36258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0534" name="文字方塊 7"/>
          <p:cNvSpPr txBox="1">
            <a:spLocks noChangeArrowheads="1"/>
          </p:cNvSpPr>
          <p:nvPr/>
        </p:nvSpPr>
        <p:spPr bwMode="auto">
          <a:xfrm>
            <a:off x="909117" y="5444232"/>
            <a:ext cx="36242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50535" name="文字方塊 41"/>
          <p:cNvSpPr txBox="1">
            <a:spLocks noChangeArrowheads="1"/>
          </p:cNvSpPr>
          <p:nvPr/>
        </p:nvSpPr>
        <p:spPr bwMode="auto">
          <a:xfrm>
            <a:off x="0" y="1092200"/>
            <a:ext cx="9144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所謂廣播資料</a:t>
            </a:r>
            <a:r>
              <a:rPr kumimoji="1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就是在相同區域</a:t>
            </a:r>
            <a:r>
              <a:rPr lang="zh-TW" altLang="en-US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kumimoji="1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將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資料送給所有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電腦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，如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192.168.10.255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此時產生的資料封包為廣播資料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42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</a:t>
            </a:r>
          </a:p>
        </p:txBody>
      </p:sp>
      <p:pic>
        <p:nvPicPr>
          <p:cNvPr id="152579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00"/>
          <a:stretch>
            <a:fillRect/>
          </a:stretch>
        </p:blipFill>
        <p:spPr bwMode="auto">
          <a:xfrm>
            <a:off x="2916238" y="2182813"/>
            <a:ext cx="3025775" cy="423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636838" y="4703763"/>
            <a:ext cx="3519487" cy="20145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52581" name="文字方塊 41"/>
          <p:cNvSpPr txBox="1">
            <a:spLocks noChangeArrowheads="1"/>
          </p:cNvSpPr>
          <p:nvPr/>
        </p:nvSpPr>
        <p:spPr bwMode="auto">
          <a:xfrm>
            <a:off x="3394075" y="6088063"/>
            <a:ext cx="2070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</a:t>
            </a:r>
          </a:p>
        </p:txBody>
      </p:sp>
      <p:sp>
        <p:nvSpPr>
          <p:cNvPr id="152582" name="文字方塊 41"/>
          <p:cNvSpPr txBox="1">
            <a:spLocks noChangeArrowheads="1"/>
          </p:cNvSpPr>
          <p:nvPr/>
        </p:nvSpPr>
        <p:spPr bwMode="auto">
          <a:xfrm>
            <a:off x="0" y="1092200"/>
            <a:ext cx="91440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當幾台電腦位於同一個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</a:t>
            </a: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時，只要有一台電腦發出廣播資料時，其他台電腦即會收到廣播資料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54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不同廣播區域</a:t>
            </a:r>
          </a:p>
        </p:txBody>
      </p:sp>
      <p:sp>
        <p:nvSpPr>
          <p:cNvPr id="15462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觀察Bridge傳送資料的方式</a:t>
            </a:r>
            <a:endParaRPr kumimoji="1" lang="zh-TW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4628" name="Rectangle 2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PC3執行ping 192.168.10.1 </a:t>
            </a:r>
            <a:endParaRPr kumimoji="1" lang="zh-TW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54629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16113"/>
            <a:ext cx="7200900" cy="423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92150" y="2132013"/>
            <a:ext cx="3529013" cy="43195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89475" y="2132013"/>
            <a:ext cx="3698875" cy="43195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54632" name="文字方塊 41"/>
          <p:cNvSpPr txBox="1">
            <a:spLocks noChangeArrowheads="1"/>
          </p:cNvSpPr>
          <p:nvPr/>
        </p:nvSpPr>
        <p:spPr bwMode="auto">
          <a:xfrm>
            <a:off x="1449388" y="5821363"/>
            <a:ext cx="2070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</a:t>
            </a:r>
          </a:p>
        </p:txBody>
      </p:sp>
      <p:sp>
        <p:nvSpPr>
          <p:cNvPr id="154633" name="文字方塊 41"/>
          <p:cNvSpPr txBox="1">
            <a:spLocks noChangeArrowheads="1"/>
          </p:cNvSpPr>
          <p:nvPr/>
        </p:nvSpPr>
        <p:spPr bwMode="auto">
          <a:xfrm>
            <a:off x="5481638" y="5842000"/>
            <a:ext cx="2070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 </a:t>
            </a:r>
          </a:p>
        </p:txBody>
      </p:sp>
      <p:sp>
        <p:nvSpPr>
          <p:cNvPr id="154634" name="文字方塊 41"/>
          <p:cNvSpPr txBox="1">
            <a:spLocks noChangeArrowheads="1"/>
          </p:cNvSpPr>
          <p:nvPr/>
        </p:nvSpPr>
        <p:spPr bwMode="auto">
          <a:xfrm>
            <a:off x="0" y="1092200"/>
            <a:ext cx="91440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在不同廣播區域是無法接收到對方送出的廣播資料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26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同一廣播區域</a:t>
            </a:r>
          </a:p>
        </p:txBody>
      </p:sp>
      <p:sp>
        <p:nvSpPr>
          <p:cNvPr id="15667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觀察Bridge傳送資料的方式</a:t>
            </a:r>
            <a:endParaRPr kumimoji="1" lang="zh-TW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6676" name="Rectangle 2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PC3執行ping 192.168.10.1 </a:t>
            </a:r>
            <a:endParaRPr kumimoji="1" lang="zh-TW" altLang="zh-TW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56677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1433513"/>
            <a:ext cx="8086725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17513" y="2959100"/>
            <a:ext cx="8456612" cy="36893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56679" name="文字方塊 41"/>
          <p:cNvSpPr txBox="1">
            <a:spLocks noChangeArrowheads="1"/>
          </p:cNvSpPr>
          <p:nvPr/>
        </p:nvSpPr>
        <p:spPr bwMode="auto">
          <a:xfrm>
            <a:off x="3168650" y="3881438"/>
            <a:ext cx="2952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廣播區域</a:t>
            </a:r>
          </a:p>
        </p:txBody>
      </p:sp>
      <p:sp>
        <p:nvSpPr>
          <p:cNvPr id="156680" name="文字方塊 41"/>
          <p:cNvSpPr txBox="1">
            <a:spLocks noChangeArrowheads="1"/>
          </p:cNvSpPr>
          <p:nvPr/>
        </p:nvSpPr>
        <p:spPr bwMode="auto">
          <a:xfrm>
            <a:off x="0" y="1092200"/>
            <a:ext cx="9144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當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PC1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送出廣播資料時，無論交換器或集線器都會轉送廣播資料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13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橋接器（</a:t>
            </a: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Bridge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78851" name="文字方塊 41"/>
          <p:cNvSpPr txBox="1">
            <a:spLocks noChangeArrowheads="1"/>
          </p:cNvSpPr>
          <p:nvPr/>
        </p:nvSpPr>
        <p:spPr bwMode="auto">
          <a:xfrm>
            <a:off x="0" y="1089302"/>
            <a:ext cx="9144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交換器的前身是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Bridge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，有二個連接埠，而這二</a:t>
            </a:r>
            <a:r>
              <a:rPr kumimoji="1" lang="zh-TW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個主要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用來連接二個或多個相同或不相同</a:t>
            </a:r>
            <a:r>
              <a:rPr lang="zh-TW" altLang="en-US" b="1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型連接埠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切割碰撞區域</a:t>
            </a:r>
            <a:r>
              <a:rPr lang="zh-TW" altLang="en-US" b="1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，態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的區域網路，可隔離碰撞。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78852" name="Picture 7" descr="http://cdn.shopify.com/s/files/1/0368/1865/products/bridge.back_big_1024x1024.jpg?v=139280199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0" t="17415" r="12117" b="30927"/>
          <a:stretch>
            <a:fillRect/>
          </a:stretch>
        </p:blipFill>
        <p:spPr bwMode="auto">
          <a:xfrm>
            <a:off x="4572000" y="3850208"/>
            <a:ext cx="4189413" cy="213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Picture 9" descr="https://encrypted-tbn2.gstatic.com/images?q=tbn:ANd9GcRnZpH76cd2mvUaEARK6vBA5mQDmv0k6BQdV2cooNVkWwTaFt80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05064"/>
            <a:ext cx="3340100" cy="2663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11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802.11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33785"/>
              </p:ext>
            </p:extLst>
          </p:nvPr>
        </p:nvGraphicFramePr>
        <p:xfrm>
          <a:off x="0" y="1085852"/>
          <a:ext cx="9144001" cy="5013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57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協定</a:t>
                      </a:r>
                    </a:p>
                  </a:txBody>
                  <a:tcPr marT="45735" marB="4573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標準頻寬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最大實際速度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半徑範圍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室內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半徑範圍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室外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</a:t>
                      </a: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2.4GHz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２Ｍ</a:t>
                      </a: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bps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802.11a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5GHz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54Mbps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120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802.11b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2.4GHz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11Mbps</a:t>
                      </a:r>
                      <a:endParaRPr lang="zh-TW" altLang="en-US" sz="26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140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8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802.11g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2.4GHz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54Mbps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140</a:t>
                      </a:r>
                      <a:r>
                        <a:rPr lang="zh-TW" altLang="en-US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7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802.11n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</a:t>
                      </a:r>
                      <a:r>
                        <a:rPr lang="en-US" altLang="zh-TW" sz="2600" b="1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or 5GHz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600Mbps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250</a:t>
                      </a: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5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802.11ac</a:t>
                      </a:r>
                      <a:endParaRPr lang="zh-TW" altLang="en-US" sz="2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baseline="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5GHz</a:t>
                      </a:r>
                      <a:endParaRPr lang="zh-TW" altLang="en-US" sz="2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866.7Mbps</a:t>
                      </a:r>
                      <a:endParaRPr lang="zh-TW" altLang="en-US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20957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-26640" y="6023319"/>
            <a:ext cx="91706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IEEE 802.11是現今無線區域網路通用的標準，它是由國際電機電子工程學會（IEEE）所定義的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無線網路通訊的標準。</a:t>
            </a:r>
          </a:p>
        </p:txBody>
      </p:sp>
    </p:spTree>
    <p:extLst>
      <p:ext uri="{BB962C8B-B14F-4D97-AF65-F5344CB8AC3E}">
        <p14:creationId xmlns:p14="http://schemas.microsoft.com/office/powerpoint/2010/main" val="424899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pwd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242" name="Picture 2" descr="如何解決FTP連線時出現無法取得目錄列表的問題 - 第3张  | 彰化一整天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079500"/>
            <a:ext cx="5132531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0" y="5445224"/>
            <a:ext cx="9144000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print working directory　</a:t>
            </a:r>
          </a:p>
          <a:p>
            <a:pPr algn="ctr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kumimoji="1"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顯示目前工作中的目錄</a:t>
            </a:r>
          </a:p>
        </p:txBody>
      </p:sp>
    </p:spTree>
    <p:extLst>
      <p:ext uri="{BB962C8B-B14F-4D97-AF65-F5344CB8AC3E}">
        <p14:creationId xmlns:p14="http://schemas.microsoft.com/office/powerpoint/2010/main" val="24363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通訊埠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-11495" y="2279828"/>
          <a:ext cx="9144000" cy="4592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66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服務類型</a:t>
                      </a:r>
                    </a:p>
                  </a:txBody>
                  <a:tcPr marT="45735" marB="4573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協定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通訊埠</a:t>
                      </a: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常見應用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FTP</a:t>
                      </a: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21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檔案傳輸伺服器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SSH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22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檔案傳輸伺服器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Telnet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23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BBS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站台</a:t>
                      </a:r>
                      <a:endParaRPr lang="en-US" altLang="zh-TW" sz="2000" b="1" kern="1200" baseline="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SMTP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25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外送郵件伺服器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DNS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TCP/UDP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53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DNS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80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網頁伺服器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POP3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110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內送郵件伺服器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NNTP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119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網路新聞傳輸協定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HTTPS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TCP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443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SSL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有加密網站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RSTP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UDP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554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影音串流伺服器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334" y="1079500"/>
            <a:ext cx="91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通訊埠（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port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），又稱為連接埠，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公認連接埠號（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well-known port numbers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，通常可以辨認出這個連線使用的通訊協定，其中具代表性的是最基礎的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1024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個（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0~1023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）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公認連接埠號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8364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FTP put</a:t>
            </a: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84438" y="1535113"/>
            <a:ext cx="3167062" cy="2381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73325" y="2189163"/>
            <a:ext cx="3168650" cy="2381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84313" y="3643313"/>
            <a:ext cx="4056062" cy="37941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pic>
        <p:nvPicPr>
          <p:cNvPr id="196614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079500"/>
            <a:ext cx="8232775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989263" y="3790950"/>
            <a:ext cx="927100" cy="265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96617" name="矩形 3"/>
          <p:cNvSpPr>
            <a:spLocks noChangeArrowheads="1"/>
          </p:cNvSpPr>
          <p:nvPr/>
        </p:nvSpPr>
        <p:spPr bwMode="auto">
          <a:xfrm>
            <a:off x="1304925" y="4137025"/>
            <a:ext cx="1204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kumimoji="1" lang="en-US" altLang="zh-TW" sz="2000" b="1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Ftp31-2</a:t>
            </a:r>
          </a:p>
        </p:txBody>
      </p:sp>
      <p:sp>
        <p:nvSpPr>
          <p:cNvPr id="12" name="矩形 11"/>
          <p:cNvSpPr/>
          <p:nvPr/>
        </p:nvSpPr>
        <p:spPr>
          <a:xfrm>
            <a:off x="442913" y="4206875"/>
            <a:ext cx="2192337" cy="3000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27100" y="5907088"/>
            <a:ext cx="879475" cy="2571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8" name="矩形 12"/>
          <p:cNvSpPr>
            <a:spLocks noChangeArrowheads="1"/>
          </p:cNvSpPr>
          <p:nvPr/>
        </p:nvSpPr>
        <p:spPr bwMode="auto">
          <a:xfrm>
            <a:off x="1862758" y="5804841"/>
            <a:ext cx="4410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上傳</a:t>
            </a:r>
            <a:r>
              <a:rPr kumimoji="1"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up1</a:t>
            </a:r>
            <a:r>
              <a:rPr kumimoji="1"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至遠端</a:t>
            </a:r>
            <a:r>
              <a:rPr kumimoji="1"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FTP</a:t>
            </a:r>
            <a:r>
              <a:rPr kumimoji="1"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伺服器</a:t>
            </a:r>
            <a:endParaRPr kumimoji="1"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9" name="文字方塊 2"/>
          <p:cNvSpPr txBox="1">
            <a:spLocks noChangeArrowheads="1"/>
          </p:cNvSpPr>
          <p:nvPr/>
        </p:nvSpPr>
        <p:spPr bwMode="auto">
          <a:xfrm>
            <a:off x="8532440" y="696508"/>
            <a:ext cx="6115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216</a:t>
            </a:r>
            <a:endParaRPr lang="zh-TW" altLang="en-US" sz="1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4966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4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079500"/>
            <a:ext cx="7062788" cy="497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FTP get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指令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6375" y="4652963"/>
            <a:ext cx="1439863" cy="2746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77157" name="矩形 12"/>
          <p:cNvSpPr>
            <a:spLocks noChangeArrowheads="1"/>
          </p:cNvSpPr>
          <p:nvPr/>
        </p:nvSpPr>
        <p:spPr bwMode="auto">
          <a:xfrm>
            <a:off x="3095625" y="4559300"/>
            <a:ext cx="4932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下載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PC 2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檔案 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Ftp31-1.txt 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到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PC 1</a:t>
            </a:r>
          </a:p>
        </p:txBody>
      </p:sp>
    </p:spTree>
    <p:extLst>
      <p:ext uri="{BB962C8B-B14F-4D97-AF65-F5344CB8AC3E}">
        <p14:creationId xmlns:p14="http://schemas.microsoft.com/office/powerpoint/2010/main" val="5178864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數據機</a:t>
            </a:r>
          </a:p>
        </p:txBody>
      </p:sp>
      <p:sp>
        <p:nvSpPr>
          <p:cNvPr id="91139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1140" name="Picture 4" descr="http://www.castlenet.com.tw/news/CBC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623219"/>
            <a:ext cx="26289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接點 4"/>
          <p:cNvCxnSpPr/>
          <p:nvPr/>
        </p:nvCxnSpPr>
        <p:spPr>
          <a:xfrm>
            <a:off x="7040563" y="5884863"/>
            <a:ext cx="50482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508875" y="4392613"/>
            <a:ext cx="108108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526338" y="4381500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8562975" y="4392613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096000" y="5884863"/>
            <a:ext cx="50323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564313" y="4392613"/>
            <a:ext cx="50323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6581775" y="4381500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7040563" y="4392613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V="1">
            <a:off x="4772025" y="5873750"/>
            <a:ext cx="900113" cy="952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5635625" y="4381500"/>
            <a:ext cx="50482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5653088" y="4370388"/>
            <a:ext cx="0" cy="151288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113463" y="4381500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8589963" y="5883275"/>
            <a:ext cx="50323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154" name="文字方塊 10"/>
          <p:cNvSpPr txBox="1">
            <a:spLocks noChangeArrowheads="1"/>
          </p:cNvSpPr>
          <p:nvPr/>
        </p:nvSpPr>
        <p:spPr bwMode="auto">
          <a:xfrm>
            <a:off x="4845050" y="3816350"/>
            <a:ext cx="8175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5" name="文字方塊 10"/>
          <p:cNvSpPr txBox="1">
            <a:spLocks noChangeArrowheads="1"/>
          </p:cNvSpPr>
          <p:nvPr/>
        </p:nvSpPr>
        <p:spPr bwMode="auto">
          <a:xfrm>
            <a:off x="5619750" y="3817938"/>
            <a:ext cx="4841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6" name="文字方塊 10"/>
          <p:cNvSpPr txBox="1">
            <a:spLocks noChangeArrowheads="1"/>
          </p:cNvSpPr>
          <p:nvPr/>
        </p:nvSpPr>
        <p:spPr bwMode="auto">
          <a:xfrm>
            <a:off x="6105525" y="3816350"/>
            <a:ext cx="43973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7" name="文字方塊 10"/>
          <p:cNvSpPr txBox="1">
            <a:spLocks noChangeArrowheads="1"/>
          </p:cNvSpPr>
          <p:nvPr/>
        </p:nvSpPr>
        <p:spPr bwMode="auto">
          <a:xfrm>
            <a:off x="6592888" y="3817938"/>
            <a:ext cx="48418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8" name="文字方塊 10"/>
          <p:cNvSpPr txBox="1">
            <a:spLocks noChangeArrowheads="1"/>
          </p:cNvSpPr>
          <p:nvPr/>
        </p:nvSpPr>
        <p:spPr bwMode="auto">
          <a:xfrm>
            <a:off x="7023100" y="3816350"/>
            <a:ext cx="4413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9" name="文字方塊 10"/>
          <p:cNvSpPr txBox="1">
            <a:spLocks noChangeArrowheads="1"/>
          </p:cNvSpPr>
          <p:nvPr/>
        </p:nvSpPr>
        <p:spPr bwMode="auto">
          <a:xfrm>
            <a:off x="7510463" y="3825875"/>
            <a:ext cx="115093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１１１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0" name="文字方塊 10"/>
          <p:cNvSpPr txBox="1">
            <a:spLocks noChangeArrowheads="1"/>
          </p:cNvSpPr>
          <p:nvPr/>
        </p:nvSpPr>
        <p:spPr bwMode="auto">
          <a:xfrm>
            <a:off x="8599488" y="3816350"/>
            <a:ext cx="43973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1" name="文字方塊 10"/>
          <p:cNvSpPr txBox="1">
            <a:spLocks noChangeArrowheads="1"/>
          </p:cNvSpPr>
          <p:nvPr/>
        </p:nvSpPr>
        <p:spPr bwMode="auto">
          <a:xfrm>
            <a:off x="4772025" y="5757863"/>
            <a:ext cx="4321175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數位訊號</a:t>
            </a:r>
            <a:endParaRPr kumimoji="1" lang="en-US" altLang="zh-TW" sz="4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2" name="文字方塊 10"/>
          <p:cNvSpPr txBox="1">
            <a:spLocks noChangeArrowheads="1"/>
          </p:cNvSpPr>
          <p:nvPr/>
        </p:nvSpPr>
        <p:spPr bwMode="auto">
          <a:xfrm>
            <a:off x="-7938" y="5732463"/>
            <a:ext cx="43195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類比訊號</a:t>
            </a:r>
            <a:endParaRPr kumimoji="1" lang="en-US" altLang="zh-TW" sz="4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3" name="文字方塊 10"/>
          <p:cNvSpPr txBox="1">
            <a:spLocks noChangeArrowheads="1"/>
          </p:cNvSpPr>
          <p:nvPr/>
        </p:nvSpPr>
        <p:spPr bwMode="auto">
          <a:xfrm>
            <a:off x="3475038" y="3738563"/>
            <a:ext cx="1406525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轉換</a:t>
            </a:r>
            <a:endParaRPr kumimoji="1" lang="en-US" altLang="zh-TW" sz="4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44433" name="手繪多邊形 444432"/>
          <p:cNvSpPr/>
          <p:nvPr/>
        </p:nvSpPr>
        <p:spPr>
          <a:xfrm>
            <a:off x="115888" y="3863975"/>
            <a:ext cx="2816225" cy="1558925"/>
          </a:xfrm>
          <a:custGeom>
            <a:avLst/>
            <a:gdLst>
              <a:gd name="connsiteX0" fmla="*/ 0 w 3629608"/>
              <a:gd name="connsiteY0" fmla="*/ 2071453 h 2071453"/>
              <a:gd name="connsiteX1" fmla="*/ 438539 w 3629608"/>
              <a:gd name="connsiteY1" fmla="*/ 57 h 2071453"/>
              <a:gd name="connsiteX2" fmla="*/ 970384 w 3629608"/>
              <a:gd name="connsiteY2" fmla="*/ 1996808 h 2071453"/>
              <a:gd name="connsiteX3" fmla="*/ 1539551 w 3629608"/>
              <a:gd name="connsiteY3" fmla="*/ 46710 h 2071453"/>
              <a:gd name="connsiteX4" fmla="*/ 1940767 w 3629608"/>
              <a:gd name="connsiteY4" fmla="*/ 1950155 h 2071453"/>
              <a:gd name="connsiteX5" fmla="*/ 2519265 w 3629608"/>
              <a:gd name="connsiteY5" fmla="*/ 102694 h 2071453"/>
              <a:gd name="connsiteX6" fmla="*/ 2957804 w 3629608"/>
              <a:gd name="connsiteY6" fmla="*/ 1968816 h 2071453"/>
              <a:gd name="connsiteX7" fmla="*/ 3629608 w 3629608"/>
              <a:gd name="connsiteY7" fmla="*/ 821151 h 2071453"/>
              <a:gd name="connsiteX8" fmla="*/ 3629608 w 3629608"/>
              <a:gd name="connsiteY8" fmla="*/ 821151 h 207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9608" h="2071453">
                <a:moveTo>
                  <a:pt x="0" y="2071453"/>
                </a:moveTo>
                <a:cubicBezTo>
                  <a:pt x="138404" y="1041975"/>
                  <a:pt x="276809" y="12498"/>
                  <a:pt x="438539" y="57"/>
                </a:cubicBezTo>
                <a:cubicBezTo>
                  <a:pt x="600269" y="-12384"/>
                  <a:pt x="786882" y="1989033"/>
                  <a:pt x="970384" y="1996808"/>
                </a:cubicBezTo>
                <a:cubicBezTo>
                  <a:pt x="1153886" y="2004583"/>
                  <a:pt x="1377821" y="54485"/>
                  <a:pt x="1539551" y="46710"/>
                </a:cubicBezTo>
                <a:cubicBezTo>
                  <a:pt x="1701281" y="38935"/>
                  <a:pt x="1777481" y="1940824"/>
                  <a:pt x="1940767" y="1950155"/>
                </a:cubicBezTo>
                <a:cubicBezTo>
                  <a:pt x="2104053" y="1959486"/>
                  <a:pt x="2349759" y="99584"/>
                  <a:pt x="2519265" y="102694"/>
                </a:cubicBezTo>
                <a:cubicBezTo>
                  <a:pt x="2688771" y="105804"/>
                  <a:pt x="2772747" y="1849073"/>
                  <a:pt x="2957804" y="1968816"/>
                </a:cubicBezTo>
                <a:cubicBezTo>
                  <a:pt x="3142861" y="2088559"/>
                  <a:pt x="3629608" y="821151"/>
                  <a:pt x="3629608" y="821151"/>
                </a:cubicBezTo>
                <a:lnTo>
                  <a:pt x="3629608" y="821151"/>
                </a:ln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44434" name="左-右雙向箭號 444433"/>
          <p:cNvSpPr/>
          <p:nvPr/>
        </p:nvSpPr>
        <p:spPr>
          <a:xfrm>
            <a:off x="3135313" y="4605338"/>
            <a:ext cx="2076450" cy="828675"/>
          </a:xfrm>
          <a:prstGeom prst="leftRightArrow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36238" y="1132909"/>
            <a:ext cx="5704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數據機（調變解調器）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傳送資料：調變器將數位訊號調變為類比訊號，經由通訊線路傳送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接收資料：解調器將經由通訊線路接收的類比訊號轉換回數位訊號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16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2" name="Picture 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963" y="1436688"/>
            <a:ext cx="1017587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" name="直線接點 34"/>
          <p:cNvCxnSpPr/>
          <p:nvPr/>
        </p:nvCxnSpPr>
        <p:spPr>
          <a:xfrm flipH="1" flipV="1">
            <a:off x="5635625" y="1990725"/>
            <a:ext cx="2082800" cy="27051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10BaseT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乙太網路</a:t>
            </a:r>
          </a:p>
        </p:txBody>
      </p:sp>
      <p:pic>
        <p:nvPicPr>
          <p:cNvPr id="189445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263" y="4594225"/>
            <a:ext cx="6762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9446" name="Picture 5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4616450"/>
            <a:ext cx="5715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9447" name="Picture 6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0" y="4672013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9448" name="Text Box 50"/>
          <p:cNvSpPr txBox="1">
            <a:spLocks noChangeArrowheads="1"/>
          </p:cNvSpPr>
          <p:nvPr/>
        </p:nvSpPr>
        <p:spPr bwMode="auto">
          <a:xfrm>
            <a:off x="5372100" y="1381125"/>
            <a:ext cx="13557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交換器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89449" name="Text Box 50"/>
          <p:cNvSpPr txBox="1">
            <a:spLocks noChangeArrowheads="1"/>
          </p:cNvSpPr>
          <p:nvPr/>
        </p:nvSpPr>
        <p:spPr bwMode="auto">
          <a:xfrm>
            <a:off x="4762500" y="5595938"/>
            <a:ext cx="1955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網路工作站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22" name="直線接點 21"/>
          <p:cNvCxnSpPr/>
          <p:nvPr/>
        </p:nvCxnSpPr>
        <p:spPr>
          <a:xfrm flipH="1" flipV="1">
            <a:off x="5105400" y="1990725"/>
            <a:ext cx="704850" cy="262572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3505200" y="1852613"/>
            <a:ext cx="1366838" cy="284321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452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975" y="4491038"/>
            <a:ext cx="6762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9453" name="Text Box 50"/>
          <p:cNvSpPr txBox="1">
            <a:spLocks noChangeArrowheads="1"/>
          </p:cNvSpPr>
          <p:nvPr/>
        </p:nvSpPr>
        <p:spPr bwMode="auto">
          <a:xfrm>
            <a:off x="6937375" y="5595938"/>
            <a:ext cx="1955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網路工作站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89454" name="Text Box 50"/>
          <p:cNvSpPr txBox="1">
            <a:spLocks noChangeArrowheads="1"/>
          </p:cNvSpPr>
          <p:nvPr/>
        </p:nvSpPr>
        <p:spPr bwMode="auto">
          <a:xfrm>
            <a:off x="2114550" y="5589588"/>
            <a:ext cx="1955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使用者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89455" name="Text Box 50"/>
          <p:cNvSpPr txBox="1">
            <a:spLocks noChangeArrowheads="1"/>
          </p:cNvSpPr>
          <p:nvPr/>
        </p:nvSpPr>
        <p:spPr bwMode="auto">
          <a:xfrm>
            <a:off x="176213" y="1852613"/>
            <a:ext cx="3890962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表示頻寬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10Mbps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表示雙紋線　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Twisted Pair</a:t>
            </a:r>
          </a:p>
        </p:txBody>
      </p:sp>
      <p:sp>
        <p:nvSpPr>
          <p:cNvPr id="189456" name="Text Box 50"/>
          <p:cNvSpPr txBox="1">
            <a:spLocks noChangeArrowheads="1"/>
          </p:cNvSpPr>
          <p:nvPr/>
        </p:nvSpPr>
        <p:spPr bwMode="auto">
          <a:xfrm>
            <a:off x="4056063" y="3754438"/>
            <a:ext cx="38925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每段線不超過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100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公尺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64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2443899" y="1072670"/>
            <a:ext cx="2216626" cy="5778500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58901" y="1065840"/>
            <a:ext cx="2216626" cy="5778500"/>
          </a:xfrm>
          <a:prstGeom prst="rect">
            <a:avLst/>
          </a:prstGeom>
          <a:solidFill>
            <a:schemeClr val="bg1">
              <a:lumMod val="7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76256" y="1079500"/>
            <a:ext cx="2279977" cy="5778500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網路速度比較</a:t>
            </a:r>
          </a:p>
        </p:txBody>
      </p:sp>
      <p:sp>
        <p:nvSpPr>
          <p:cNvPr id="313351" name="矩形 10"/>
          <p:cNvSpPr>
            <a:spLocks noChangeArrowheads="1"/>
          </p:cNvSpPr>
          <p:nvPr/>
        </p:nvSpPr>
        <p:spPr bwMode="auto">
          <a:xfrm>
            <a:off x="4664790" y="2869642"/>
            <a:ext cx="219349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 smtClean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Wi-Fi 6</a:t>
            </a:r>
            <a:r>
              <a:rPr kumimoji="1" lang="en-US" altLang="zh-TW" sz="4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9.6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kumimoji="1" lang="en-US" altLang="zh-TW" sz="2800" b="1" dirty="0" err="1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Gbps</a:t>
            </a:r>
            <a:endParaRPr kumimoji="1"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13352" name="矩形 10"/>
          <p:cNvSpPr>
            <a:spLocks noChangeArrowheads="1"/>
          </p:cNvSpPr>
          <p:nvPr/>
        </p:nvSpPr>
        <p:spPr bwMode="auto">
          <a:xfrm>
            <a:off x="4648510" y="1543050"/>
            <a:ext cx="222774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無線網路</a:t>
            </a:r>
            <a:endParaRPr kumimoji="1"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42600" y="1239904"/>
            <a:ext cx="26279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非同步</a:t>
            </a:r>
            <a:endParaRPr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4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傳輸模式</a:t>
            </a:r>
            <a:endParaRPr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6885918" y="2996952"/>
            <a:ext cx="2243662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 smtClean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OC-1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51.84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Mbps</a:t>
            </a:r>
            <a:endParaRPr kumimoji="1"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7" name="矩形 10"/>
          <p:cNvSpPr>
            <a:spLocks noChangeArrowheads="1"/>
          </p:cNvSpPr>
          <p:nvPr/>
        </p:nvSpPr>
        <p:spPr bwMode="auto">
          <a:xfrm>
            <a:off x="6864243" y="1558941"/>
            <a:ext cx="22653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TW" altLang="en-US" sz="4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廣域網路</a:t>
            </a:r>
            <a:endParaRPr kumimoji="1"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8" name="文字方塊 2"/>
          <p:cNvSpPr txBox="1">
            <a:spLocks noChangeArrowheads="1"/>
          </p:cNvSpPr>
          <p:nvPr/>
        </p:nvSpPr>
        <p:spPr bwMode="auto">
          <a:xfrm>
            <a:off x="8460432" y="696508"/>
            <a:ext cx="6835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1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247</a:t>
            </a:r>
            <a:endParaRPr lang="zh-TW" altLang="en-US" sz="1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0"/>
          <p:cNvSpPr>
            <a:spLocks noChangeArrowheads="1"/>
          </p:cNvSpPr>
          <p:nvPr/>
        </p:nvSpPr>
        <p:spPr bwMode="auto">
          <a:xfrm>
            <a:off x="2450518" y="2879610"/>
            <a:ext cx="219349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 smtClean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Wi-Fi 6</a:t>
            </a:r>
            <a:r>
              <a:rPr kumimoji="1" lang="en-US" altLang="zh-TW" sz="4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2.6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kumimoji="1" lang="en-US" altLang="zh-TW" sz="2800" b="1" dirty="0" err="1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Gbps</a:t>
            </a:r>
            <a:endParaRPr kumimoji="1"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-12232" y="1065840"/>
            <a:ext cx="2454096" cy="5778500"/>
          </a:xfrm>
          <a:prstGeom prst="rect">
            <a:avLst/>
          </a:prstGeom>
          <a:solidFill>
            <a:schemeClr val="bg1">
              <a:lumMod val="5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-72216" y="1233074"/>
            <a:ext cx="26279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非同步</a:t>
            </a:r>
            <a:endParaRPr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sz="4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傳輸模式</a:t>
            </a:r>
            <a:endParaRPr lang="en-US" altLang="zh-TW" sz="4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3" name="矩形 10"/>
          <p:cNvSpPr>
            <a:spLocks noChangeArrowheads="1"/>
          </p:cNvSpPr>
          <p:nvPr/>
        </p:nvSpPr>
        <p:spPr bwMode="auto">
          <a:xfrm>
            <a:off x="255568" y="2872780"/>
            <a:ext cx="21934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000" b="1" dirty="0" smtClean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VDSL2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300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8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  Mbps</a:t>
            </a:r>
            <a:endParaRPr kumimoji="1" lang="en-US" altLang="zh-TW" sz="28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989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NIC</a:t>
            </a:r>
            <a:endParaRPr kumimoji="1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18653" y="1196752"/>
            <a:ext cx="875759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 interface card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，網路介面卡，是一塊被設計用來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允許</a:t>
            </a: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電腦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在電腦網路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上進行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通訊的電腦硬體。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由於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其擁有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MAC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位址，因此屬於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OSI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模型的第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層。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它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使得用戶可以通過電纜或無線相互連線。</a:t>
            </a:r>
          </a:p>
        </p:txBody>
      </p:sp>
      <p:pic>
        <p:nvPicPr>
          <p:cNvPr id="5122" name="Picture 2" descr="圖片搜尋結果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68"/>
          <a:stretch/>
        </p:blipFill>
        <p:spPr bwMode="auto">
          <a:xfrm>
            <a:off x="3131840" y="4005064"/>
            <a:ext cx="3484637" cy="234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39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乙太網路技術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6" y="1196752"/>
            <a:ext cx="9083534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1763" y="3284984"/>
            <a:ext cx="1263894" cy="24340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9552" y="2492896"/>
            <a:ext cx="1263894" cy="24340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28057" y="6209929"/>
            <a:ext cx="423663" cy="24340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6" name="Text Box 50"/>
          <p:cNvSpPr txBox="1">
            <a:spLocks noChangeArrowheads="1"/>
          </p:cNvSpPr>
          <p:nvPr/>
        </p:nvSpPr>
        <p:spPr bwMode="auto">
          <a:xfrm>
            <a:off x="2109788" y="4005885"/>
            <a:ext cx="38925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每段線不超過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100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公尺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09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IPv4  Class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0" y="1081088"/>
          <a:ext cx="9143999" cy="577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7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37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等級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第一位數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申請</a:t>
                      </a:r>
                      <a:r>
                        <a:rPr lang="en-US" altLang="zh-TW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</a:t>
                      </a:r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適用單位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6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0~127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16777216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政府機關、國家級研究單位、跨國企業</a:t>
                      </a: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128~191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65536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大企業、電信業者、學術單位（大專院校）</a:t>
                      </a: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6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</a:t>
                      </a:r>
                    </a:p>
                  </a:txBody>
                  <a:tcPr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192~223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256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一般企業、家庭、學術單位（高、國中小）</a:t>
                      </a: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1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</a:t>
                      </a:r>
                    </a:p>
                  </a:txBody>
                  <a:tcPr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224~239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TW" altLang="en-US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保留做為特殊用途，例如廣播、學術研究等</a:t>
                      </a: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4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</a:t>
                      </a:r>
                    </a:p>
                  </a:txBody>
                  <a:tcPr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240~255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4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私有</a:t>
            </a: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IP</a:t>
            </a: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列表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786835"/>
              </p:ext>
            </p:extLst>
          </p:nvPr>
        </p:nvGraphicFramePr>
        <p:xfrm>
          <a:off x="0" y="1081088"/>
          <a:ext cx="9144001" cy="4652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137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級別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範圍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網路遮罩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</a:t>
                      </a:r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8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10.0.0.0~</a:t>
                      </a:r>
                    </a:p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10.255.255.255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255.0.0.0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16,777,216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38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B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172.16.0.0~</a:t>
                      </a:r>
                    </a:p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172.31.255.255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255.255.0.0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1,048,576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1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C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192.168.0.0~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192.168.255.255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255.255.255.0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65,536</a:t>
                      </a:r>
                      <a:endParaRPr lang="zh-TW" altLang="en-US" sz="2800" b="1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0" y="602700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以子網路遮罩進行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網路分割，應為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255.255.x.x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不可皆為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（皆為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0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則是預設子遮罩，不可進行分割）</a:t>
            </a:r>
          </a:p>
        </p:txBody>
      </p:sp>
    </p:spTree>
    <p:extLst>
      <p:ext uri="{BB962C8B-B14F-4D97-AF65-F5344CB8AC3E}">
        <p14:creationId xmlns:p14="http://schemas.microsoft.com/office/powerpoint/2010/main" val="351112062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載波偵測多重存取</a:t>
            </a: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碰撞偵測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2707" name="文字方塊 41"/>
          <p:cNvSpPr txBox="1">
            <a:spLocks noChangeArrowheads="1"/>
          </p:cNvSpPr>
          <p:nvPr/>
        </p:nvSpPr>
        <p:spPr bwMode="auto">
          <a:xfrm>
            <a:off x="0" y="957263"/>
            <a:ext cx="9144000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CSMA/CD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Carrier Sense Multiple Access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防止碰撞機制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Collision Detection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　　　：</a:t>
            </a: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偵測碰撞機制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集線器產生資料碰撞情況分為二種：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一、當有一台電腦使用匯流排在傳送資料時，此時　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其他電腦送出資料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二、匯流排沒有在傳輸資料，此時二台電腦同一時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　　間送出資料</a:t>
            </a: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54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CSMA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運作原理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4755" name="文字方塊 41"/>
          <p:cNvSpPr txBox="1">
            <a:spLocks noChangeArrowheads="1"/>
          </p:cNvSpPr>
          <p:nvPr/>
        </p:nvSpPr>
        <p:spPr bwMode="auto">
          <a:xfrm>
            <a:off x="0" y="1098550"/>
            <a:ext cx="914400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Carrier Sense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技術用來偵測集線器的匯流排中是否有資料在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傳輸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①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它是使用在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LAN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上的媒體存取方法②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當後退期間到期後，每個主機檢查看看是否網路媒體是否閒置，然後嘗試傳送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③當設備需要傳輸，它檢查看看是否媒體可以用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2589213"/>
            <a:ext cx="7993063" cy="719137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74757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5651500"/>
            <a:ext cx="8763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8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63" y="5613400"/>
            <a:ext cx="9144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9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488" y="5684838"/>
            <a:ext cx="8001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0" name="圖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5613400"/>
            <a:ext cx="8096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 flipH="1">
            <a:off x="1606550" y="3001963"/>
            <a:ext cx="4763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>
            <a:off x="3516313" y="2967038"/>
            <a:ext cx="6350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11188" y="2940050"/>
            <a:ext cx="7777162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H="1">
            <a:off x="5443538" y="3001963"/>
            <a:ext cx="6350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H="1">
            <a:off x="7265988" y="2998788"/>
            <a:ext cx="4762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1692275" y="3525838"/>
            <a:ext cx="568801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1692275" y="3552825"/>
            <a:ext cx="9525" cy="22225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68" name="文字方塊 24"/>
          <p:cNvSpPr txBox="1">
            <a:spLocks noChangeArrowheads="1"/>
          </p:cNvSpPr>
          <p:nvPr/>
        </p:nvSpPr>
        <p:spPr bwMode="auto">
          <a:xfrm>
            <a:off x="1763713" y="4664075"/>
            <a:ext cx="1079500" cy="523875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  <p:sp>
        <p:nvSpPr>
          <p:cNvPr id="74769" name="文字方塊 34"/>
          <p:cNvSpPr txBox="1">
            <a:spLocks noChangeArrowheads="1"/>
          </p:cNvSpPr>
          <p:nvPr/>
        </p:nvSpPr>
        <p:spPr bwMode="auto">
          <a:xfrm>
            <a:off x="7635875" y="5927725"/>
            <a:ext cx="1081088" cy="523875"/>
          </a:xfrm>
          <a:prstGeom prst="rect">
            <a:avLst/>
          </a:prstGeom>
          <a:solidFill>
            <a:srgbClr val="66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</a:t>
            </a:r>
          </a:p>
        </p:txBody>
      </p:sp>
      <p:grpSp>
        <p:nvGrpSpPr>
          <p:cNvPr id="2" name="群組 1"/>
          <p:cNvGrpSpPr>
            <a:grpSpLocks/>
          </p:cNvGrpSpPr>
          <p:nvPr/>
        </p:nvGrpSpPr>
        <p:grpSpPr bwMode="auto">
          <a:xfrm>
            <a:off x="7451725" y="3308350"/>
            <a:ext cx="1081088" cy="1474788"/>
            <a:chOff x="7451725" y="3308860"/>
            <a:chExt cx="1081088" cy="1474138"/>
          </a:xfrm>
        </p:grpSpPr>
        <p:cxnSp>
          <p:nvCxnSpPr>
            <p:cNvPr id="25" name="直線單箭頭接點 24"/>
            <p:cNvCxnSpPr/>
            <p:nvPr/>
          </p:nvCxnSpPr>
          <p:spPr>
            <a:xfrm flipH="1" flipV="1">
              <a:off x="7683500" y="3308860"/>
              <a:ext cx="1588" cy="95842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34"/>
            <p:cNvSpPr txBox="1">
              <a:spLocks noChangeArrowheads="1"/>
            </p:cNvSpPr>
            <p:nvPr/>
          </p:nvSpPr>
          <p:spPr bwMode="auto">
            <a:xfrm>
              <a:off x="7451725" y="4259354"/>
              <a:ext cx="1081088" cy="52364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CS</a:t>
              </a:r>
              <a:endPara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78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CD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運作原理</a:t>
            </a:r>
            <a:endParaRPr kumimoji="1" lang="en-US" altLang="zh-TW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76803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5651500"/>
            <a:ext cx="8763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63" y="5613400"/>
            <a:ext cx="9144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488" y="5684838"/>
            <a:ext cx="8001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圖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5613400"/>
            <a:ext cx="8096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 flipH="1">
            <a:off x="1606550" y="3001963"/>
            <a:ext cx="4763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H="1">
            <a:off x="3516313" y="2967038"/>
            <a:ext cx="6350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11188" y="2940050"/>
            <a:ext cx="7777162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H="1">
            <a:off x="5443538" y="3001963"/>
            <a:ext cx="6350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H="1">
            <a:off x="7265988" y="2998788"/>
            <a:ext cx="4762" cy="28082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/>
          <p:cNvGrpSpPr>
            <a:grpSpLocks/>
          </p:cNvGrpSpPr>
          <p:nvPr/>
        </p:nvGrpSpPr>
        <p:grpSpPr bwMode="auto">
          <a:xfrm>
            <a:off x="1692275" y="3552825"/>
            <a:ext cx="1150938" cy="2222500"/>
            <a:chOff x="1692275" y="3553334"/>
            <a:chExt cx="1150938" cy="2222500"/>
          </a:xfrm>
        </p:grpSpPr>
        <p:cxnSp>
          <p:nvCxnSpPr>
            <p:cNvPr id="22" name="直線單箭頭接點 21"/>
            <p:cNvCxnSpPr/>
            <p:nvPr/>
          </p:nvCxnSpPr>
          <p:spPr>
            <a:xfrm flipV="1">
              <a:off x="1692275" y="3553334"/>
              <a:ext cx="9525" cy="22225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825" name="文字方塊 24"/>
            <p:cNvSpPr txBox="1">
              <a:spLocks noChangeArrowheads="1"/>
            </p:cNvSpPr>
            <p:nvPr/>
          </p:nvSpPr>
          <p:spPr bwMode="auto">
            <a:xfrm>
              <a:off x="1763713" y="4664584"/>
              <a:ext cx="1079500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grpSp>
        <p:nvGrpSpPr>
          <p:cNvPr id="34" name="群組 33"/>
          <p:cNvGrpSpPr>
            <a:grpSpLocks/>
          </p:cNvGrpSpPr>
          <p:nvPr/>
        </p:nvGrpSpPr>
        <p:grpSpPr bwMode="auto">
          <a:xfrm>
            <a:off x="7396163" y="3384550"/>
            <a:ext cx="1165225" cy="2363788"/>
            <a:chOff x="7396745" y="3384550"/>
            <a:chExt cx="1164643" cy="2363646"/>
          </a:xfrm>
        </p:grpSpPr>
        <p:cxnSp>
          <p:nvCxnSpPr>
            <p:cNvPr id="25" name="直線單箭頭接點 24"/>
            <p:cNvCxnSpPr/>
            <p:nvPr/>
          </p:nvCxnSpPr>
          <p:spPr>
            <a:xfrm flipH="1" flipV="1">
              <a:off x="7396745" y="3384550"/>
              <a:ext cx="12694" cy="236364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823" name="文字方塊 34"/>
            <p:cNvSpPr txBox="1">
              <a:spLocks noChangeArrowheads="1"/>
            </p:cNvSpPr>
            <p:nvPr/>
          </p:nvSpPr>
          <p:spPr bwMode="auto">
            <a:xfrm>
              <a:off x="7480300" y="4673030"/>
              <a:ext cx="1081088" cy="523875"/>
            </a:xfrm>
            <a:prstGeom prst="rect">
              <a:avLst/>
            </a:pr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資料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539750" y="2589213"/>
            <a:ext cx="7993063" cy="719137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grpSp>
        <p:nvGrpSpPr>
          <p:cNvPr id="4" name="群組 3"/>
          <p:cNvGrpSpPr>
            <a:grpSpLocks/>
          </p:cNvGrpSpPr>
          <p:nvPr/>
        </p:nvGrpSpPr>
        <p:grpSpPr bwMode="auto">
          <a:xfrm>
            <a:off x="5540375" y="3281363"/>
            <a:ext cx="1081088" cy="2197100"/>
            <a:chOff x="5540375" y="3281363"/>
            <a:chExt cx="1081088" cy="2197100"/>
          </a:xfrm>
        </p:grpSpPr>
        <p:sp>
          <p:nvSpPr>
            <p:cNvPr id="30" name="文字方塊 34"/>
            <p:cNvSpPr txBox="1">
              <a:spLocks noChangeArrowheads="1"/>
            </p:cNvSpPr>
            <p:nvPr/>
          </p:nvSpPr>
          <p:spPr bwMode="auto">
            <a:xfrm>
              <a:off x="5540375" y="4954588"/>
              <a:ext cx="1081088" cy="5238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JAM</a:t>
              </a:r>
              <a:endPara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cxnSp>
          <p:nvCxnSpPr>
            <p:cNvPr id="23" name="直線單箭頭接點 22"/>
            <p:cNvCxnSpPr/>
            <p:nvPr/>
          </p:nvCxnSpPr>
          <p:spPr bwMode="auto">
            <a:xfrm flipV="1">
              <a:off x="6075363" y="3281363"/>
              <a:ext cx="6350" cy="16668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群組 2"/>
          <p:cNvGrpSpPr>
            <a:grpSpLocks/>
          </p:cNvGrpSpPr>
          <p:nvPr/>
        </p:nvGrpSpPr>
        <p:grpSpPr bwMode="auto">
          <a:xfrm>
            <a:off x="1712913" y="3152775"/>
            <a:ext cx="5573712" cy="1976438"/>
            <a:chOff x="1712913" y="3152775"/>
            <a:chExt cx="5573712" cy="1976438"/>
          </a:xfrm>
        </p:grpSpPr>
        <p:cxnSp>
          <p:nvCxnSpPr>
            <p:cNvPr id="32" name="直線單箭頭接點 31"/>
            <p:cNvCxnSpPr/>
            <p:nvPr/>
          </p:nvCxnSpPr>
          <p:spPr bwMode="auto">
            <a:xfrm>
              <a:off x="1712913" y="3308350"/>
              <a:ext cx="557371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橢圓 1"/>
            <p:cNvSpPr/>
            <p:nvPr/>
          </p:nvSpPr>
          <p:spPr bwMode="auto">
            <a:xfrm>
              <a:off x="4678363" y="3152775"/>
              <a:ext cx="1008062" cy="197643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CD</a:t>
              </a:r>
              <a:endParaRPr kumimoji="1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76817" name="文字方塊 41"/>
          <p:cNvSpPr txBox="1">
            <a:spLocks noChangeArrowheads="1"/>
          </p:cNvSpPr>
          <p:nvPr/>
        </p:nvSpPr>
        <p:spPr bwMode="auto">
          <a:xfrm>
            <a:off x="0" y="1079500"/>
            <a:ext cx="91440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CD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Collision Detection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技術偵測集線器的匯流排中是否即將有碰撞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發生，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①在壅塞訊號之後，所有傳輸停止一段隨機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周期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②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碰撞被偵測到，主機持續一段短時間以壅塞樣式傳輸來確保所有主機偵測到此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碰撞③同一時間只有一個設備能成功地傳輸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TW" altLang="en-US" dirty="0" smtClean="0">
                <a:latin typeface="新細明體" panose="02020500000000000000" pitchFamily="18" charset="-120"/>
              </a:rPr>
              <a:t> </a:t>
            </a:r>
            <a:endParaRPr lang="en-US" altLang="zh-TW" dirty="0">
              <a:latin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54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雙絞線線材等級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0" y="1071563"/>
          <a:ext cx="9144000" cy="4949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4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9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等級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最高傳輸速率</a:t>
                      </a:r>
                      <a:endParaRPr lang="en-US" altLang="zh-TW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用途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1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      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語音通訊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2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indent="-4572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lain" startAt="4"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語音通訊、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4Mbps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記號環網路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3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 Base T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16Mbps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記號環網路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4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     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 Base T4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16Mbps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記號環網路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5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   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 Base TX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1000 </a:t>
                      </a:r>
                      <a:r>
                        <a:rPr lang="en-US" altLang="zh-TW" sz="2200" b="1" kern="1200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BaseT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5e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1000 Mbps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 Base TX</a:t>
                      </a:r>
                      <a:r>
                        <a:rPr lang="zh-TW" altLang="en-US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1000 </a:t>
                      </a:r>
                      <a:r>
                        <a:rPr lang="en-US" altLang="zh-TW" sz="2200" b="1" kern="1200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BaseT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10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600" b="1" kern="120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Category 6</a:t>
                      </a:r>
                      <a:endParaRPr lang="zh-TW" altLang="en-US" sz="2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    </a:t>
                      </a:r>
                      <a:r>
                        <a:rPr lang="en-US" altLang="zh-TW" sz="2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Gbps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1000 </a:t>
                      </a:r>
                      <a:r>
                        <a:rPr lang="en-US" altLang="zh-TW" sz="2200" b="1" kern="1200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BaseT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602129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Gigabit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乙太網路的速度為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1000Mbps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，可用雙紋線或光纖作為傳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輸佈線，且網路卡（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NIC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）及交換器須升級成支援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Gigabit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的規格</a:t>
            </a:r>
            <a:endParaRPr lang="zh-TW" altLang="en-US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089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傳輸媒介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55012"/>
              </p:ext>
            </p:extLst>
          </p:nvPr>
        </p:nvGraphicFramePr>
        <p:xfrm>
          <a:off x="0" y="1081088"/>
          <a:ext cx="9144001" cy="577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5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9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種類</a:t>
                      </a:r>
                    </a:p>
                  </a:txBody>
                  <a:tcPr marT="45716" marB="4571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圖片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 marT="45716" marB="45716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23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雙絞線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Base 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Twisted Pair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2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多模光纖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1000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Base </a:t>
                      </a:r>
                      <a:r>
                        <a:rPr lang="en-US" altLang="zh-TW" sz="2400" b="1" baseline="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SX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baseline="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2400" b="1" baseline="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Short-Wavelength Fiber</a:t>
                      </a:r>
                      <a:r>
                        <a:rPr lang="zh-TW" altLang="en-US" sz="2400" b="1" baseline="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2400" b="1" baseline="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2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FDDI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600" b="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光纖分散式數據介面，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Fiber Distributed Data Interface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92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6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單模光纖</a:t>
                      </a:r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6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Base 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Fiber</a:t>
                      </a:r>
                    </a:p>
                  </a:txBody>
                  <a:tcPr marT="45716" marB="45716" anchor="ctr">
                    <a:solidFill>
                      <a:schemeClr val="accent4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7662" name="Picture 47" descr="http://www.ofweek.com/Upload/Product/2008-4/20084151038413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5686425"/>
            <a:ext cx="1649413" cy="10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63" name="圖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5" y="1843088"/>
            <a:ext cx="1684338" cy="109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64" name="Picture 2" descr="https://media.cablesandkits.com/ipn/GLCSXMMg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5" b="6367"/>
          <a:stretch>
            <a:fillRect/>
          </a:stretch>
        </p:blipFill>
        <p:spPr bwMode="auto">
          <a:xfrm>
            <a:off x="2682875" y="3160713"/>
            <a:ext cx="1684338" cy="106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65" name="Picture 4" descr="https://upload.wikimedia.org/wikipedia/commons/thumb/1/14/Sbus-das-fddi.jpg/640px-Sbus-das-fddi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4437063"/>
            <a:ext cx="1649413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2"/>
          <p:cNvSpPr txBox="1">
            <a:spLocks noChangeArrowheads="1"/>
          </p:cNvSpPr>
          <p:nvPr/>
        </p:nvSpPr>
        <p:spPr bwMode="auto">
          <a:xfrm>
            <a:off x="8460432" y="696508"/>
            <a:ext cx="6835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344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27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TW" altLang="en-US" sz="6000" b="1" dirty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網路卡系統匯流排</a:t>
            </a:r>
          </a:p>
        </p:txBody>
      </p:sp>
      <p:pic>
        <p:nvPicPr>
          <p:cNvPr id="35843" name="Picture 37" descr="http://www.pcdiy.com.tw/webroot/data/media/34cdbf25913b0db42ec2e5b1b665bc1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" t="1035" r="2193"/>
          <a:stretch>
            <a:fillRect/>
          </a:stretch>
        </p:blipFill>
        <p:spPr bwMode="auto">
          <a:xfrm>
            <a:off x="0" y="1079500"/>
            <a:ext cx="9144000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2501232"/>
            <a:ext cx="1368152" cy="114379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6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傳輸訊</a:t>
            </a: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39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1140" name="Picture 4" descr="http://www.castlenet.com.tw/news/CBC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1" y="1223963"/>
            <a:ext cx="26289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接點 4"/>
          <p:cNvCxnSpPr/>
          <p:nvPr/>
        </p:nvCxnSpPr>
        <p:spPr>
          <a:xfrm>
            <a:off x="7074203" y="5056188"/>
            <a:ext cx="50482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542515" y="3563938"/>
            <a:ext cx="108108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559978" y="3552825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8596615" y="3563938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129640" y="5056188"/>
            <a:ext cx="50323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597953" y="3563938"/>
            <a:ext cx="50323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6615415" y="3552825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7074203" y="3563938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V="1">
            <a:off x="4805665" y="5045075"/>
            <a:ext cx="900113" cy="952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5669265" y="3552825"/>
            <a:ext cx="50482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5686728" y="3541713"/>
            <a:ext cx="0" cy="151288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147103" y="3552825"/>
            <a:ext cx="0" cy="15113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8623603" y="5054600"/>
            <a:ext cx="50323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154" name="文字方塊 10"/>
          <p:cNvSpPr txBox="1">
            <a:spLocks noChangeArrowheads="1"/>
          </p:cNvSpPr>
          <p:nvPr/>
        </p:nvSpPr>
        <p:spPr bwMode="auto">
          <a:xfrm>
            <a:off x="4878690" y="2987675"/>
            <a:ext cx="8175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5" name="文字方塊 10"/>
          <p:cNvSpPr txBox="1">
            <a:spLocks noChangeArrowheads="1"/>
          </p:cNvSpPr>
          <p:nvPr/>
        </p:nvSpPr>
        <p:spPr bwMode="auto">
          <a:xfrm>
            <a:off x="5653390" y="2989263"/>
            <a:ext cx="4841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6" name="文字方塊 10"/>
          <p:cNvSpPr txBox="1">
            <a:spLocks noChangeArrowheads="1"/>
          </p:cNvSpPr>
          <p:nvPr/>
        </p:nvSpPr>
        <p:spPr bwMode="auto">
          <a:xfrm>
            <a:off x="6139165" y="2987675"/>
            <a:ext cx="43973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7" name="文字方塊 10"/>
          <p:cNvSpPr txBox="1">
            <a:spLocks noChangeArrowheads="1"/>
          </p:cNvSpPr>
          <p:nvPr/>
        </p:nvSpPr>
        <p:spPr bwMode="auto">
          <a:xfrm>
            <a:off x="6626528" y="2989263"/>
            <a:ext cx="48418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8" name="文字方塊 10"/>
          <p:cNvSpPr txBox="1">
            <a:spLocks noChangeArrowheads="1"/>
          </p:cNvSpPr>
          <p:nvPr/>
        </p:nvSpPr>
        <p:spPr bwMode="auto">
          <a:xfrm>
            <a:off x="7056740" y="2987675"/>
            <a:ext cx="4413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59" name="文字方塊 10"/>
          <p:cNvSpPr txBox="1">
            <a:spLocks noChangeArrowheads="1"/>
          </p:cNvSpPr>
          <p:nvPr/>
        </p:nvSpPr>
        <p:spPr bwMode="auto">
          <a:xfrm>
            <a:off x="7544103" y="2997200"/>
            <a:ext cx="115093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１１１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0" name="文字方塊 10"/>
          <p:cNvSpPr txBox="1">
            <a:spLocks noChangeArrowheads="1"/>
          </p:cNvSpPr>
          <p:nvPr/>
        </p:nvSpPr>
        <p:spPr bwMode="auto">
          <a:xfrm>
            <a:off x="8633128" y="2987675"/>
            <a:ext cx="43973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０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1" name="文字方塊 10"/>
          <p:cNvSpPr txBox="1">
            <a:spLocks noChangeArrowheads="1"/>
          </p:cNvSpPr>
          <p:nvPr/>
        </p:nvSpPr>
        <p:spPr bwMode="auto">
          <a:xfrm>
            <a:off x="4805665" y="4929188"/>
            <a:ext cx="4321175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數位訊號</a:t>
            </a:r>
            <a:endParaRPr kumimoji="1" lang="en-US" altLang="zh-TW" sz="4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2" name="文字方塊 10"/>
          <p:cNvSpPr txBox="1">
            <a:spLocks noChangeArrowheads="1"/>
          </p:cNvSpPr>
          <p:nvPr/>
        </p:nvSpPr>
        <p:spPr bwMode="auto">
          <a:xfrm>
            <a:off x="25702" y="4903788"/>
            <a:ext cx="431958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類比訊號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1163" name="文字方塊 10"/>
          <p:cNvSpPr txBox="1">
            <a:spLocks noChangeArrowheads="1"/>
          </p:cNvSpPr>
          <p:nvPr/>
        </p:nvSpPr>
        <p:spPr bwMode="auto">
          <a:xfrm>
            <a:off x="3508678" y="2909888"/>
            <a:ext cx="1406525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轉換</a:t>
            </a:r>
            <a:endParaRPr kumimoji="1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44433" name="手繪多邊形 444432"/>
          <p:cNvSpPr/>
          <p:nvPr/>
        </p:nvSpPr>
        <p:spPr>
          <a:xfrm>
            <a:off x="149528" y="3035300"/>
            <a:ext cx="2816225" cy="1558925"/>
          </a:xfrm>
          <a:custGeom>
            <a:avLst/>
            <a:gdLst>
              <a:gd name="connsiteX0" fmla="*/ 0 w 3629608"/>
              <a:gd name="connsiteY0" fmla="*/ 2071453 h 2071453"/>
              <a:gd name="connsiteX1" fmla="*/ 438539 w 3629608"/>
              <a:gd name="connsiteY1" fmla="*/ 57 h 2071453"/>
              <a:gd name="connsiteX2" fmla="*/ 970384 w 3629608"/>
              <a:gd name="connsiteY2" fmla="*/ 1996808 h 2071453"/>
              <a:gd name="connsiteX3" fmla="*/ 1539551 w 3629608"/>
              <a:gd name="connsiteY3" fmla="*/ 46710 h 2071453"/>
              <a:gd name="connsiteX4" fmla="*/ 1940767 w 3629608"/>
              <a:gd name="connsiteY4" fmla="*/ 1950155 h 2071453"/>
              <a:gd name="connsiteX5" fmla="*/ 2519265 w 3629608"/>
              <a:gd name="connsiteY5" fmla="*/ 102694 h 2071453"/>
              <a:gd name="connsiteX6" fmla="*/ 2957804 w 3629608"/>
              <a:gd name="connsiteY6" fmla="*/ 1968816 h 2071453"/>
              <a:gd name="connsiteX7" fmla="*/ 3629608 w 3629608"/>
              <a:gd name="connsiteY7" fmla="*/ 821151 h 2071453"/>
              <a:gd name="connsiteX8" fmla="*/ 3629608 w 3629608"/>
              <a:gd name="connsiteY8" fmla="*/ 821151 h 207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9608" h="2071453">
                <a:moveTo>
                  <a:pt x="0" y="2071453"/>
                </a:moveTo>
                <a:cubicBezTo>
                  <a:pt x="138404" y="1041975"/>
                  <a:pt x="276809" y="12498"/>
                  <a:pt x="438539" y="57"/>
                </a:cubicBezTo>
                <a:cubicBezTo>
                  <a:pt x="600269" y="-12384"/>
                  <a:pt x="786882" y="1989033"/>
                  <a:pt x="970384" y="1996808"/>
                </a:cubicBezTo>
                <a:cubicBezTo>
                  <a:pt x="1153886" y="2004583"/>
                  <a:pt x="1377821" y="54485"/>
                  <a:pt x="1539551" y="46710"/>
                </a:cubicBezTo>
                <a:cubicBezTo>
                  <a:pt x="1701281" y="38935"/>
                  <a:pt x="1777481" y="1940824"/>
                  <a:pt x="1940767" y="1950155"/>
                </a:cubicBezTo>
                <a:cubicBezTo>
                  <a:pt x="2104053" y="1959486"/>
                  <a:pt x="2349759" y="99584"/>
                  <a:pt x="2519265" y="102694"/>
                </a:cubicBezTo>
                <a:cubicBezTo>
                  <a:pt x="2688771" y="105804"/>
                  <a:pt x="2772747" y="1849073"/>
                  <a:pt x="2957804" y="1968816"/>
                </a:cubicBezTo>
                <a:cubicBezTo>
                  <a:pt x="3142861" y="2088559"/>
                  <a:pt x="3629608" y="821151"/>
                  <a:pt x="3629608" y="821151"/>
                </a:cubicBezTo>
                <a:lnTo>
                  <a:pt x="3629608" y="821151"/>
                </a:ln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44434" name="左-右雙向箭號 444433"/>
          <p:cNvSpPr/>
          <p:nvPr/>
        </p:nvSpPr>
        <p:spPr>
          <a:xfrm>
            <a:off x="3168953" y="3776663"/>
            <a:ext cx="2076450" cy="828675"/>
          </a:xfrm>
          <a:prstGeom prst="leftRightArrow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35313" y="1132909"/>
            <a:ext cx="60050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數據機（調變解調器）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傳送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資料：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調變器將數位訊號調變為類比訊號，經由通訊線路傳送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接收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資料：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解調器將經由通訊線路接收的類比訊號轉換回數位</a:t>
            </a:r>
            <a:r>
              <a:rPr kumimoji="0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訊號</a:t>
            </a:r>
            <a:endParaRPr kumimoji="0" lang="en-US" altLang="zh-TW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0" y="6045204"/>
            <a:ext cx="92445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通常類比傳輸是使用「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電磁波(高頻載波技術)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」來傳輸訊號，數位傳輸是直接使用「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低電壓(0V)與高電壓(1.5V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)」來傳輸訊號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298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>
            <a:extLst/>
          </p:cNvPr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sz="60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>
              <a:defRPr>
                <a:ea typeface="新細明體" charset="-120"/>
              </a:defRPr>
            </a:lvl2pPr>
            <a:lvl3pPr marL="1143000" indent="-228600">
              <a:defRPr>
                <a:ea typeface="新細明體" charset="-120"/>
              </a:defRPr>
            </a:lvl3pPr>
            <a:lvl4pPr marL="1600200" indent="-228600">
              <a:defRPr>
                <a:ea typeface="新細明體" charset="-120"/>
              </a:defRPr>
            </a:lvl4pPr>
            <a:lvl5pPr marL="2057400" indent="-228600">
              <a:defRPr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新細明體" charset="-120"/>
              </a:defRPr>
            </a:lvl9pPr>
          </a:lstStyle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dirty="0"/>
              <a:t>傳輸</a:t>
            </a:r>
            <a:r>
              <a:rPr lang="zh-TW" altLang="en-US" dirty="0" smtClean="0"/>
              <a:t>訊號</a:t>
            </a:r>
            <a:endParaRPr kumimoji="1" lang="zh-TW" altLang="en-US" dirty="0"/>
          </a:p>
        </p:txBody>
      </p:sp>
      <p:pic>
        <p:nvPicPr>
          <p:cNvPr id="129027" name="Picture 7" descr="ãå®æ¨¡åçº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978275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28" name="Picture 9" descr="ãå®æ¨¡åçºãçåçæå°çµæ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3032125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29" name="Picture 11" descr="ãå®æ¨¡åçºãçåçæå°çµæ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236663"/>
            <a:ext cx="2478088" cy="247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0" name="AutoShape 13" descr="ãå®æ¨¡åçºãçåçæå°çµæ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1800">
              <a:solidFill>
                <a:srgbClr val="000000"/>
              </a:solidFill>
            </a:endParaRPr>
          </a:p>
        </p:txBody>
      </p:sp>
      <p:pic>
        <p:nvPicPr>
          <p:cNvPr id="129031" name="Picture 8" descr="ãå®æ¨¡åçºãçåçæå°çµæ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292600"/>
            <a:ext cx="2733675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「照明光纖絲」的圖片搜尋結果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8357"/>
            <a:ext cx="4162425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10"/>
          <p:cNvSpPr txBox="1">
            <a:spLocks noChangeArrowheads="1"/>
          </p:cNvSpPr>
          <p:nvPr/>
        </p:nvSpPr>
        <p:spPr bwMode="auto">
          <a:xfrm>
            <a:off x="-252536" y="1044515"/>
            <a:ext cx="536408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光樣式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Light Patterns</a:t>
            </a:r>
            <a:endParaRPr kumimoji="1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95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計量單位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0" y="1085850"/>
          <a:ext cx="9144000" cy="3816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5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50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846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容量單位</a:t>
                      </a:r>
                    </a:p>
                  </a:txBody>
                  <a:tcPr marT="45735" marB="4573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KB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MB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GB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TB</a:t>
                      </a:r>
                      <a:endParaRPr lang="zh-TW" altLang="en-US" sz="3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容量大小</a:t>
                      </a: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 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 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 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 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概約</a:t>
                      </a: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 </a:t>
                      </a: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次方</a:t>
                      </a: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10Bytes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容量單位</a:t>
                      </a: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千</a:t>
                      </a: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位元組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百萬</a:t>
                      </a: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位元組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十億</a:t>
                      </a: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位元組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兆</a:t>
                      </a:r>
                      <a:endParaRPr lang="en-US" altLang="zh-TW" sz="30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位元組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367" name="文字方塊 1"/>
          <p:cNvSpPr txBox="1">
            <a:spLocks noChangeArrowheads="1"/>
          </p:cNvSpPr>
          <p:nvPr/>
        </p:nvSpPr>
        <p:spPr bwMode="auto">
          <a:xfrm>
            <a:off x="1258888" y="2862263"/>
            <a:ext cx="373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24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endParaRPr lang="zh-TW" altLang="en-US" sz="24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68" name="文字方塊 16"/>
          <p:cNvSpPr txBox="1">
            <a:spLocks noChangeArrowheads="1"/>
          </p:cNvSpPr>
          <p:nvPr/>
        </p:nvSpPr>
        <p:spPr bwMode="auto">
          <a:xfrm>
            <a:off x="2700338" y="2090738"/>
            <a:ext cx="450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69" name="文字方塊 17"/>
          <p:cNvSpPr txBox="1">
            <a:spLocks noChangeArrowheads="1"/>
          </p:cNvSpPr>
          <p:nvPr/>
        </p:nvSpPr>
        <p:spPr bwMode="auto">
          <a:xfrm>
            <a:off x="4357688" y="2090738"/>
            <a:ext cx="450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0" name="文字方塊 18"/>
          <p:cNvSpPr txBox="1">
            <a:spLocks noChangeArrowheads="1"/>
          </p:cNvSpPr>
          <p:nvPr/>
        </p:nvSpPr>
        <p:spPr bwMode="auto">
          <a:xfrm>
            <a:off x="6024563" y="2079625"/>
            <a:ext cx="450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1" name="文字方塊 20"/>
          <p:cNvSpPr txBox="1">
            <a:spLocks noChangeArrowheads="1"/>
          </p:cNvSpPr>
          <p:nvPr/>
        </p:nvSpPr>
        <p:spPr bwMode="auto">
          <a:xfrm>
            <a:off x="7700963" y="2090738"/>
            <a:ext cx="450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2" name="文字方塊 21"/>
          <p:cNvSpPr txBox="1">
            <a:spLocks noChangeArrowheads="1"/>
          </p:cNvSpPr>
          <p:nvPr/>
        </p:nvSpPr>
        <p:spPr bwMode="auto">
          <a:xfrm>
            <a:off x="2894013" y="3071813"/>
            <a:ext cx="317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3" name="文字方塊 21"/>
          <p:cNvSpPr txBox="1">
            <a:spLocks noChangeArrowheads="1"/>
          </p:cNvSpPr>
          <p:nvPr/>
        </p:nvSpPr>
        <p:spPr bwMode="auto">
          <a:xfrm>
            <a:off x="4552950" y="3078163"/>
            <a:ext cx="317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4" name="文字方塊 21"/>
          <p:cNvSpPr txBox="1">
            <a:spLocks noChangeArrowheads="1"/>
          </p:cNvSpPr>
          <p:nvPr/>
        </p:nvSpPr>
        <p:spPr bwMode="auto">
          <a:xfrm>
            <a:off x="6218238" y="3079750"/>
            <a:ext cx="317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5" name="文字方塊 21"/>
          <p:cNvSpPr txBox="1">
            <a:spLocks noChangeArrowheads="1"/>
          </p:cNvSpPr>
          <p:nvPr/>
        </p:nvSpPr>
        <p:spPr bwMode="auto">
          <a:xfrm>
            <a:off x="7845425" y="3078163"/>
            <a:ext cx="449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endParaRPr lang="zh-TW" altLang="en-US" sz="180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376" name="文字方塊 10"/>
          <p:cNvSpPr txBox="1">
            <a:spLocks noChangeArrowheads="1"/>
          </p:cNvSpPr>
          <p:nvPr/>
        </p:nvSpPr>
        <p:spPr bwMode="auto">
          <a:xfrm>
            <a:off x="-19050" y="4941888"/>
            <a:ext cx="9271570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zh-TW" altLang="en-US" sz="2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電腦儲存訊息最小單位</a:t>
            </a:r>
            <a:r>
              <a:rPr lang="en-US" altLang="zh-TW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Bit   </a:t>
            </a:r>
            <a:r>
              <a:rPr lang="zh-TW" altLang="en-US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endParaRPr lang="en-US" altLang="zh-TW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zh-TW" altLang="en-US" sz="2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電腦處理資料的基本單位</a:t>
            </a:r>
            <a:r>
              <a:rPr lang="en-US" altLang="zh-TW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Byte</a:t>
            </a:r>
            <a:r>
              <a:rPr lang="zh-TW" altLang="en-US" sz="2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1Byte=8bits</a:t>
            </a:r>
            <a:endParaRPr lang="en-US" altLang="zh-TW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0" fontAlgn="base" hangingPunct="0"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1KB=1024Bytes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1MB=1024KB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1GB=1024MB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1TB=1024G</a:t>
            </a:r>
          </a:p>
          <a:p>
            <a:pPr eaLnBrk="0" fontAlgn="base" hangingPunct="0"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1258291</a:t>
            </a: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Bytes </a:t>
            </a:r>
            <a:r>
              <a:rPr lang="en-US" altLang="zh-TW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1024 /1024</a:t>
            </a:r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1.2MB</a:t>
            </a:r>
          </a:p>
        </p:txBody>
      </p:sp>
    </p:spTree>
    <p:extLst>
      <p:ext uri="{BB962C8B-B14F-4D97-AF65-F5344CB8AC3E}">
        <p14:creationId xmlns:p14="http://schemas.microsoft.com/office/powerpoint/2010/main" val="141876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遠端登入</a:t>
            </a: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Telnet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82947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矩形 3"/>
          <p:cNvSpPr>
            <a:spLocks noChangeArrowheads="1"/>
          </p:cNvSpPr>
          <p:nvPr/>
        </p:nvSpPr>
        <p:spPr bwMode="auto">
          <a:xfrm>
            <a:off x="0" y="6111875"/>
            <a:ext cx="91614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在命令提示字元輸入</a:t>
            </a:r>
            <a:r>
              <a:rPr kumimoji="1" lang="en-US" altLang="zh-TW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Telnet ptt.cc</a:t>
            </a:r>
            <a:endParaRPr kumimoji="1" lang="zh-TW" altLang="en-US" sz="4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2949" name="矩形 1"/>
          <p:cNvSpPr>
            <a:spLocks noChangeArrowheads="1"/>
          </p:cNvSpPr>
          <p:nvPr/>
        </p:nvSpPr>
        <p:spPr bwMode="auto">
          <a:xfrm>
            <a:off x="1403350" y="5318125"/>
            <a:ext cx="4430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規模最大的應該是台大</a:t>
            </a:r>
            <a:r>
              <a: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PTT</a:t>
            </a:r>
          </a:p>
        </p:txBody>
      </p:sp>
      <p:sp>
        <p:nvSpPr>
          <p:cNvPr id="6" name="矩形 5"/>
          <p:cNvSpPr/>
          <p:nvPr/>
        </p:nvSpPr>
        <p:spPr>
          <a:xfrm>
            <a:off x="1908175" y="4876800"/>
            <a:ext cx="647700" cy="28098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95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開啟</a:t>
            </a:r>
            <a:r>
              <a:rPr kumimoji="0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Telnet</a:t>
            </a:r>
            <a:r>
              <a:rPr kumimoji="0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指令</a:t>
            </a:r>
            <a:endParaRPr kumimoji="0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pic>
        <p:nvPicPr>
          <p:cNvPr id="84995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079500"/>
            <a:ext cx="9142412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2393950" y="3895725"/>
            <a:ext cx="1098550" cy="288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84997" name="矩形 1"/>
          <p:cNvSpPr>
            <a:spLocks noChangeArrowheads="1"/>
          </p:cNvSpPr>
          <p:nvPr/>
        </p:nvSpPr>
        <p:spPr bwMode="auto">
          <a:xfrm>
            <a:off x="0" y="6272213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Windows 7 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「命令提示字元」無法下「</a:t>
            </a: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telnet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」指令</a:t>
            </a:r>
          </a:p>
        </p:txBody>
      </p:sp>
      <p:sp>
        <p:nvSpPr>
          <p:cNvPr id="6" name="矩形 5"/>
          <p:cNvSpPr/>
          <p:nvPr/>
        </p:nvSpPr>
        <p:spPr>
          <a:xfrm>
            <a:off x="3203575" y="1962150"/>
            <a:ext cx="1655763" cy="2619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84999" name="手繪多邊形 26"/>
          <p:cNvSpPr>
            <a:spLocks/>
          </p:cNvSpPr>
          <p:nvPr/>
        </p:nvSpPr>
        <p:spPr bwMode="auto">
          <a:xfrm rot="6174989">
            <a:off x="2947987" y="2811463"/>
            <a:ext cx="1446213" cy="407988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88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Class C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借位情況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0" y="2746888"/>
          <a:ext cx="9144000" cy="408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7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借位的位元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2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bit)</a:t>
                      </a:r>
                      <a:endParaRPr lang="zh-TW" altLang="en-US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產生子網路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(2  )</a:t>
                      </a:r>
                      <a:endParaRPr lang="zh-TW" altLang="en-US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剩下的主機位元</a:t>
                      </a:r>
                      <a:endParaRPr lang="en-US" altLang="zh-TW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2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8-b=host)</a:t>
                      </a:r>
                      <a:endParaRPr lang="zh-TW" altLang="en-US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毎個子網路的主機數目</a:t>
                      </a:r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</a:t>
                      </a:r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2)</a:t>
                      </a:r>
                      <a:endParaRPr lang="zh-TW" altLang="en-US" sz="2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(128)</a:t>
                      </a: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(192)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(224)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24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4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(240)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(248)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24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400" b="1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(252)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(254)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128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T="45735" marB="4573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50"/>
          <p:cNvSpPr txBox="1">
            <a:spLocks noChangeArrowheads="1"/>
          </p:cNvSpPr>
          <p:nvPr/>
        </p:nvSpPr>
        <p:spPr bwMode="auto">
          <a:xfrm>
            <a:off x="2637616" y="3042928"/>
            <a:ext cx="504056" cy="29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b</a:t>
            </a:r>
          </a:p>
        </p:txBody>
      </p:sp>
      <p:sp>
        <p:nvSpPr>
          <p:cNvPr id="7" name="Text Box 50"/>
          <p:cNvSpPr txBox="1">
            <a:spLocks noChangeArrowheads="1"/>
          </p:cNvSpPr>
          <p:nvPr/>
        </p:nvSpPr>
        <p:spPr bwMode="auto">
          <a:xfrm>
            <a:off x="7154456" y="3058952"/>
            <a:ext cx="504056" cy="29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h</a:t>
            </a:r>
          </a:p>
        </p:txBody>
      </p:sp>
      <p:sp>
        <p:nvSpPr>
          <p:cNvPr id="8" name="矩形 7"/>
          <p:cNvSpPr/>
          <p:nvPr/>
        </p:nvSpPr>
        <p:spPr>
          <a:xfrm>
            <a:off x="393376" y="1788268"/>
            <a:ext cx="2016224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</a:t>
            </a:r>
          </a:p>
        </p:txBody>
      </p:sp>
      <p:sp>
        <p:nvSpPr>
          <p:cNvPr id="9" name="矩形 8"/>
          <p:cNvSpPr/>
          <p:nvPr/>
        </p:nvSpPr>
        <p:spPr>
          <a:xfrm>
            <a:off x="2697632" y="1792780"/>
            <a:ext cx="2016224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</a:t>
            </a:r>
          </a:p>
        </p:txBody>
      </p:sp>
      <p:sp>
        <p:nvSpPr>
          <p:cNvPr id="10" name="矩形 9"/>
          <p:cNvSpPr/>
          <p:nvPr/>
        </p:nvSpPr>
        <p:spPr>
          <a:xfrm>
            <a:off x="4989159" y="1788267"/>
            <a:ext cx="2016224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Network</a:t>
            </a:r>
          </a:p>
        </p:txBody>
      </p:sp>
      <p:sp>
        <p:nvSpPr>
          <p:cNvPr id="25" name="矩形 24"/>
          <p:cNvSpPr/>
          <p:nvPr/>
        </p:nvSpPr>
        <p:spPr>
          <a:xfrm>
            <a:off x="7269632" y="1786114"/>
            <a:ext cx="188444" cy="664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458076" y="1792322"/>
            <a:ext cx="180528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46520" y="1792780"/>
            <a:ext cx="180528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836394" y="1792780"/>
            <a:ext cx="180528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018552" y="1792780"/>
            <a:ext cx="180528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00709" y="1786113"/>
            <a:ext cx="225535" cy="6631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394330" y="1792779"/>
            <a:ext cx="180528" cy="6581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77687" y="1786113"/>
            <a:ext cx="172036" cy="6631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3" name="Text Box 50"/>
          <p:cNvSpPr txBox="1">
            <a:spLocks noChangeArrowheads="1"/>
          </p:cNvSpPr>
          <p:nvPr/>
        </p:nvSpPr>
        <p:spPr bwMode="auto">
          <a:xfrm>
            <a:off x="7068653" y="2450752"/>
            <a:ext cx="1874368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借位的位元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>
            <a:off x="393376" y="1484784"/>
            <a:ext cx="661200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50"/>
          <p:cNvSpPr txBox="1">
            <a:spLocks noChangeArrowheads="1"/>
          </p:cNvSpPr>
          <p:nvPr/>
        </p:nvSpPr>
        <p:spPr bwMode="auto">
          <a:xfrm>
            <a:off x="2959333" y="1129047"/>
            <a:ext cx="2737996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24</a:t>
            </a: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位元   主網路位元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38" name="直線接點 37"/>
          <p:cNvCxnSpPr/>
          <p:nvPr/>
        </p:nvCxnSpPr>
        <p:spPr>
          <a:xfrm>
            <a:off x="393376" y="1284122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7005383" y="1293841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7269632" y="1300507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8749723" y="1300507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50"/>
          <p:cNvSpPr txBox="1">
            <a:spLocks noChangeArrowheads="1"/>
          </p:cNvSpPr>
          <p:nvPr/>
        </p:nvSpPr>
        <p:spPr bwMode="auto">
          <a:xfrm>
            <a:off x="7255960" y="1104615"/>
            <a:ext cx="1878208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8</a:t>
            </a:r>
            <a:r>
              <a: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位元 主機位元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7265792" y="1494770"/>
            <a:ext cx="1480091" cy="419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50761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網路遮罩</a:t>
            </a: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192</a:t>
            </a:r>
          </a:p>
        </p:txBody>
      </p:sp>
      <p:sp>
        <p:nvSpPr>
          <p:cNvPr id="4" name="矩形 10"/>
          <p:cNvSpPr>
            <a:spLocks noChangeArrowheads="1"/>
          </p:cNvSpPr>
          <p:nvPr/>
        </p:nvSpPr>
        <p:spPr bwMode="auto">
          <a:xfrm>
            <a:off x="14288" y="1412875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TW" sz="6600" b="1" dirty="0">
                <a:latin typeface="微軟正黑體" pitchFamily="34" charset="-120"/>
                <a:ea typeface="微軟正黑體" pitchFamily="34" charset="-120"/>
              </a:rPr>
              <a:t>255.255.255.192</a:t>
            </a: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6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5" name="群組 4"/>
          <p:cNvGrpSpPr>
            <a:grpSpLocks/>
          </p:cNvGrpSpPr>
          <p:nvPr/>
        </p:nvGrpSpPr>
        <p:grpSpPr bwMode="auto">
          <a:xfrm>
            <a:off x="-15875" y="2397125"/>
            <a:ext cx="9144000" cy="1068388"/>
            <a:chOff x="-15875" y="2397576"/>
            <a:chExt cx="9144000" cy="1068293"/>
          </a:xfrm>
        </p:grpSpPr>
        <p:sp>
          <p:nvSpPr>
            <p:cNvPr id="6" name="矩形 10"/>
            <p:cNvSpPr>
              <a:spLocks noChangeArrowheads="1"/>
            </p:cNvSpPr>
            <p:nvPr/>
          </p:nvSpPr>
          <p:spPr bwMode="auto">
            <a:xfrm>
              <a:off x="-15875" y="2834044"/>
              <a:ext cx="9144000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11111111.11111111.11111111.11</a:t>
              </a:r>
              <a:r>
                <a:rPr lang="en-US" altLang="zh-TW" sz="3500" b="1" dirty="0">
                  <a:latin typeface="微軟正黑體" pitchFamily="34" charset="-120"/>
                  <a:ea typeface="微軟正黑體" pitchFamily="34" charset="-120"/>
                </a:rPr>
                <a:t>000000</a:t>
              </a:r>
              <a:endParaRPr lang="en-US" altLang="zh-TW" sz="35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7" name="矩形 10"/>
            <p:cNvSpPr>
              <a:spLocks noChangeArrowheads="1"/>
            </p:cNvSpPr>
            <p:nvPr/>
          </p:nvSpPr>
          <p:spPr bwMode="auto">
            <a:xfrm>
              <a:off x="1033922" y="2431251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8" name="矩形 10"/>
            <p:cNvSpPr>
              <a:spLocks noChangeArrowheads="1"/>
            </p:cNvSpPr>
            <p:nvPr/>
          </p:nvSpPr>
          <p:spPr bwMode="auto">
            <a:xfrm>
              <a:off x="3219909" y="2421293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9" name="矩形 10"/>
            <p:cNvSpPr>
              <a:spLocks noChangeArrowheads="1"/>
            </p:cNvSpPr>
            <p:nvPr/>
          </p:nvSpPr>
          <p:spPr bwMode="auto">
            <a:xfrm>
              <a:off x="5436096" y="2397576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10" name="矩形 10"/>
            <p:cNvSpPr>
              <a:spLocks noChangeArrowheads="1"/>
            </p:cNvSpPr>
            <p:nvPr/>
          </p:nvSpPr>
          <p:spPr bwMode="auto">
            <a:xfrm>
              <a:off x="7095034" y="2411399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2</a:t>
              </a:r>
            </a:p>
          </p:txBody>
        </p:sp>
      </p:grpSp>
      <p:cxnSp>
        <p:nvCxnSpPr>
          <p:cNvPr id="13" name="直線單箭頭接點 12"/>
          <p:cNvCxnSpPr/>
          <p:nvPr/>
        </p:nvCxnSpPr>
        <p:spPr>
          <a:xfrm>
            <a:off x="120233" y="3547935"/>
            <a:ext cx="661200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20233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732240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50"/>
          <p:cNvSpPr txBox="1">
            <a:spLocks noChangeArrowheads="1"/>
          </p:cNvSpPr>
          <p:nvPr/>
        </p:nvSpPr>
        <p:spPr bwMode="auto">
          <a:xfrm>
            <a:off x="6732240" y="3352672"/>
            <a:ext cx="10889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借</a:t>
            </a:r>
            <a: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位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2411760" y="3578403"/>
            <a:ext cx="2737996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位元   主網路位元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0" name="Text Box 50"/>
          <p:cNvSpPr txBox="1">
            <a:spLocks noChangeArrowheads="1"/>
          </p:cNvSpPr>
          <p:nvPr/>
        </p:nvSpPr>
        <p:spPr bwMode="auto">
          <a:xfrm>
            <a:off x="7276715" y="3395649"/>
            <a:ext cx="2359181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位主機位元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6280" y="4784822"/>
            <a:ext cx="3892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網路區段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=2=2=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2852012" y="4546155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b</a:t>
            </a:r>
          </a:p>
        </p:txBody>
      </p:sp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3524338" y="4546155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2</a:t>
            </a:r>
          </a:p>
        </p:txBody>
      </p:sp>
      <p:sp>
        <p:nvSpPr>
          <p:cNvPr id="23" name="矩形 22"/>
          <p:cNvSpPr/>
          <p:nvPr/>
        </p:nvSpPr>
        <p:spPr>
          <a:xfrm>
            <a:off x="554535" y="5543352"/>
            <a:ext cx="55819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網路位址數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=2-2=2-2=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62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3384695" y="5338225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h</a:t>
            </a:r>
          </a:p>
        </p:txBody>
      </p:sp>
      <p:sp>
        <p:nvSpPr>
          <p:cNvPr id="26" name="矩形 25"/>
          <p:cNvSpPr/>
          <p:nvPr/>
        </p:nvSpPr>
        <p:spPr>
          <a:xfrm>
            <a:off x="539554" y="4038418"/>
            <a:ext cx="7422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區域大小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遮罩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=256-192=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64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Box 50"/>
          <p:cNvSpPr txBox="1">
            <a:spLocks noChangeArrowheads="1"/>
          </p:cNvSpPr>
          <p:nvPr/>
        </p:nvSpPr>
        <p:spPr bwMode="auto">
          <a:xfrm>
            <a:off x="4382288" y="5338224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6</a:t>
            </a:r>
          </a:p>
        </p:txBody>
      </p:sp>
      <p:sp>
        <p:nvSpPr>
          <p:cNvPr id="27" name="矩形 26"/>
          <p:cNvSpPr/>
          <p:nvPr/>
        </p:nvSpPr>
        <p:spPr>
          <a:xfrm>
            <a:off x="559392" y="6211669"/>
            <a:ext cx="7141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個網路區段可用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=4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248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227263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網路遮罩</a:t>
            </a: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248</a:t>
            </a:r>
          </a:p>
        </p:txBody>
      </p:sp>
      <p:sp>
        <p:nvSpPr>
          <p:cNvPr id="4" name="矩形 10"/>
          <p:cNvSpPr>
            <a:spLocks noChangeArrowheads="1"/>
          </p:cNvSpPr>
          <p:nvPr/>
        </p:nvSpPr>
        <p:spPr bwMode="auto">
          <a:xfrm>
            <a:off x="14288" y="1412875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TW" sz="6600" b="1" dirty="0">
                <a:latin typeface="微軟正黑體" pitchFamily="34" charset="-120"/>
                <a:ea typeface="微軟正黑體" pitchFamily="34" charset="-120"/>
              </a:rPr>
              <a:t>255.255.255.248</a:t>
            </a: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6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5" name="群組 4"/>
          <p:cNvGrpSpPr>
            <a:grpSpLocks/>
          </p:cNvGrpSpPr>
          <p:nvPr/>
        </p:nvGrpSpPr>
        <p:grpSpPr bwMode="auto">
          <a:xfrm>
            <a:off x="-15875" y="2397125"/>
            <a:ext cx="9144000" cy="1067449"/>
            <a:chOff x="-15875" y="2397576"/>
            <a:chExt cx="9144000" cy="1067354"/>
          </a:xfrm>
        </p:grpSpPr>
        <p:sp>
          <p:nvSpPr>
            <p:cNvPr id="6" name="矩形 10"/>
            <p:cNvSpPr>
              <a:spLocks noChangeArrowheads="1"/>
            </p:cNvSpPr>
            <p:nvPr/>
          </p:nvSpPr>
          <p:spPr bwMode="auto">
            <a:xfrm>
              <a:off x="-15875" y="2834044"/>
              <a:ext cx="9144000" cy="6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11111111.11111111.11111111.11111</a:t>
              </a:r>
              <a:r>
                <a:rPr lang="en-US" altLang="zh-TW" sz="3500" b="1" dirty="0">
                  <a:latin typeface="微軟正黑體" pitchFamily="34" charset="-120"/>
                  <a:ea typeface="微軟正黑體" pitchFamily="34" charset="-120"/>
                </a:rPr>
                <a:t>000</a:t>
              </a:r>
              <a:endParaRPr lang="en-US" altLang="zh-TW" sz="35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7" name="矩形 10"/>
            <p:cNvSpPr>
              <a:spLocks noChangeArrowheads="1"/>
            </p:cNvSpPr>
            <p:nvPr/>
          </p:nvSpPr>
          <p:spPr bwMode="auto">
            <a:xfrm>
              <a:off x="1033922" y="2431251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8" name="矩形 10"/>
            <p:cNvSpPr>
              <a:spLocks noChangeArrowheads="1"/>
            </p:cNvSpPr>
            <p:nvPr/>
          </p:nvSpPr>
          <p:spPr bwMode="auto">
            <a:xfrm>
              <a:off x="3219909" y="2421293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9" name="矩形 10"/>
            <p:cNvSpPr>
              <a:spLocks noChangeArrowheads="1"/>
            </p:cNvSpPr>
            <p:nvPr/>
          </p:nvSpPr>
          <p:spPr bwMode="auto">
            <a:xfrm>
              <a:off x="5436096" y="2397576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10" name="矩形 10"/>
            <p:cNvSpPr>
              <a:spLocks noChangeArrowheads="1"/>
            </p:cNvSpPr>
            <p:nvPr/>
          </p:nvSpPr>
          <p:spPr bwMode="auto">
            <a:xfrm>
              <a:off x="7095034" y="2411399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2</a:t>
              </a:r>
            </a:p>
          </p:txBody>
        </p:sp>
      </p:grpSp>
      <p:cxnSp>
        <p:nvCxnSpPr>
          <p:cNvPr id="13" name="直線單箭頭接點 12"/>
          <p:cNvCxnSpPr/>
          <p:nvPr/>
        </p:nvCxnSpPr>
        <p:spPr>
          <a:xfrm>
            <a:off x="120233" y="3547935"/>
            <a:ext cx="661200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20233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732240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50"/>
          <p:cNvSpPr txBox="1">
            <a:spLocks noChangeArrowheads="1"/>
          </p:cNvSpPr>
          <p:nvPr/>
        </p:nvSpPr>
        <p:spPr bwMode="auto">
          <a:xfrm>
            <a:off x="6732240" y="3352672"/>
            <a:ext cx="10889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借</a:t>
            </a:r>
            <a: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位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2411760" y="3578403"/>
            <a:ext cx="2737996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位元   主網路位元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0" name="Text Box 50"/>
          <p:cNvSpPr txBox="1">
            <a:spLocks noChangeArrowheads="1"/>
          </p:cNvSpPr>
          <p:nvPr/>
        </p:nvSpPr>
        <p:spPr bwMode="auto">
          <a:xfrm>
            <a:off x="7276715" y="3395649"/>
            <a:ext cx="2359181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位主機位元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8422" y="5020796"/>
            <a:ext cx="41681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網路區段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=2=2=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2704532" y="4782129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b</a:t>
            </a:r>
          </a:p>
        </p:txBody>
      </p:sp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3347362" y="4782129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5</a:t>
            </a:r>
          </a:p>
        </p:txBody>
      </p:sp>
      <p:sp>
        <p:nvSpPr>
          <p:cNvPr id="23" name="矩形 22"/>
          <p:cNvSpPr/>
          <p:nvPr/>
        </p:nvSpPr>
        <p:spPr>
          <a:xfrm>
            <a:off x="418422" y="5754917"/>
            <a:ext cx="7883890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網路位址數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=2-2=2-2=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扣掉第一個及最後一個</a:t>
            </a: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廣播</a:t>
            </a:r>
            <a:endParaRPr lang="en-US" altLang="zh-TW" sz="1600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最多有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3258166" y="5574199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h</a:t>
            </a:r>
          </a:p>
        </p:txBody>
      </p:sp>
      <p:sp>
        <p:nvSpPr>
          <p:cNvPr id="26" name="矩形 25"/>
          <p:cNvSpPr/>
          <p:nvPr/>
        </p:nvSpPr>
        <p:spPr>
          <a:xfrm>
            <a:off x="395536" y="4274392"/>
            <a:ext cx="7146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區域大小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遮罩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=256-248=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Box 50"/>
          <p:cNvSpPr txBox="1">
            <a:spLocks noChangeArrowheads="1"/>
          </p:cNvSpPr>
          <p:nvPr/>
        </p:nvSpPr>
        <p:spPr bwMode="auto">
          <a:xfrm>
            <a:off x="4255759" y="5574198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17360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網路遮罩</a:t>
            </a:r>
            <a:r>
              <a:rPr lang="en-US" altLang="zh-TW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224</a:t>
            </a:r>
          </a:p>
        </p:txBody>
      </p:sp>
      <p:sp>
        <p:nvSpPr>
          <p:cNvPr id="4" name="矩形 10"/>
          <p:cNvSpPr>
            <a:spLocks noChangeArrowheads="1"/>
          </p:cNvSpPr>
          <p:nvPr/>
        </p:nvSpPr>
        <p:spPr bwMode="auto">
          <a:xfrm>
            <a:off x="14288" y="1412875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TW" sz="6600" b="1" dirty="0">
                <a:latin typeface="微軟正黑體" pitchFamily="34" charset="-120"/>
                <a:ea typeface="微軟正黑體" pitchFamily="34" charset="-120"/>
              </a:rPr>
              <a:t>255.255.255.224</a:t>
            </a:r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6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5" name="群組 4"/>
          <p:cNvGrpSpPr>
            <a:grpSpLocks/>
          </p:cNvGrpSpPr>
          <p:nvPr/>
        </p:nvGrpSpPr>
        <p:grpSpPr bwMode="auto">
          <a:xfrm>
            <a:off x="-15875" y="2397125"/>
            <a:ext cx="9144000" cy="1068388"/>
            <a:chOff x="-15875" y="2397576"/>
            <a:chExt cx="9144000" cy="1068293"/>
          </a:xfrm>
        </p:grpSpPr>
        <p:sp>
          <p:nvSpPr>
            <p:cNvPr id="6" name="矩形 10"/>
            <p:cNvSpPr>
              <a:spLocks noChangeArrowheads="1"/>
            </p:cNvSpPr>
            <p:nvPr/>
          </p:nvSpPr>
          <p:spPr bwMode="auto">
            <a:xfrm>
              <a:off x="-15875" y="2834044"/>
              <a:ext cx="9144000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11111111.11111111.11111111.111</a:t>
              </a:r>
              <a:r>
                <a:rPr lang="en-US" altLang="zh-TW" sz="3500" b="1" dirty="0">
                  <a:latin typeface="微軟正黑體" pitchFamily="34" charset="-120"/>
                  <a:ea typeface="微軟正黑體" pitchFamily="34" charset="-120"/>
                </a:rPr>
                <a:t>00000</a:t>
              </a:r>
              <a:endParaRPr lang="en-US" altLang="zh-TW" sz="35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7" name="矩形 10"/>
            <p:cNvSpPr>
              <a:spLocks noChangeArrowheads="1"/>
            </p:cNvSpPr>
            <p:nvPr/>
          </p:nvSpPr>
          <p:spPr bwMode="auto">
            <a:xfrm>
              <a:off x="1033922" y="2431251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8" name="矩形 10"/>
            <p:cNvSpPr>
              <a:spLocks noChangeArrowheads="1"/>
            </p:cNvSpPr>
            <p:nvPr/>
          </p:nvSpPr>
          <p:spPr bwMode="auto">
            <a:xfrm>
              <a:off x="3219909" y="2421293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9" name="矩形 10"/>
            <p:cNvSpPr>
              <a:spLocks noChangeArrowheads="1"/>
            </p:cNvSpPr>
            <p:nvPr/>
          </p:nvSpPr>
          <p:spPr bwMode="auto">
            <a:xfrm>
              <a:off x="5436096" y="2397576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10" name="矩形 10"/>
            <p:cNvSpPr>
              <a:spLocks noChangeArrowheads="1"/>
            </p:cNvSpPr>
            <p:nvPr/>
          </p:nvSpPr>
          <p:spPr bwMode="auto">
            <a:xfrm>
              <a:off x="7095034" y="2411399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3</a:t>
              </a:r>
            </a:p>
          </p:txBody>
        </p:sp>
      </p:grpSp>
      <p:cxnSp>
        <p:nvCxnSpPr>
          <p:cNvPr id="13" name="直線單箭頭接點 12"/>
          <p:cNvCxnSpPr/>
          <p:nvPr/>
        </p:nvCxnSpPr>
        <p:spPr>
          <a:xfrm>
            <a:off x="120233" y="3547935"/>
            <a:ext cx="661200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20233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732240" y="334727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50"/>
          <p:cNvSpPr txBox="1">
            <a:spLocks noChangeArrowheads="1"/>
          </p:cNvSpPr>
          <p:nvPr/>
        </p:nvSpPr>
        <p:spPr bwMode="auto">
          <a:xfrm>
            <a:off x="6732240" y="3352672"/>
            <a:ext cx="10889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借</a:t>
            </a:r>
            <a:r>
              <a:rPr lang="en-US" altLang="zh-TW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sz="24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位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2411760" y="3578403"/>
            <a:ext cx="2737996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位元   主網路位元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0" name="Text Box 50"/>
          <p:cNvSpPr txBox="1">
            <a:spLocks noChangeArrowheads="1"/>
          </p:cNvSpPr>
          <p:nvPr/>
        </p:nvSpPr>
        <p:spPr bwMode="auto">
          <a:xfrm>
            <a:off x="7276715" y="3395649"/>
            <a:ext cx="2359181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位主機位元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6280" y="5168273"/>
            <a:ext cx="3892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網路區段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=2=2=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2852012" y="4929606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b</a:t>
            </a:r>
          </a:p>
        </p:txBody>
      </p:sp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3524338" y="4929606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3</a:t>
            </a:r>
          </a:p>
        </p:txBody>
      </p:sp>
      <p:sp>
        <p:nvSpPr>
          <p:cNvPr id="23" name="矩形 22"/>
          <p:cNvSpPr/>
          <p:nvPr/>
        </p:nvSpPr>
        <p:spPr>
          <a:xfrm>
            <a:off x="530005" y="5946470"/>
            <a:ext cx="44855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網路位址數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=2-2=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3312687" y="5741343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h</a:t>
            </a:r>
          </a:p>
        </p:txBody>
      </p:sp>
      <p:sp>
        <p:nvSpPr>
          <p:cNvPr id="26" name="矩形 25"/>
          <p:cNvSpPr/>
          <p:nvPr/>
        </p:nvSpPr>
        <p:spPr>
          <a:xfrm>
            <a:off x="539552" y="4303885"/>
            <a:ext cx="7422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區域大小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遮罩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=256-224=32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33285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練習－網路遮罩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240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10"/>
          <p:cNvSpPr>
            <a:spLocks noChangeArrowheads="1"/>
          </p:cNvSpPr>
          <p:nvPr/>
        </p:nvSpPr>
        <p:spPr bwMode="auto">
          <a:xfrm>
            <a:off x="15445" y="2443655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TW" sz="6600" b="1" dirty="0" smtClean="0">
                <a:latin typeface="微軟正黑體" pitchFamily="34" charset="-120"/>
                <a:ea typeface="微軟正黑體" pitchFamily="34" charset="-120"/>
              </a:rPr>
              <a:t>255.255.255.240</a:t>
            </a:r>
            <a:r>
              <a:rPr lang="zh-TW" altLang="en-US" sz="6600" b="1" dirty="0" smtClean="0"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sz="6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37" name="群組 36"/>
          <p:cNvGrpSpPr>
            <a:grpSpLocks/>
          </p:cNvGrpSpPr>
          <p:nvPr/>
        </p:nvGrpSpPr>
        <p:grpSpPr bwMode="auto">
          <a:xfrm>
            <a:off x="-14718" y="3427905"/>
            <a:ext cx="9144000" cy="1068388"/>
            <a:chOff x="-15875" y="2397576"/>
            <a:chExt cx="9144000" cy="1068293"/>
          </a:xfrm>
        </p:grpSpPr>
        <p:sp>
          <p:nvSpPr>
            <p:cNvPr id="44" name="矩形 10"/>
            <p:cNvSpPr>
              <a:spLocks noChangeArrowheads="1"/>
            </p:cNvSpPr>
            <p:nvPr/>
          </p:nvSpPr>
          <p:spPr bwMode="auto">
            <a:xfrm>
              <a:off x="-15875" y="2834044"/>
              <a:ext cx="9144000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>
                  <a:solidFill>
                    <a:srgbClr val="0000FF"/>
                  </a:solidFill>
                  <a:latin typeface="微軟正黑體" pitchFamily="34" charset="-120"/>
                  <a:ea typeface="微軟正黑體" pitchFamily="34" charset="-120"/>
                </a:rPr>
                <a:t>11111111.11111111.11111111.1111</a:t>
              </a:r>
              <a:r>
                <a:rPr lang="en-US" altLang="zh-TW" sz="3500" b="1" dirty="0" smtClean="0">
                  <a:latin typeface="微軟正黑體" pitchFamily="34" charset="-120"/>
                  <a:ea typeface="微軟正黑體" pitchFamily="34" charset="-120"/>
                </a:rPr>
                <a:t>0000</a:t>
              </a:r>
              <a:endParaRPr lang="en-US" altLang="zh-TW" sz="35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45" name="矩形 10"/>
            <p:cNvSpPr>
              <a:spLocks noChangeArrowheads="1"/>
            </p:cNvSpPr>
            <p:nvPr/>
          </p:nvSpPr>
          <p:spPr bwMode="auto">
            <a:xfrm>
              <a:off x="1033922" y="2431251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46" name="矩形 10"/>
            <p:cNvSpPr>
              <a:spLocks noChangeArrowheads="1"/>
            </p:cNvSpPr>
            <p:nvPr/>
          </p:nvSpPr>
          <p:spPr bwMode="auto">
            <a:xfrm>
              <a:off x="3219909" y="2421293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47" name="矩形 10"/>
            <p:cNvSpPr>
              <a:spLocks noChangeArrowheads="1"/>
            </p:cNvSpPr>
            <p:nvPr/>
          </p:nvSpPr>
          <p:spPr bwMode="auto">
            <a:xfrm>
              <a:off x="5436096" y="2397576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8</a:t>
              </a:r>
            </a:p>
          </p:txBody>
        </p:sp>
        <p:sp>
          <p:nvSpPr>
            <p:cNvPr id="48" name="矩形 10"/>
            <p:cNvSpPr>
              <a:spLocks noChangeArrowheads="1"/>
            </p:cNvSpPr>
            <p:nvPr/>
          </p:nvSpPr>
          <p:spPr bwMode="auto">
            <a:xfrm>
              <a:off x="7095034" y="2411399"/>
              <a:ext cx="429294" cy="63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3500" b="1" dirty="0" smtClean="0">
                  <a:solidFill>
                    <a:srgbClr val="FF0000"/>
                  </a:solidFill>
                  <a:latin typeface="微軟正黑體" pitchFamily="34" charset="-120"/>
                  <a:ea typeface="微軟正黑體" pitchFamily="34" charset="-120"/>
                </a:rPr>
                <a:t>4</a:t>
              </a:r>
              <a:endParaRPr lang="en-US" altLang="zh-TW" sz="35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cxnSp>
        <p:nvCxnSpPr>
          <p:cNvPr id="49" name="直線單箭頭接點 48"/>
          <p:cNvCxnSpPr/>
          <p:nvPr/>
        </p:nvCxnSpPr>
        <p:spPr>
          <a:xfrm>
            <a:off x="121390" y="4578715"/>
            <a:ext cx="661200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21390" y="437805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733397" y="4378053"/>
            <a:ext cx="0" cy="4922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6733397" y="4383452"/>
            <a:ext cx="10889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借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位</a:t>
            </a:r>
            <a:endParaRPr lang="en-US" altLang="zh-TW" sz="24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2412917" y="4609183"/>
            <a:ext cx="2737996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位元   主網路位元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4" name="Text Box 50"/>
          <p:cNvSpPr txBox="1">
            <a:spLocks noChangeArrowheads="1"/>
          </p:cNvSpPr>
          <p:nvPr/>
        </p:nvSpPr>
        <p:spPr bwMode="auto">
          <a:xfrm>
            <a:off x="7615389" y="4413921"/>
            <a:ext cx="1674119" cy="32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TW" altLang="en-US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位</a:t>
            </a:r>
            <a:r>
              <a:rPr lang="zh-TW" altLang="en-US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主機位元</a:t>
            </a: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12399" y="5980599"/>
            <a:ext cx="41681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網路區段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2=2=</a:t>
            </a:r>
            <a:r>
              <a:rPr lang="en-US" altLang="zh-TW" sz="3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Box 50"/>
          <p:cNvSpPr txBox="1">
            <a:spLocks noChangeArrowheads="1"/>
          </p:cNvSpPr>
          <p:nvPr/>
        </p:nvSpPr>
        <p:spPr bwMode="auto">
          <a:xfrm>
            <a:off x="2545989" y="5741932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b</a:t>
            </a:r>
          </a:p>
        </p:txBody>
      </p:sp>
      <p:sp>
        <p:nvSpPr>
          <p:cNvPr id="57" name="Text Box 50"/>
          <p:cNvSpPr txBox="1">
            <a:spLocks noChangeArrowheads="1"/>
          </p:cNvSpPr>
          <p:nvPr/>
        </p:nvSpPr>
        <p:spPr bwMode="auto">
          <a:xfrm>
            <a:off x="3218315" y="5741932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 smtClean="0">
                <a:latin typeface="微軟正黑體" pitchFamily="34" charset="-120"/>
                <a:ea typeface="微軟正黑體" pitchFamily="34" charset="-120"/>
              </a:rPr>
              <a:t>4</a:t>
            </a:r>
            <a:endParaRPr lang="en-US" altLang="zh-TW" sz="2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673922" y="5960386"/>
            <a:ext cx="44855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網路位址數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2-2=</a:t>
            </a:r>
            <a:r>
              <a:rPr lang="en-US" altLang="zh-TW" sz="3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Box 50"/>
          <p:cNvSpPr txBox="1">
            <a:spLocks noChangeArrowheads="1"/>
          </p:cNvSpPr>
          <p:nvPr/>
        </p:nvSpPr>
        <p:spPr bwMode="auto">
          <a:xfrm>
            <a:off x="7456604" y="5755259"/>
            <a:ext cx="504056" cy="3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457200" indent="-457200"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eaLnBrk="0" hangingPunct="0"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</a:rPr>
              <a:t>h</a:t>
            </a:r>
          </a:p>
        </p:txBody>
      </p:sp>
      <p:sp>
        <p:nvSpPr>
          <p:cNvPr id="60" name="矩形 59"/>
          <p:cNvSpPr/>
          <p:nvPr/>
        </p:nvSpPr>
        <p:spPr>
          <a:xfrm>
            <a:off x="318438" y="5011499"/>
            <a:ext cx="7422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區域大小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=256-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遮罩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256-240=16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矩形 10"/>
          <p:cNvSpPr>
            <a:spLocks noChangeArrowheads="1"/>
          </p:cNvSpPr>
          <p:nvPr/>
        </p:nvSpPr>
        <p:spPr bwMode="auto">
          <a:xfrm>
            <a:off x="-14718" y="1100521"/>
            <a:ext cx="91440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TW" sz="6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192.168.211.36</a:t>
            </a:r>
            <a:r>
              <a:rPr lang="en-US" altLang="zh-TW" sz="44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4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248881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網路遮罩</a:t>
            </a:r>
            <a:r>
              <a:rPr lang="en-US" altLang="zh-TW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240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877139"/>
              </p:ext>
            </p:extLst>
          </p:nvPr>
        </p:nvGraphicFramePr>
        <p:xfrm>
          <a:off x="0" y="1079500"/>
          <a:ext cx="9144000" cy="180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2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zh-TW" sz="1800" b="1" kern="1200" dirty="0" smtClean="0">
                          <a:solidFill>
                            <a:schemeClr val="lt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子網路</a:t>
                      </a:r>
                      <a:endParaRPr lang="en-US" altLang="zh-TW" sz="24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64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144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160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176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192</a:t>
                      </a:r>
                      <a:endParaRPr lang="zh-TW" sz="1800" kern="10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208</a:t>
                      </a:r>
                      <a:endParaRPr lang="zh-TW" sz="1800" kern="10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224</a:t>
                      </a:r>
                      <a:endParaRPr lang="zh-TW" sz="1800" kern="10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TW" altLang="zh-TW" sz="1800" b="1" kern="1200" dirty="0" smtClean="0">
                          <a:solidFill>
                            <a:schemeClr val="lt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第一主機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sz="1800" kern="10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97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129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145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161</a:t>
                      </a:r>
                      <a:endParaRPr lang="zh-TW" sz="1800" kern="10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177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193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209</a:t>
                      </a:r>
                      <a:endParaRPr lang="zh-TW" sz="1800" kern="10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225</a:t>
                      </a:r>
                      <a:endParaRPr lang="zh-TW" sz="1800" kern="10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TW" altLang="zh-TW" sz="1800" b="1" kern="1200" dirty="0" smtClean="0">
                          <a:solidFill>
                            <a:schemeClr val="lt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最後主機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94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110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126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142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158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174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206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222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FF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238</a:t>
                      </a:r>
                      <a:endParaRPr lang="zh-TW" sz="1800" kern="100" dirty="0">
                        <a:solidFill>
                          <a:srgbClr val="FFFF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29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TW" altLang="zh-TW" sz="1800" b="1" kern="1200" dirty="0" smtClean="0">
                          <a:solidFill>
                            <a:schemeClr val="lt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廣播位址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5" marB="45735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79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111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127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143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159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175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191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207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223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239</a:t>
                      </a:r>
                      <a:endParaRPr lang="zh-TW" sz="1800" kern="100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矩形 22"/>
          <p:cNvSpPr/>
          <p:nvPr/>
        </p:nvSpPr>
        <p:spPr>
          <a:xfrm>
            <a:off x="2617272" y="3106076"/>
            <a:ext cx="3498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192.168.211.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17~30</a:t>
            </a:r>
            <a:endParaRPr lang="zh-TW" altLang="en-US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617274" y="3603438"/>
            <a:ext cx="3498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192.168.211.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33~46</a:t>
            </a:r>
            <a:endParaRPr lang="zh-TW" altLang="en-US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617272" y="4123316"/>
            <a:ext cx="349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192.168.211.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49~62</a:t>
            </a:r>
            <a:endParaRPr lang="zh-TW" altLang="en-US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46117" y="4646536"/>
            <a:ext cx="349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192.168.211.</a:t>
            </a:r>
            <a:r>
              <a:rPr lang="en-US" altLang="zh-TW" sz="28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65~78</a:t>
            </a:r>
            <a:endParaRPr lang="zh-TW" altLang="en-US" sz="28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465122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916832"/>
            <a:ext cx="914400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36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221.40.24.12</a:t>
            </a: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/28</a:t>
            </a:r>
            <a:endParaRPr lang="en-US" altLang="zh-TW" sz="3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192.178.148.89</a:t>
            </a: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/29</a:t>
            </a:r>
          </a:p>
          <a:p>
            <a:pPr>
              <a:defRPr/>
            </a:pPr>
            <a:r>
              <a:rPr lang="en-US" altLang="zh-TW" sz="36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172.178.33.210</a:t>
            </a: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/30</a:t>
            </a:r>
          </a:p>
          <a:p>
            <a:pPr>
              <a:defRPr/>
            </a:pPr>
            <a:r>
              <a:rPr lang="en-US" altLang="zh-TW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220.35.12.200</a:t>
            </a:r>
            <a:r>
              <a:rPr lang="en-US" altLang="zh-TW" sz="11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/25</a:t>
            </a:r>
          </a:p>
          <a:p>
            <a:pPr>
              <a:defRPr/>
            </a:pPr>
            <a:r>
              <a:rPr lang="en-US" altLang="zh-TW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140.137.151.1</a:t>
            </a:r>
            <a:r>
              <a:rPr lang="en-US" altLang="zh-TW" sz="11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endParaRPr lang="en-US" altLang="zh-TW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223.168.211.136</a:t>
            </a:r>
            <a:r>
              <a:rPr lang="en-US" altLang="zh-TW" sz="11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/26</a:t>
            </a:r>
            <a:endParaRPr lang="en-US" altLang="zh-TW" sz="11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：可用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189497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41"/>
          <a:stretch/>
        </p:blipFill>
        <p:spPr>
          <a:xfrm>
            <a:off x="-14955" y="1079500"/>
            <a:ext cx="9158955" cy="558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612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00" b="33324"/>
          <a:stretch/>
        </p:blipFill>
        <p:spPr>
          <a:xfrm>
            <a:off x="0" y="1062894"/>
            <a:ext cx="9144000" cy="579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6310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79" b="255"/>
          <a:stretch/>
        </p:blipFill>
        <p:spPr>
          <a:xfrm>
            <a:off x="0" y="1079500"/>
            <a:ext cx="9144000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225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079500"/>
            <a:ext cx="9144000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網路區段                          伺服器位址</a:t>
            </a:r>
            <a:endParaRPr lang="en-US" altLang="zh-TW" sz="3600" b="1" dirty="0" smtClean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198.168.1.X</a:t>
            </a:r>
            <a:r>
              <a:rPr lang="en-US" altLang="zh-TW" sz="20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/25                            </a:t>
            </a: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198.168.1.116</a:t>
            </a:r>
            <a:endParaRPr lang="en-US" altLang="zh-TW" sz="36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18.112.81.X</a:t>
            </a: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                             </a:t>
            </a:r>
            <a:r>
              <a:rPr lang="en-US" altLang="zh-TW" sz="36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18.112.81.189</a:t>
            </a: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18.226.15.X</a:t>
            </a: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                             </a:t>
            </a:r>
            <a:r>
              <a:rPr lang="en-US" altLang="zh-TW" sz="36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18.226.15.220 </a:t>
            </a:r>
          </a:p>
          <a:p>
            <a:pPr>
              <a:defRPr/>
            </a:pP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18.61.11.X</a:t>
            </a:r>
            <a:r>
              <a:rPr lang="en-US" altLang="zh-TW" sz="20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/26                                 </a:t>
            </a: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18.61.11.189 </a:t>
            </a: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178.16.208.X</a:t>
            </a: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                       </a:t>
            </a: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178.16.208.157</a:t>
            </a: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178.30.23.X</a:t>
            </a:r>
            <a:r>
              <a:rPr lang="en-US" altLang="zh-TW" sz="20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                              </a:t>
            </a:r>
            <a:r>
              <a:rPr lang="en-US" altLang="zh-TW" sz="3600" b="1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178.30.23.125</a:t>
            </a:r>
          </a:p>
          <a:p>
            <a:pPr>
              <a:defRPr/>
            </a:pP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198.168.245.X</a:t>
            </a:r>
            <a:r>
              <a:rPr lang="en-US" altLang="zh-TW" sz="20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/27                      </a:t>
            </a:r>
            <a:r>
              <a:rPr lang="en-US" altLang="zh-TW" sz="36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198.168.245.93</a:t>
            </a:r>
            <a:endParaRPr lang="en-US" altLang="zh-TW" sz="36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18.226.189.X</a:t>
            </a:r>
            <a:r>
              <a:rPr lang="en-US" altLang="zh-TW" sz="20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/27</a:t>
            </a:r>
            <a:r>
              <a:rPr lang="en-US" altLang="zh-TW" sz="36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</a:rPr>
              <a:t>            18.226.189.61</a:t>
            </a:r>
            <a:endParaRPr lang="en-US" altLang="zh-TW" sz="3600" b="1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：落在該區塊的可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第一個主機　　　有效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 :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可用</a:t>
            </a:r>
            <a:r>
              <a:rPr lang="en-US" altLang="zh-TW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第二個主機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defRPr/>
            </a:pPr>
            <a:endParaRPr lang="en-US" altLang="zh-TW" sz="20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156825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6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子網路切割練習</a:t>
            </a:r>
            <a:endParaRPr lang="en-US" altLang="zh-TW" sz="60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79500"/>
            <a:ext cx="8453900" cy="57785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44988" y="4221088"/>
            <a:ext cx="2411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Linux 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主機設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IP</a:t>
            </a:r>
          </a:p>
          <a:p>
            <a:pPr>
              <a:defRPr/>
            </a:pP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18.61.11.129</a:t>
            </a:r>
          </a:p>
          <a:p>
            <a:pPr>
              <a:defRPr/>
            </a:pP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255.255.255.192</a:t>
            </a:r>
          </a:p>
          <a:p>
            <a:pPr>
              <a:defRPr/>
            </a:pP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18.61.11.254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54758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/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工作項目</a:t>
            </a: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(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三</a:t>
            </a: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)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資訊網</a:t>
            </a:r>
            <a:r>
              <a:rPr kumimoji="1" lang="zh-TW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路</a:t>
            </a:r>
            <a:endParaRPr kumimoji="1" lang="zh-TW" altLang="en-US" sz="60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84997" name="AutoShape 8" descr="https://upload.wikimedia.org/wikipedia/commons/thumb/7/77/PSK_BER_curves.svg/280px-PSK_BER_curves.sv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10"/>
          <p:cNvSpPr txBox="1">
            <a:spLocks noChangeArrowheads="1"/>
          </p:cNvSpPr>
          <p:nvPr/>
        </p:nvSpPr>
        <p:spPr bwMode="auto">
          <a:xfrm>
            <a:off x="7624" y="2276872"/>
            <a:ext cx="91440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工作項目三：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7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8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10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23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、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65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、</a:t>
            </a:r>
            <a:r>
              <a:rPr kumimoji="1" lang="en-US" altLang="zh-TW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66</a:t>
            </a:r>
            <a:r>
              <a:rPr kumimoji="1" lang="zh-TW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  <a:endParaRPr kumimoji="1" lang="en-US" altLang="zh-TW" sz="28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549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DNS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99331" name="Picture 4" descr="「DNS Server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916113"/>
            <a:ext cx="4681538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2" name="矩形 1"/>
          <p:cNvSpPr>
            <a:spLocks noChangeArrowheads="1"/>
          </p:cNvSpPr>
          <p:nvPr/>
        </p:nvSpPr>
        <p:spPr bwMode="auto">
          <a:xfrm>
            <a:off x="0" y="5300663"/>
            <a:ext cx="9144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Domain Name System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，主要網域名稱系統，把網域名稱翻譯成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位址</a:t>
            </a:r>
            <a:endParaRPr kumimoji="1" lang="en-US" altLang="zh-TW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58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查詢</a:t>
            </a: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DNS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1379" name="矩形 1"/>
          <p:cNvSpPr>
            <a:spLocks noChangeArrowheads="1"/>
          </p:cNvSpPr>
          <p:nvPr/>
        </p:nvSpPr>
        <p:spPr bwMode="auto">
          <a:xfrm>
            <a:off x="0" y="60213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Nslookup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是用來測試和疑難排解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DNS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伺服器的命令列管理工具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1380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079500"/>
            <a:ext cx="7127875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109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FTP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3427" name="矩形 1"/>
          <p:cNvSpPr>
            <a:spLocks noChangeArrowheads="1"/>
          </p:cNvSpPr>
          <p:nvPr/>
        </p:nvSpPr>
        <p:spPr bwMode="auto">
          <a:xfrm>
            <a:off x="0" y="5940425"/>
            <a:ext cx="914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File Transfer Protocol 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主要的功能就是進行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Server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端與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Client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端之間的檔案傳送的功能。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3428" name="圖片 2"/>
          <p:cNvSpPr>
            <a:spLocks noChangeAspect="1"/>
          </p:cNvSpPr>
          <p:nvPr/>
        </p:nvSpPr>
        <p:spPr bwMode="auto">
          <a:xfrm>
            <a:off x="0" y="1077913"/>
            <a:ext cx="914400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03429" name="Picture 6" descr="「filezilla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913"/>
            <a:ext cx="9144000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14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5475" name="Picture 2" descr="「proxy server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079500"/>
            <a:ext cx="5616575" cy="30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矩形 2"/>
          <p:cNvSpPr>
            <a:spLocks noChangeArrowheads="1"/>
          </p:cNvSpPr>
          <p:nvPr/>
        </p:nvSpPr>
        <p:spPr bwMode="auto">
          <a:xfrm>
            <a:off x="0" y="3811588"/>
            <a:ext cx="925195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代理伺服器又稱為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Cache Server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（快取伺服器） 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，主要是用來加快使用者連線上網的速度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二、遇到某些封鎖特定地區來源的網站，或是只有在某些國家 IP 位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址才能使用的服務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三、代理伺服器，就像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VPN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一樣，是通過另一部電腦－而不是您自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己的電腦來傳遞您的資料。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四、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不是設計來保護您所有的網路資料傳輸，它們通常只保護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網頁瀏覽器而已。</a:t>
            </a:r>
          </a:p>
        </p:txBody>
      </p:sp>
    </p:spTree>
    <p:extLst>
      <p:ext uri="{BB962C8B-B14F-4D97-AF65-F5344CB8AC3E}">
        <p14:creationId xmlns:p14="http://schemas.microsoft.com/office/powerpoint/2010/main" val="201827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列表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7523" name="圖片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1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列表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9571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079500"/>
            <a:ext cx="7204075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397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設定</a:t>
            </a:r>
          </a:p>
        </p:txBody>
      </p:sp>
      <p:pic>
        <p:nvPicPr>
          <p:cNvPr id="111619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144588" y="4751388"/>
            <a:ext cx="1008062" cy="3238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12088" y="3065463"/>
            <a:ext cx="1341437" cy="1698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43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設定</a:t>
            </a:r>
          </a:p>
        </p:txBody>
      </p:sp>
      <p:pic>
        <p:nvPicPr>
          <p:cNvPr id="113667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484313"/>
            <a:ext cx="4048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148263" y="4745038"/>
            <a:ext cx="1008062" cy="3238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10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設定</a:t>
            </a:r>
          </a:p>
        </p:txBody>
      </p:sp>
      <p:pic>
        <p:nvPicPr>
          <p:cNvPr id="115715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412875"/>
            <a:ext cx="446722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268538" y="3309938"/>
            <a:ext cx="4175125" cy="1463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3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台灣實體</a:t>
            </a: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17763" name="圖片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9500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276600" y="2830513"/>
            <a:ext cx="2374900" cy="5032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59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Proxy Server</a:t>
            </a:r>
            <a:r>
              <a:rPr kumimoji="1" lang="zh-TW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設定</a:t>
            </a:r>
          </a:p>
        </p:txBody>
      </p:sp>
      <p:sp>
        <p:nvSpPr>
          <p:cNvPr id="6" name="矩形 5"/>
          <p:cNvSpPr/>
          <p:nvPr/>
        </p:nvSpPr>
        <p:spPr>
          <a:xfrm>
            <a:off x="3276600" y="2830513"/>
            <a:ext cx="2374900" cy="50323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11981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1196975"/>
            <a:ext cx="9126537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3" name="矩形 2"/>
          <p:cNvSpPr>
            <a:spLocks noChangeArrowheads="1"/>
          </p:cNvSpPr>
          <p:nvPr/>
        </p:nvSpPr>
        <p:spPr bwMode="auto">
          <a:xfrm>
            <a:off x="2843213" y="6429375"/>
            <a:ext cx="2347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t>186.219.211.2:60446</a:t>
            </a: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87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Print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6195" name="矩形 1"/>
          <p:cNvSpPr>
            <a:spLocks noChangeArrowheads="1"/>
          </p:cNvSpPr>
          <p:nvPr/>
        </p:nvSpPr>
        <p:spPr bwMode="auto">
          <a:xfrm>
            <a:off x="0" y="4868863"/>
            <a:ext cx="91440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一、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Printer Server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是提供簡單而有效率的網路列印解決方法。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二、一端連接印表機，另一端連接網路（交換器），印表機在網路 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中的任何位置，都能夠很容易地為區域網路內所有用戶提供列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     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印服務。</a:t>
            </a:r>
          </a:p>
        </p:txBody>
      </p:sp>
      <p:pic>
        <p:nvPicPr>
          <p:cNvPr id="136196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557338"/>
            <a:ext cx="527685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998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DHCP</a:t>
            </a:r>
            <a:endParaRPr kumimoji="0" lang="en-US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07876" name="矩形 2"/>
          <p:cNvSpPr>
            <a:spLocks noChangeArrowheads="1"/>
          </p:cNvSpPr>
          <p:nvPr/>
        </p:nvSpPr>
        <p:spPr bwMode="auto">
          <a:xfrm>
            <a:off x="0" y="1354138"/>
            <a:ext cx="9144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Dynamic Host Configuration Protocol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，動態主機設定協定，可自動分配</a:t>
            </a: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位址給用戶</a:t>
            </a:r>
            <a:endParaRPr kumimoji="1" lang="en-US" altLang="zh-TW" sz="28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07877" name="Picture 2" descr="「DHCP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05038"/>
            <a:ext cx="5543550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878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913" y="3141663"/>
            <a:ext cx="3203575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88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DNS Server</a:t>
            </a:r>
            <a:endParaRPr kumimoji="1" lang="zh-TW" altLang="en-US" sz="5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09923" name="矩形 1"/>
          <p:cNvSpPr>
            <a:spLocks noChangeArrowheads="1"/>
          </p:cNvSpPr>
          <p:nvPr/>
        </p:nvSpPr>
        <p:spPr bwMode="auto">
          <a:xfrm>
            <a:off x="0" y="60213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Nslookup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是用來測試和疑難排解 </a:t>
            </a:r>
            <a:r>
              <a:rPr kumimoji="1" lang="en-US" altLang="zh-TW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DNS </a:t>
            </a: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伺服器的命令列管理工具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09924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079500"/>
            <a:ext cx="7127875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56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Picture 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2809875"/>
            <a:ext cx="7429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1971" name="Picture 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157288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標題 31"/>
          <p:cNvSpPr txBox="1">
            <a:spLocks/>
          </p:cNvSpPr>
          <p:nvPr/>
        </p:nvSpPr>
        <p:spPr bwMode="auto">
          <a:xfrm>
            <a:off x="0" y="0"/>
            <a:ext cx="9144000" cy="10985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3" name="標題 31"/>
          <p:cNvSpPr txBox="1">
            <a:spLocks/>
          </p:cNvSpPr>
          <p:nvPr/>
        </p:nvSpPr>
        <p:spPr bwMode="auto">
          <a:xfrm>
            <a:off x="-6350" y="1905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defPPr>
              <a:defRPr lang="zh-TW"/>
            </a:defPPr>
            <a:lvl1pPr algn="ctr" eaLnBrk="1" hangingPunct="1">
              <a:defRPr kumimoji="0" sz="6000" b="1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 eaLnBrk="0" hangingPunct="0">
              <a:defRPr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NAT</a:t>
            </a:r>
            <a:r>
              <a:rPr kumimoji="0" lang="zh-TW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網路位址轉換</a:t>
            </a:r>
            <a:endParaRPr kumimoji="0" lang="en-US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211974" name="Text Box 50"/>
          <p:cNvSpPr txBox="1">
            <a:spLocks noChangeArrowheads="1"/>
          </p:cNvSpPr>
          <p:nvPr/>
        </p:nvSpPr>
        <p:spPr bwMode="auto">
          <a:xfrm>
            <a:off x="106363" y="2082800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172.22.22.1</a:t>
            </a:r>
          </a:p>
        </p:txBody>
      </p:sp>
      <p:sp>
        <p:nvSpPr>
          <p:cNvPr id="211975" name="Text Box 50"/>
          <p:cNvSpPr txBox="1">
            <a:spLocks noChangeArrowheads="1"/>
          </p:cNvSpPr>
          <p:nvPr/>
        </p:nvSpPr>
        <p:spPr bwMode="auto">
          <a:xfrm>
            <a:off x="3041650" y="3544888"/>
            <a:ext cx="10985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交換器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1976" name="Text Box 50"/>
          <p:cNvSpPr txBox="1">
            <a:spLocks noChangeArrowheads="1"/>
          </p:cNvSpPr>
          <p:nvPr/>
        </p:nvSpPr>
        <p:spPr bwMode="auto">
          <a:xfrm>
            <a:off x="5730875" y="3579813"/>
            <a:ext cx="121602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防火牆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11977" name="Text Box 50"/>
          <p:cNvSpPr txBox="1">
            <a:spLocks noChangeArrowheads="1"/>
          </p:cNvSpPr>
          <p:nvPr/>
        </p:nvSpPr>
        <p:spPr bwMode="auto">
          <a:xfrm>
            <a:off x="4194175" y="3581400"/>
            <a:ext cx="13366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路由器</a:t>
            </a:r>
            <a:endParaRPr kumimoji="1" lang="en-US" altLang="zh-TW" sz="24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211978" name="Picture 5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2540000"/>
            <a:ext cx="631825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1" name="直線接點 40"/>
          <p:cNvCxnSpPr/>
          <p:nvPr/>
        </p:nvCxnSpPr>
        <p:spPr>
          <a:xfrm>
            <a:off x="1404938" y="1824038"/>
            <a:ext cx="1668462" cy="1030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1980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2997200"/>
            <a:ext cx="923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1981" name="Picture 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4870450"/>
            <a:ext cx="9239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1982" name="Text Box 50"/>
          <p:cNvSpPr txBox="1">
            <a:spLocks noChangeArrowheads="1"/>
          </p:cNvSpPr>
          <p:nvPr/>
        </p:nvSpPr>
        <p:spPr bwMode="auto">
          <a:xfrm>
            <a:off x="79375" y="5908675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172.22.22.3</a:t>
            </a:r>
          </a:p>
        </p:txBody>
      </p:sp>
      <p:sp>
        <p:nvSpPr>
          <p:cNvPr id="211983" name="Text Box 50"/>
          <p:cNvSpPr txBox="1">
            <a:spLocks noChangeArrowheads="1"/>
          </p:cNvSpPr>
          <p:nvPr/>
        </p:nvSpPr>
        <p:spPr bwMode="auto">
          <a:xfrm>
            <a:off x="82550" y="4029075"/>
            <a:ext cx="1978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172.22.22.2</a:t>
            </a:r>
          </a:p>
        </p:txBody>
      </p:sp>
      <p:cxnSp>
        <p:nvCxnSpPr>
          <p:cNvPr id="57" name="直線接點 56"/>
          <p:cNvCxnSpPr>
            <a:endCxn id="211970" idx="1"/>
          </p:cNvCxnSpPr>
          <p:nvPr/>
        </p:nvCxnSpPr>
        <p:spPr>
          <a:xfrm flipV="1">
            <a:off x="1477963" y="3090863"/>
            <a:ext cx="1563687" cy="450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V="1">
            <a:off x="1404938" y="3222625"/>
            <a:ext cx="1936750" cy="2211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1986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2865438"/>
            <a:ext cx="65405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1" name="直線接點 60"/>
          <p:cNvCxnSpPr/>
          <p:nvPr/>
        </p:nvCxnSpPr>
        <p:spPr>
          <a:xfrm flipV="1">
            <a:off x="6562725" y="3222625"/>
            <a:ext cx="639763" cy="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988" name="群組 8"/>
          <p:cNvGrpSpPr>
            <a:grpSpLocks/>
          </p:cNvGrpSpPr>
          <p:nvPr/>
        </p:nvGrpSpPr>
        <p:grpSpPr bwMode="auto">
          <a:xfrm>
            <a:off x="6875463" y="2617788"/>
            <a:ext cx="2159000" cy="1177925"/>
            <a:chOff x="3571392" y="1285668"/>
            <a:chExt cx="2157278" cy="1177368"/>
          </a:xfrm>
        </p:grpSpPr>
        <p:pic>
          <p:nvPicPr>
            <p:cNvPr id="212022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392" y="1285668"/>
              <a:ext cx="2157278" cy="1177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2023" name="Text Box 50"/>
            <p:cNvSpPr txBox="1">
              <a:spLocks noChangeArrowheads="1"/>
            </p:cNvSpPr>
            <p:nvPr/>
          </p:nvSpPr>
          <p:spPr bwMode="auto">
            <a:xfrm>
              <a:off x="3967134" y="1674534"/>
              <a:ext cx="1356055" cy="39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457200" marR="0" lvl="0" indent="-4572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Internet</a:t>
              </a:r>
            </a:p>
          </p:txBody>
        </p:sp>
      </p:grpSp>
      <p:cxnSp>
        <p:nvCxnSpPr>
          <p:cNvPr id="64" name="直線接點 63"/>
          <p:cNvCxnSpPr/>
          <p:nvPr/>
        </p:nvCxnSpPr>
        <p:spPr>
          <a:xfrm flipV="1">
            <a:off x="5072063" y="3201988"/>
            <a:ext cx="8207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3773488" y="3201988"/>
            <a:ext cx="8096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433638" y="4457700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FF"/>
                          </a:solidFill>
                        </a:rPr>
                        <a:t>NAT Translation Table</a:t>
                      </a:r>
                      <a:endParaRPr lang="zh-TW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Local IP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Source 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Port</a:t>
                      </a:r>
                      <a:endParaRPr lang="zh-TW" altLang="en-US" sz="200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Internet</a:t>
                      </a:r>
                    </a:p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Address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172.22.22.1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1394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211.12.33.2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172.22.22.2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211.12.33.2</a:t>
                      </a:r>
                      <a:endParaRPr lang="zh-TW" altLang="en-US" sz="20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/>
                        <a:t>172.22.22.3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211.12.33.2</a:t>
                      </a:r>
                      <a:endParaRPr lang="zh-TW" altLang="en-US" sz="20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020" name="手繪多邊形 26"/>
          <p:cNvSpPr>
            <a:spLocks/>
          </p:cNvSpPr>
          <p:nvPr/>
        </p:nvSpPr>
        <p:spPr bwMode="auto">
          <a:xfrm rot="5400000">
            <a:off x="4246562" y="3535363"/>
            <a:ext cx="1139825" cy="666750"/>
          </a:xfrm>
          <a:custGeom>
            <a:avLst/>
            <a:gdLst>
              <a:gd name="T0" fmla="*/ 0 w 1273063"/>
              <a:gd name="T1" fmla="*/ 0 h 715637"/>
              <a:gd name="T2" fmla="*/ 0 w 1273063"/>
              <a:gd name="T3" fmla="*/ 0 h 715637"/>
              <a:gd name="T4" fmla="*/ 0 w 1273063"/>
              <a:gd name="T5" fmla="*/ 0 h 715637"/>
              <a:gd name="T6" fmla="*/ 0 w 1273063"/>
              <a:gd name="T7" fmla="*/ 0 h 715637"/>
              <a:gd name="T8" fmla="*/ 0 w 1273063"/>
              <a:gd name="T9" fmla="*/ 0 h 715637"/>
              <a:gd name="T10" fmla="*/ 0 w 1273063"/>
              <a:gd name="T11" fmla="*/ 0 h 715637"/>
              <a:gd name="T12" fmla="*/ 0 w 1273063"/>
              <a:gd name="T13" fmla="*/ 0 h 715637"/>
              <a:gd name="T14" fmla="*/ 0 w 1273063"/>
              <a:gd name="T15" fmla="*/ 0 h 7156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3063"/>
              <a:gd name="T25" fmla="*/ 0 h 715637"/>
              <a:gd name="T26" fmla="*/ 1273063 w 1273063"/>
              <a:gd name="T27" fmla="*/ 715637 h 7156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3063" h="715637">
                <a:moveTo>
                  <a:pt x="0" y="52196"/>
                </a:moveTo>
                <a:lnTo>
                  <a:pt x="915873" y="178595"/>
                </a:lnTo>
                <a:lnTo>
                  <a:pt x="915873" y="0"/>
                </a:lnTo>
                <a:lnTo>
                  <a:pt x="1273063" y="357190"/>
                </a:lnTo>
                <a:lnTo>
                  <a:pt x="915873" y="714380"/>
                </a:lnTo>
                <a:lnTo>
                  <a:pt x="915873" y="535785"/>
                </a:lnTo>
                <a:lnTo>
                  <a:pt x="45245" y="715637"/>
                </a:lnTo>
                <a:lnTo>
                  <a:pt x="0" y="52196"/>
                </a:lnTo>
                <a:close/>
              </a:path>
            </a:pathLst>
          </a:custGeom>
          <a:gradFill rotWithShape="1">
            <a:gsLst>
              <a:gs pos="0">
                <a:srgbClr val="964700">
                  <a:alpha val="0"/>
                </a:srgbClr>
              </a:gs>
              <a:gs pos="50000">
                <a:srgbClr val="F07F09">
                  <a:alpha val="50000"/>
                </a:srgbClr>
              </a:gs>
              <a:gs pos="100000">
                <a:srgbClr val="FF7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2021" name="矩形 2"/>
          <p:cNvSpPr>
            <a:spLocks noChangeArrowheads="1"/>
          </p:cNvSpPr>
          <p:nvPr/>
        </p:nvSpPr>
        <p:spPr bwMode="auto">
          <a:xfrm>
            <a:off x="3011488" y="1063625"/>
            <a:ext cx="6348412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可以讓區域網路內的多台電腦虛擬</a:t>
            </a: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，以一個實體</a:t>
            </a:r>
            <a:r>
              <a:rPr kumimoji="1" lang="en-US" altLang="zh-TW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</a:t>
            </a:r>
            <a:r>
              <a:rPr kumimoji="1" lang="zh-TW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進行上網</a:t>
            </a:r>
            <a:endParaRPr kumimoji="1" lang="en-US" altLang="zh-TW" sz="2800" b="0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新細明體" panose="02020500000000000000" pitchFamily="18" charset="-12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88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名詞解釋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69975"/>
          <a:ext cx="9144000" cy="5781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80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QAM</a:t>
                      </a:r>
                      <a:endParaRPr lang="zh-TW" altLang="en-US" sz="3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6" marB="4573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2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Quadrature</a:t>
                      </a:r>
                      <a:r>
                        <a:rPr lang="en-US" altLang="zh-TW" sz="2200" b="1" baseline="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Amplitude Modulation</a:t>
                      </a:r>
                      <a:r>
                        <a:rPr lang="zh-TW" altLang="en-US" sz="22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正交振幅調變，</a:t>
                      </a:r>
                      <a:r>
                        <a:rPr lang="zh-TW" altLang="en-US" sz="22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屬數位訊號調變技術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，是一種在兩個正交載波（</a:t>
                      </a:r>
                      <a:r>
                        <a:rPr lang="en-US" altLang="zh-TW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ASK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及</a:t>
                      </a:r>
                      <a:r>
                        <a:rPr lang="en-US" altLang="zh-TW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PSK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）上進行振幅調變的調變方式。</a:t>
                      </a:r>
                    </a:p>
                  </a:txBody>
                  <a:tcPr marT="45736" marB="4573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DMT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6" marB="4573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2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Discrete Multi-Tone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，離散多重音調</a:t>
                      </a:r>
                      <a:r>
                        <a:rPr lang="zh-TW" altLang="en-US" sz="22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zh-TW" altLang="en-US" sz="22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屬數位訊號調變技術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將電話線可用的頻寬均等分為</a:t>
                      </a:r>
                      <a:r>
                        <a:rPr lang="en-US" altLang="zh-TW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256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個子通道分配給語音、上傳、下傳。</a:t>
                      </a:r>
                      <a:endParaRPr lang="en-US" altLang="zh-TW" sz="22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1-6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通道：傳統語音服務，</a:t>
                      </a:r>
                      <a:r>
                        <a:rPr lang="en-US" altLang="zh-TW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7-38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通道：資料上傳，</a:t>
                      </a:r>
                      <a:r>
                        <a:rPr lang="en-US" altLang="zh-TW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39-256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通道：資料下傳。</a:t>
                      </a:r>
                      <a:endParaRPr lang="en-US" altLang="zh-TW" sz="22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36" marB="45736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0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CAP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6" marB="4573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200" b="1" dirty="0" err="1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Carrierless</a:t>
                      </a:r>
                      <a:r>
                        <a:rPr lang="en-US" altLang="zh-TW" sz="2200" b="1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Amplitude/Phase Modulation</a:t>
                      </a:r>
                      <a:r>
                        <a:rPr lang="zh-TW" altLang="en-US" sz="2200" b="1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，無載波振幅與相位調變，</a:t>
                      </a:r>
                      <a:r>
                        <a:rPr lang="zh-TW" altLang="en-US" sz="22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屬數位訊號調變技術，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此技術就是利用</a:t>
                      </a:r>
                      <a:r>
                        <a:rPr lang="en-US" altLang="zh-TW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QAM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的方式將數位資料調變於單一載波上，利用電話傳輸，當沒有數位資料時，自動關閉載波不送出，稱為不載波。</a:t>
                      </a:r>
                    </a:p>
                  </a:txBody>
                  <a:tcPr marT="45736" marB="45736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43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ＦＭ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36" marB="45736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22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Frequency Modulation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，調頻，</a:t>
                      </a:r>
                      <a:r>
                        <a:rPr lang="zh-TW" altLang="en-US" sz="22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屬類比訊號調變技術，</a:t>
                      </a:r>
                      <a:r>
                        <a:rPr lang="zh-TW" altLang="en-US" sz="2200" b="1" kern="1200" dirty="0" smtClean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是一種以載波的瞬時頻率變化來表示資訊的調變方式。</a:t>
                      </a:r>
                    </a:p>
                  </a:txBody>
                  <a:tcPr marT="45736" marB="45736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07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雙絞線接頭規格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33827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0" t="18900" r="18732" b="3612"/>
          <a:stretch>
            <a:fillRect/>
          </a:stretch>
        </p:blipFill>
        <p:spPr bwMode="auto">
          <a:xfrm>
            <a:off x="4787900" y="2798763"/>
            <a:ext cx="2624138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828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49500"/>
            <a:ext cx="336232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3829" name="文字方塊 41"/>
          <p:cNvSpPr txBox="1">
            <a:spLocks noChangeArrowheads="1"/>
          </p:cNvSpPr>
          <p:nvPr/>
        </p:nvSpPr>
        <p:spPr bwMode="auto">
          <a:xfrm>
            <a:off x="0" y="605948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雙絞線接頭規格又稱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水晶頭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，接頭中有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</a:t>
            </a:r>
          </a:p>
        </p:txBody>
      </p:sp>
      <p:cxnSp>
        <p:nvCxnSpPr>
          <p:cNvPr id="3" name="直線單箭頭接點 2"/>
          <p:cNvCxnSpPr/>
          <p:nvPr/>
        </p:nvCxnSpPr>
        <p:spPr>
          <a:xfrm>
            <a:off x="6011863" y="3019425"/>
            <a:ext cx="0" cy="3079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5422900" y="3028950"/>
            <a:ext cx="598488" cy="9525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6100763" y="2746375"/>
            <a:ext cx="0" cy="58420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5021263" y="2752725"/>
            <a:ext cx="1087437" cy="2381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6184900" y="2395538"/>
            <a:ext cx="0" cy="94456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 flipV="1">
            <a:off x="5595938" y="2405063"/>
            <a:ext cx="596900" cy="1111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270625" y="1966913"/>
            <a:ext cx="0" cy="136842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 flipV="1">
            <a:off x="6343650" y="2392363"/>
            <a:ext cx="598488" cy="9525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6343650" y="2390775"/>
            <a:ext cx="0" cy="9445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6430963" y="2741613"/>
            <a:ext cx="0" cy="58578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6440488" y="2736850"/>
            <a:ext cx="1089025" cy="2381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6507163" y="3021013"/>
            <a:ext cx="0" cy="30638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 flipV="1">
            <a:off x="6492875" y="3019425"/>
            <a:ext cx="596900" cy="11113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6583363" y="3281363"/>
            <a:ext cx="842962" cy="3333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844" name="文字方塊 41"/>
          <p:cNvSpPr txBox="1">
            <a:spLocks noChangeArrowheads="1"/>
          </p:cNvSpPr>
          <p:nvPr/>
        </p:nvSpPr>
        <p:spPr bwMode="auto">
          <a:xfrm>
            <a:off x="4595813" y="2886075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1</a:t>
            </a:r>
          </a:p>
        </p:txBody>
      </p:sp>
      <p:sp>
        <p:nvSpPr>
          <p:cNvPr id="333845" name="文字方塊 41"/>
          <p:cNvSpPr txBox="1">
            <a:spLocks noChangeArrowheads="1"/>
          </p:cNvSpPr>
          <p:nvPr/>
        </p:nvSpPr>
        <p:spPr bwMode="auto">
          <a:xfrm>
            <a:off x="4176713" y="2571750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2</a:t>
            </a:r>
          </a:p>
        </p:txBody>
      </p:sp>
      <p:sp>
        <p:nvSpPr>
          <p:cNvPr id="333846" name="文字方塊 41"/>
          <p:cNvSpPr txBox="1">
            <a:spLocks noChangeArrowheads="1"/>
          </p:cNvSpPr>
          <p:nvPr/>
        </p:nvSpPr>
        <p:spPr bwMode="auto">
          <a:xfrm>
            <a:off x="4773613" y="2206625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3</a:t>
            </a:r>
          </a:p>
        </p:txBody>
      </p:sp>
      <p:sp>
        <p:nvSpPr>
          <p:cNvPr id="333847" name="文字方塊 41"/>
          <p:cNvSpPr txBox="1">
            <a:spLocks noChangeArrowheads="1"/>
          </p:cNvSpPr>
          <p:nvPr/>
        </p:nvSpPr>
        <p:spPr bwMode="auto">
          <a:xfrm>
            <a:off x="5813425" y="1647825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4</a:t>
            </a:r>
          </a:p>
        </p:txBody>
      </p:sp>
      <p:sp>
        <p:nvSpPr>
          <p:cNvPr id="333848" name="文字方塊 41"/>
          <p:cNvSpPr txBox="1">
            <a:spLocks noChangeArrowheads="1"/>
          </p:cNvSpPr>
          <p:nvPr/>
        </p:nvSpPr>
        <p:spPr bwMode="auto">
          <a:xfrm>
            <a:off x="6791325" y="2206625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5</a:t>
            </a:r>
          </a:p>
        </p:txBody>
      </p:sp>
      <p:sp>
        <p:nvSpPr>
          <p:cNvPr id="333849" name="文字方塊 41"/>
          <p:cNvSpPr txBox="1">
            <a:spLocks noChangeArrowheads="1"/>
          </p:cNvSpPr>
          <p:nvPr/>
        </p:nvSpPr>
        <p:spPr bwMode="auto">
          <a:xfrm>
            <a:off x="7316788" y="2536825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6</a:t>
            </a:r>
          </a:p>
        </p:txBody>
      </p:sp>
      <p:sp>
        <p:nvSpPr>
          <p:cNvPr id="333850" name="文字方塊 41"/>
          <p:cNvSpPr txBox="1">
            <a:spLocks noChangeArrowheads="1"/>
          </p:cNvSpPr>
          <p:nvPr/>
        </p:nvSpPr>
        <p:spPr bwMode="auto">
          <a:xfrm>
            <a:off x="6862763" y="2811463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7</a:t>
            </a:r>
          </a:p>
        </p:txBody>
      </p:sp>
      <p:sp>
        <p:nvSpPr>
          <p:cNvPr id="333851" name="文字方塊 41"/>
          <p:cNvSpPr txBox="1">
            <a:spLocks noChangeArrowheads="1"/>
          </p:cNvSpPr>
          <p:nvPr/>
        </p:nvSpPr>
        <p:spPr bwMode="auto">
          <a:xfrm>
            <a:off x="7210425" y="3081338"/>
            <a:ext cx="104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 8</a:t>
            </a:r>
          </a:p>
        </p:txBody>
      </p:sp>
      <p:cxnSp>
        <p:nvCxnSpPr>
          <p:cNvPr id="28" name="直線單箭頭接點 27"/>
          <p:cNvCxnSpPr/>
          <p:nvPr/>
        </p:nvCxnSpPr>
        <p:spPr>
          <a:xfrm flipH="1">
            <a:off x="6727825" y="4100513"/>
            <a:ext cx="842963" cy="3175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853" name="文字方塊 41"/>
          <p:cNvSpPr txBox="1">
            <a:spLocks noChangeArrowheads="1"/>
          </p:cNvSpPr>
          <p:nvPr/>
        </p:nvSpPr>
        <p:spPr bwMode="auto">
          <a:xfrm>
            <a:off x="7412038" y="3878263"/>
            <a:ext cx="1336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外皮位置</a:t>
            </a:r>
            <a:endParaRPr kumimoji="1" lang="en-US" altLang="zh-TW" sz="2000" b="1" i="0" u="none" strike="noStrike" kern="1200" cap="none" spc="0" normalizeH="0" baseline="0" noProof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56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雙絞線接頭規格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35875" name="文字方塊 41"/>
          <p:cNvSpPr txBox="1">
            <a:spLocks noChangeArrowheads="1"/>
          </p:cNvSpPr>
          <p:nvPr/>
        </p:nvSpPr>
        <p:spPr bwMode="auto">
          <a:xfrm>
            <a:off x="0" y="605948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雙絞線接頭規格又稱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水晶頭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，接頭中有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PIN</a:t>
            </a:r>
          </a:p>
        </p:txBody>
      </p:sp>
      <p:pic>
        <p:nvPicPr>
          <p:cNvPr id="335876" name="Picture 2" descr="https://i2.read01.com/SIG=27ao0tl/3045676447783836454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201738"/>
            <a:ext cx="7056437" cy="483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995738" y="3429000"/>
            <a:ext cx="1296987" cy="43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19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RJ45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接頭的接法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337923" name="群組 150"/>
          <p:cNvGrpSpPr>
            <a:grpSpLocks/>
          </p:cNvGrpSpPr>
          <p:nvPr/>
        </p:nvGrpSpPr>
        <p:grpSpPr bwMode="auto">
          <a:xfrm>
            <a:off x="4572000" y="1100138"/>
            <a:ext cx="4572000" cy="4740275"/>
            <a:chOff x="4529140" y="1891079"/>
            <a:chExt cx="4572000" cy="4740976"/>
          </a:xfrm>
        </p:grpSpPr>
        <p:grpSp>
          <p:nvGrpSpPr>
            <p:cNvPr id="337969" name="群組 104"/>
            <p:cNvGrpSpPr>
              <a:grpSpLocks/>
            </p:cNvGrpSpPr>
            <p:nvPr/>
          </p:nvGrpSpPr>
          <p:grpSpPr bwMode="auto">
            <a:xfrm>
              <a:off x="5053337" y="1891079"/>
              <a:ext cx="3384376" cy="4066821"/>
              <a:chOff x="5053337" y="1891079"/>
              <a:chExt cx="3384376" cy="4066821"/>
            </a:xfrm>
          </p:grpSpPr>
          <p:grpSp>
            <p:nvGrpSpPr>
              <p:cNvPr id="337971" name="群組 4"/>
              <p:cNvGrpSpPr>
                <a:grpSpLocks/>
              </p:cNvGrpSpPr>
              <p:nvPr/>
            </p:nvGrpSpPr>
            <p:grpSpPr bwMode="auto">
              <a:xfrm>
                <a:off x="5053337" y="3005572"/>
                <a:ext cx="3384376" cy="2952328"/>
                <a:chOff x="4851001" y="2564904"/>
                <a:chExt cx="3384376" cy="2952328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4850679" y="2565001"/>
                  <a:ext cx="3384550" cy="295159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3" name="矩形 2"/>
                <p:cNvSpPr/>
                <p:nvPr/>
              </p:nvSpPr>
              <p:spPr>
                <a:xfrm>
                  <a:off x="5138017" y="2565001"/>
                  <a:ext cx="2809875" cy="4318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</p:grpSp>
          <p:grpSp>
            <p:nvGrpSpPr>
              <p:cNvPr id="337972" name="群組 42"/>
              <p:cNvGrpSpPr>
                <a:grpSpLocks/>
              </p:cNvGrpSpPr>
              <p:nvPr/>
            </p:nvGrpSpPr>
            <p:grpSpPr bwMode="auto">
              <a:xfrm>
                <a:off x="5369360" y="3588327"/>
                <a:ext cx="2767971" cy="2322918"/>
                <a:chOff x="5176055" y="2787619"/>
                <a:chExt cx="2767971" cy="2322918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5175623" y="2787659"/>
                  <a:ext cx="350837" cy="12066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5499473" y="2787659"/>
                  <a:ext cx="350837" cy="17528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5851898" y="2787659"/>
                  <a:ext cx="350837" cy="17528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6545635" y="2787659"/>
                  <a:ext cx="350838" cy="23228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6201148" y="2787659"/>
                  <a:ext cx="350837" cy="23228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7593385" y="2787659"/>
                  <a:ext cx="350838" cy="12066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6894885" y="2787659"/>
                  <a:ext cx="350838" cy="17528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7247310" y="2787659"/>
                  <a:ext cx="350838" cy="17528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新細明體"/>
                    <a:cs typeface="+mn-cs"/>
                  </a:endParaRPr>
                </a:p>
              </p:txBody>
            </p:sp>
          </p:grpSp>
          <p:sp>
            <p:nvSpPr>
              <p:cNvPr id="19" name="矩形 18"/>
              <p:cNvSpPr/>
              <p:nvPr/>
            </p:nvSpPr>
            <p:spPr>
              <a:xfrm>
                <a:off x="5565778" y="3612183"/>
                <a:ext cx="161925" cy="657322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rgbClr val="FD79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5880103" y="3604244"/>
                <a:ext cx="163512" cy="657322"/>
              </a:xfrm>
              <a:prstGeom prst="rect">
                <a:avLst/>
              </a:prstGeom>
              <a:solidFill>
                <a:srgbClr val="FD791F"/>
              </a:solidFill>
              <a:ln w="50800">
                <a:solidFill>
                  <a:srgbClr val="FD791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6196015" y="3612183"/>
                <a:ext cx="161925" cy="655734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510340" y="3604244"/>
                <a:ext cx="163513" cy="657322"/>
              </a:xfrm>
              <a:prstGeom prst="rect">
                <a:avLst/>
              </a:prstGeom>
              <a:solidFill>
                <a:srgbClr val="0000FF"/>
              </a:solidFill>
              <a:ln w="508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6826253" y="3604244"/>
                <a:ext cx="161925" cy="657322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140578" y="3604244"/>
                <a:ext cx="163512" cy="657322"/>
              </a:xfrm>
              <a:prstGeom prst="rect">
                <a:avLst/>
              </a:prstGeom>
              <a:solidFill>
                <a:srgbClr val="00FF00"/>
              </a:solidFill>
              <a:ln w="50800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7456490" y="3604244"/>
                <a:ext cx="161925" cy="657322"/>
              </a:xfrm>
              <a:prstGeom prst="rect">
                <a:avLst/>
              </a:prstGeom>
              <a:solidFill>
                <a:schemeClr val="bg1"/>
              </a:solidFill>
              <a:ln w="50800">
                <a:solidFill>
                  <a:srgbClr val="99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7770815" y="3604244"/>
                <a:ext cx="161925" cy="657322"/>
              </a:xfrm>
              <a:prstGeom prst="rect">
                <a:avLst/>
              </a:prstGeom>
              <a:solidFill>
                <a:srgbClr val="993300"/>
              </a:solidFill>
              <a:ln w="50800">
                <a:solidFill>
                  <a:srgbClr val="99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337981" name="文字方塊 41"/>
              <p:cNvSpPr txBox="1">
                <a:spLocks noChangeArrowheads="1"/>
              </p:cNvSpPr>
              <p:nvPr/>
            </p:nvSpPr>
            <p:spPr bwMode="auto">
              <a:xfrm>
                <a:off x="5486432" y="4273723"/>
                <a:ext cx="32352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白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橙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2" name="文字方塊 41"/>
              <p:cNvSpPr txBox="1">
                <a:spLocks noChangeArrowheads="1"/>
              </p:cNvSpPr>
              <p:nvPr/>
            </p:nvSpPr>
            <p:spPr bwMode="auto">
              <a:xfrm>
                <a:off x="5816300" y="4292385"/>
                <a:ext cx="3235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橙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3" name="文字方塊 41"/>
              <p:cNvSpPr txBox="1">
                <a:spLocks noChangeArrowheads="1"/>
              </p:cNvSpPr>
              <p:nvPr/>
            </p:nvSpPr>
            <p:spPr bwMode="auto">
              <a:xfrm>
                <a:off x="6115375" y="4276691"/>
                <a:ext cx="32352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白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綠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4" name="文字方塊 41"/>
              <p:cNvSpPr txBox="1">
                <a:spLocks noChangeArrowheads="1"/>
              </p:cNvSpPr>
              <p:nvPr/>
            </p:nvSpPr>
            <p:spPr bwMode="auto">
              <a:xfrm>
                <a:off x="6445243" y="4295353"/>
                <a:ext cx="3235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藍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5" name="文字方塊 41"/>
              <p:cNvSpPr txBox="1">
                <a:spLocks noChangeArrowheads="1"/>
              </p:cNvSpPr>
              <p:nvPr/>
            </p:nvSpPr>
            <p:spPr bwMode="auto">
              <a:xfrm>
                <a:off x="6749836" y="4276691"/>
                <a:ext cx="32352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白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藍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6" name="文字方塊 41"/>
              <p:cNvSpPr txBox="1">
                <a:spLocks noChangeArrowheads="1"/>
              </p:cNvSpPr>
              <p:nvPr/>
            </p:nvSpPr>
            <p:spPr bwMode="auto">
              <a:xfrm>
                <a:off x="7079704" y="4295353"/>
                <a:ext cx="3235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綠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7" name="文字方塊 41"/>
              <p:cNvSpPr txBox="1">
                <a:spLocks noChangeArrowheads="1"/>
              </p:cNvSpPr>
              <p:nvPr/>
            </p:nvSpPr>
            <p:spPr bwMode="auto">
              <a:xfrm>
                <a:off x="7386223" y="4277691"/>
                <a:ext cx="323528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白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棕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sp>
            <p:nvSpPr>
              <p:cNvPr id="337988" name="文字方塊 41"/>
              <p:cNvSpPr txBox="1">
                <a:spLocks noChangeArrowheads="1"/>
              </p:cNvSpPr>
              <p:nvPr/>
            </p:nvSpPr>
            <p:spPr bwMode="auto">
              <a:xfrm>
                <a:off x="7716091" y="4277691"/>
                <a:ext cx="3235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棕</a:t>
                </a:r>
                <a:endParaRPr kumimoji="1" lang="en-US" altLang="zh-TW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endParaRPr>
              </a:p>
            </p:txBody>
          </p:sp>
          <p:cxnSp>
            <p:nvCxnSpPr>
              <p:cNvPr id="36" name="直線接點 35"/>
              <p:cNvCxnSpPr/>
              <p:nvPr/>
            </p:nvCxnSpPr>
            <p:spPr>
              <a:xfrm flipH="1">
                <a:off x="5608640" y="3050125"/>
                <a:ext cx="201613" cy="387407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/>
              <p:nvPr/>
            </p:nvCxnSpPr>
            <p:spPr>
              <a:xfrm>
                <a:off x="5810253" y="3050125"/>
                <a:ext cx="168275" cy="387407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991" name="文字方塊 41"/>
              <p:cNvSpPr txBox="1">
                <a:spLocks noChangeArrowheads="1"/>
              </p:cNvSpPr>
              <p:nvPr/>
            </p:nvSpPr>
            <p:spPr bwMode="auto">
              <a:xfrm>
                <a:off x="5335970" y="2707900"/>
                <a:ext cx="10407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Pair 2</a:t>
                </a:r>
              </a:p>
            </p:txBody>
          </p:sp>
          <p:cxnSp>
            <p:nvCxnSpPr>
              <p:cNvPr id="48" name="直線接點 47"/>
              <p:cNvCxnSpPr/>
              <p:nvPr/>
            </p:nvCxnSpPr>
            <p:spPr>
              <a:xfrm flipH="1">
                <a:off x="6567490" y="3046950"/>
                <a:ext cx="201613" cy="385819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>
                <a:off x="6769103" y="3046950"/>
                <a:ext cx="168275" cy="385819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994" name="文字方塊 41"/>
              <p:cNvSpPr txBox="1">
                <a:spLocks noChangeArrowheads="1"/>
              </p:cNvSpPr>
              <p:nvPr/>
            </p:nvSpPr>
            <p:spPr bwMode="auto">
              <a:xfrm>
                <a:off x="6294781" y="2703924"/>
                <a:ext cx="10407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Pair 1</a:t>
                </a:r>
              </a:p>
            </p:txBody>
          </p:sp>
          <p:cxnSp>
            <p:nvCxnSpPr>
              <p:cNvPr id="51" name="直線接點 50"/>
              <p:cNvCxnSpPr/>
              <p:nvPr/>
            </p:nvCxnSpPr>
            <p:spPr>
              <a:xfrm flipH="1">
                <a:off x="7515228" y="3050125"/>
                <a:ext cx="201612" cy="385819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>
              <a:xfrm>
                <a:off x="7716840" y="3050125"/>
                <a:ext cx="166688" cy="385819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997" name="文字方塊 41"/>
              <p:cNvSpPr txBox="1">
                <a:spLocks noChangeArrowheads="1"/>
              </p:cNvSpPr>
              <p:nvPr/>
            </p:nvSpPr>
            <p:spPr bwMode="auto">
              <a:xfrm>
                <a:off x="7242261" y="2707379"/>
                <a:ext cx="10407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Pair 4</a:t>
                </a:r>
              </a:p>
            </p:txBody>
          </p:sp>
          <p:cxnSp>
            <p:nvCxnSpPr>
              <p:cNvPr id="54" name="直線接點 53"/>
              <p:cNvCxnSpPr/>
              <p:nvPr/>
            </p:nvCxnSpPr>
            <p:spPr>
              <a:xfrm>
                <a:off x="7221540" y="2573805"/>
                <a:ext cx="0" cy="858964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/>
              <p:cNvCxnSpPr/>
              <p:nvPr/>
            </p:nvCxnSpPr>
            <p:spPr>
              <a:xfrm>
                <a:off x="6265865" y="2573805"/>
                <a:ext cx="0" cy="858964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接點 98"/>
              <p:cNvCxnSpPr/>
              <p:nvPr/>
            </p:nvCxnSpPr>
            <p:spPr>
              <a:xfrm flipH="1">
                <a:off x="6265865" y="2234030"/>
                <a:ext cx="454025" cy="355653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/>
              <p:cNvCxnSpPr/>
              <p:nvPr/>
            </p:nvCxnSpPr>
            <p:spPr>
              <a:xfrm>
                <a:off x="6684965" y="2234030"/>
                <a:ext cx="536575" cy="355653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8002" name="文字方塊 41"/>
              <p:cNvSpPr txBox="1">
                <a:spLocks noChangeArrowheads="1"/>
              </p:cNvSpPr>
              <p:nvPr/>
            </p:nvSpPr>
            <p:spPr bwMode="auto">
              <a:xfrm>
                <a:off x="6248412" y="1891079"/>
                <a:ext cx="10407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rPr>
                  <a:t>Pair 3</a:t>
                </a:r>
              </a:p>
            </p:txBody>
          </p:sp>
        </p:grpSp>
        <p:sp>
          <p:nvSpPr>
            <p:cNvPr id="337970" name="文字方塊 41"/>
            <p:cNvSpPr txBox="1">
              <a:spLocks noChangeArrowheads="1"/>
            </p:cNvSpPr>
            <p:nvPr/>
          </p:nvSpPr>
          <p:spPr bwMode="auto">
            <a:xfrm>
              <a:off x="4529140" y="6047855"/>
              <a:ext cx="45720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TIA/EIA 568B</a:t>
              </a:r>
            </a:p>
          </p:txBody>
        </p:sp>
      </p:grpSp>
      <p:grpSp>
        <p:nvGrpSpPr>
          <p:cNvPr id="337924" name="群組 153"/>
          <p:cNvGrpSpPr>
            <a:grpSpLocks/>
          </p:cNvGrpSpPr>
          <p:nvPr/>
        </p:nvGrpSpPr>
        <p:grpSpPr bwMode="auto">
          <a:xfrm>
            <a:off x="141288" y="1087438"/>
            <a:ext cx="4572000" cy="4741862"/>
            <a:chOff x="427922" y="1193477"/>
            <a:chExt cx="4572000" cy="4740976"/>
          </a:xfrm>
        </p:grpSpPr>
        <p:grpSp>
          <p:nvGrpSpPr>
            <p:cNvPr id="337926" name="群組 107"/>
            <p:cNvGrpSpPr>
              <a:grpSpLocks/>
            </p:cNvGrpSpPr>
            <p:nvPr/>
          </p:nvGrpSpPr>
          <p:grpSpPr bwMode="auto">
            <a:xfrm>
              <a:off x="952119" y="2307970"/>
              <a:ext cx="3384376" cy="2952328"/>
              <a:chOff x="4851001" y="2564904"/>
              <a:chExt cx="3384376" cy="2952328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4850679" y="2564628"/>
                <a:ext cx="3384550" cy="295219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5138016" y="2564628"/>
                <a:ext cx="2809875" cy="431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</p:grpSp>
        <p:grpSp>
          <p:nvGrpSpPr>
            <p:cNvPr id="337927" name="群組 110"/>
            <p:cNvGrpSpPr>
              <a:grpSpLocks/>
            </p:cNvGrpSpPr>
            <p:nvPr/>
          </p:nvGrpSpPr>
          <p:grpSpPr bwMode="auto">
            <a:xfrm>
              <a:off x="1268142" y="2890725"/>
              <a:ext cx="2767971" cy="2322918"/>
              <a:chOff x="5176055" y="2787619"/>
              <a:chExt cx="2767971" cy="2322918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5175622" y="2787091"/>
                <a:ext cx="350838" cy="1207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5499472" y="2787091"/>
                <a:ext cx="350838" cy="17538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5851897" y="2787091"/>
                <a:ext cx="350838" cy="17538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545635" y="2787091"/>
                <a:ext cx="350837" cy="232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01147" y="2787091"/>
                <a:ext cx="350838" cy="2323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7593385" y="2787091"/>
                <a:ext cx="350837" cy="1207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894885" y="2787091"/>
                <a:ext cx="350837" cy="17538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7247310" y="2787091"/>
                <a:ext cx="350837" cy="17538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新細明體"/>
                  <a:cs typeface="+mn-cs"/>
                </a:endParaRPr>
              </a:p>
            </p:txBody>
          </p:sp>
        </p:grpSp>
        <p:sp>
          <p:nvSpPr>
            <p:cNvPr id="120" name="矩形 119"/>
            <p:cNvSpPr/>
            <p:nvPr/>
          </p:nvSpPr>
          <p:spPr>
            <a:xfrm>
              <a:off x="1464559" y="2914005"/>
              <a:ext cx="161925" cy="657102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rgbClr val="00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778884" y="2906069"/>
              <a:ext cx="163513" cy="658690"/>
            </a:xfrm>
            <a:prstGeom prst="rect">
              <a:avLst/>
            </a:prstGeom>
            <a:solidFill>
              <a:srgbClr val="00FF00"/>
            </a:solidFill>
            <a:ln w="50800">
              <a:solidFill>
                <a:srgbClr val="00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2094797" y="2914005"/>
              <a:ext cx="161925" cy="657102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rgbClr val="FD7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2409122" y="2906069"/>
              <a:ext cx="163512" cy="658690"/>
            </a:xfrm>
            <a:prstGeom prst="rect">
              <a:avLst/>
            </a:prstGeom>
            <a:solidFill>
              <a:srgbClr val="0000FF"/>
            </a:solidFill>
            <a:ln w="508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2725034" y="2906069"/>
              <a:ext cx="161925" cy="65869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3039359" y="2906069"/>
              <a:ext cx="163513" cy="658690"/>
            </a:xfrm>
            <a:prstGeom prst="rect">
              <a:avLst/>
            </a:prstGeom>
            <a:solidFill>
              <a:srgbClr val="FD791F"/>
            </a:solidFill>
            <a:ln w="50800">
              <a:solidFill>
                <a:srgbClr val="FD79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3355272" y="2906069"/>
              <a:ext cx="161925" cy="65869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3669597" y="2906069"/>
              <a:ext cx="163512" cy="658690"/>
            </a:xfrm>
            <a:prstGeom prst="rect">
              <a:avLst/>
            </a:prstGeom>
            <a:solidFill>
              <a:srgbClr val="993300"/>
            </a:solidFill>
            <a:ln w="50800">
              <a:solidFill>
                <a:srgbClr val="99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337936" name="文字方塊 41"/>
            <p:cNvSpPr txBox="1">
              <a:spLocks noChangeArrowheads="1"/>
            </p:cNvSpPr>
            <p:nvPr/>
          </p:nvSpPr>
          <p:spPr bwMode="auto">
            <a:xfrm>
              <a:off x="1385214" y="3576121"/>
              <a:ext cx="32352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白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綠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37" name="文字方塊 41"/>
            <p:cNvSpPr txBox="1">
              <a:spLocks noChangeArrowheads="1"/>
            </p:cNvSpPr>
            <p:nvPr/>
          </p:nvSpPr>
          <p:spPr bwMode="auto">
            <a:xfrm>
              <a:off x="1715082" y="3594783"/>
              <a:ext cx="3235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綠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38" name="文字方塊 41"/>
            <p:cNvSpPr txBox="1">
              <a:spLocks noChangeArrowheads="1"/>
            </p:cNvSpPr>
            <p:nvPr/>
          </p:nvSpPr>
          <p:spPr bwMode="auto">
            <a:xfrm>
              <a:off x="2014157" y="3579089"/>
              <a:ext cx="32352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白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橙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39" name="文字方塊 41"/>
            <p:cNvSpPr txBox="1">
              <a:spLocks noChangeArrowheads="1"/>
            </p:cNvSpPr>
            <p:nvPr/>
          </p:nvSpPr>
          <p:spPr bwMode="auto">
            <a:xfrm>
              <a:off x="2344025" y="3597751"/>
              <a:ext cx="3235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藍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40" name="文字方塊 41"/>
            <p:cNvSpPr txBox="1">
              <a:spLocks noChangeArrowheads="1"/>
            </p:cNvSpPr>
            <p:nvPr/>
          </p:nvSpPr>
          <p:spPr bwMode="auto">
            <a:xfrm>
              <a:off x="2648618" y="3579089"/>
              <a:ext cx="32352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白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藍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41" name="文字方塊 41"/>
            <p:cNvSpPr txBox="1">
              <a:spLocks noChangeArrowheads="1"/>
            </p:cNvSpPr>
            <p:nvPr/>
          </p:nvSpPr>
          <p:spPr bwMode="auto">
            <a:xfrm>
              <a:off x="2978486" y="3597751"/>
              <a:ext cx="3235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橙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42" name="文字方塊 41"/>
            <p:cNvSpPr txBox="1">
              <a:spLocks noChangeArrowheads="1"/>
            </p:cNvSpPr>
            <p:nvPr/>
          </p:nvSpPr>
          <p:spPr bwMode="auto">
            <a:xfrm>
              <a:off x="3285005" y="3580089"/>
              <a:ext cx="32352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白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棕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37943" name="文字方塊 41"/>
            <p:cNvSpPr txBox="1">
              <a:spLocks noChangeArrowheads="1"/>
            </p:cNvSpPr>
            <p:nvPr/>
          </p:nvSpPr>
          <p:spPr bwMode="auto">
            <a:xfrm>
              <a:off x="3614873" y="3580089"/>
              <a:ext cx="32352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棕</a:t>
              </a:r>
              <a:endParaRPr kumimoji="1" lang="en-US" altLang="zh-TW" sz="1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cxnSp>
          <p:nvCxnSpPr>
            <p:cNvPr id="136" name="直線接點 135"/>
            <p:cNvCxnSpPr/>
            <p:nvPr/>
          </p:nvCxnSpPr>
          <p:spPr>
            <a:xfrm flipH="1">
              <a:off x="1507422" y="2353722"/>
              <a:ext cx="201612" cy="38569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接點 136"/>
            <p:cNvCxnSpPr/>
            <p:nvPr/>
          </p:nvCxnSpPr>
          <p:spPr>
            <a:xfrm>
              <a:off x="1709034" y="2353722"/>
              <a:ext cx="168275" cy="38569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46" name="文字方塊 41"/>
            <p:cNvSpPr txBox="1">
              <a:spLocks noChangeArrowheads="1"/>
            </p:cNvSpPr>
            <p:nvPr/>
          </p:nvSpPr>
          <p:spPr bwMode="auto">
            <a:xfrm>
              <a:off x="1234752" y="2010298"/>
              <a:ext cx="10407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Pair 3</a:t>
              </a:r>
            </a:p>
          </p:txBody>
        </p:sp>
        <p:cxnSp>
          <p:nvCxnSpPr>
            <p:cNvPr id="139" name="直線接點 138"/>
            <p:cNvCxnSpPr/>
            <p:nvPr/>
          </p:nvCxnSpPr>
          <p:spPr>
            <a:xfrm flipH="1">
              <a:off x="2466272" y="2348961"/>
              <a:ext cx="201612" cy="3872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/>
            <p:cNvCxnSpPr/>
            <p:nvPr/>
          </p:nvCxnSpPr>
          <p:spPr>
            <a:xfrm>
              <a:off x="2667884" y="2348961"/>
              <a:ext cx="168275" cy="3872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49" name="文字方塊 41"/>
            <p:cNvSpPr txBox="1">
              <a:spLocks noChangeArrowheads="1"/>
            </p:cNvSpPr>
            <p:nvPr/>
          </p:nvSpPr>
          <p:spPr bwMode="auto">
            <a:xfrm>
              <a:off x="2193563" y="2006322"/>
              <a:ext cx="10407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Pair 1</a:t>
              </a:r>
            </a:p>
          </p:txBody>
        </p:sp>
        <p:cxnSp>
          <p:nvCxnSpPr>
            <p:cNvPr id="142" name="直線接點 141"/>
            <p:cNvCxnSpPr/>
            <p:nvPr/>
          </p:nvCxnSpPr>
          <p:spPr>
            <a:xfrm flipH="1">
              <a:off x="3414009" y="2352135"/>
              <a:ext cx="201613" cy="3872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接點 142"/>
            <p:cNvCxnSpPr/>
            <p:nvPr/>
          </p:nvCxnSpPr>
          <p:spPr>
            <a:xfrm>
              <a:off x="3615622" y="2352135"/>
              <a:ext cx="168275" cy="387278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52" name="文字方塊 41"/>
            <p:cNvSpPr txBox="1">
              <a:spLocks noChangeArrowheads="1"/>
            </p:cNvSpPr>
            <p:nvPr/>
          </p:nvSpPr>
          <p:spPr bwMode="auto">
            <a:xfrm>
              <a:off x="3141043" y="2009777"/>
              <a:ext cx="10407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Pair 4</a:t>
              </a:r>
            </a:p>
          </p:txBody>
        </p:sp>
        <p:cxnSp>
          <p:nvCxnSpPr>
            <p:cNvPr id="145" name="直線接點 144"/>
            <p:cNvCxnSpPr/>
            <p:nvPr/>
          </p:nvCxnSpPr>
          <p:spPr>
            <a:xfrm>
              <a:off x="3120322" y="1875974"/>
              <a:ext cx="0" cy="86026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/>
            <p:cNvCxnSpPr/>
            <p:nvPr/>
          </p:nvCxnSpPr>
          <p:spPr>
            <a:xfrm>
              <a:off x="2166234" y="1875974"/>
              <a:ext cx="0" cy="86026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接點 146"/>
            <p:cNvCxnSpPr/>
            <p:nvPr/>
          </p:nvCxnSpPr>
          <p:spPr>
            <a:xfrm flipH="1">
              <a:off x="2166234" y="1536313"/>
              <a:ext cx="452438" cy="35553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/>
            <p:cNvCxnSpPr/>
            <p:nvPr/>
          </p:nvCxnSpPr>
          <p:spPr>
            <a:xfrm>
              <a:off x="2583747" y="1536313"/>
              <a:ext cx="536575" cy="35553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57" name="文字方塊 41"/>
            <p:cNvSpPr txBox="1">
              <a:spLocks noChangeArrowheads="1"/>
            </p:cNvSpPr>
            <p:nvPr/>
          </p:nvSpPr>
          <p:spPr bwMode="auto">
            <a:xfrm>
              <a:off x="2147194" y="1193477"/>
              <a:ext cx="10407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Pair 2</a:t>
              </a:r>
            </a:p>
          </p:txBody>
        </p:sp>
        <p:sp>
          <p:nvSpPr>
            <p:cNvPr id="337958" name="文字方塊 41"/>
            <p:cNvSpPr txBox="1">
              <a:spLocks noChangeArrowheads="1"/>
            </p:cNvSpPr>
            <p:nvPr/>
          </p:nvSpPr>
          <p:spPr bwMode="auto">
            <a:xfrm>
              <a:off x="427922" y="5350253"/>
              <a:ext cx="4572000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TIA/EIA 568A</a:t>
              </a:r>
            </a:p>
          </p:txBody>
        </p:sp>
      </p:grpSp>
      <p:sp>
        <p:nvSpPr>
          <p:cNvPr id="337925" name="矩形 3"/>
          <p:cNvSpPr>
            <a:spLocks noChangeArrowheads="1"/>
          </p:cNvSpPr>
          <p:nvPr/>
        </p:nvSpPr>
        <p:spPr bwMode="auto">
          <a:xfrm>
            <a:off x="4763" y="5975350"/>
            <a:ext cx="9210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TIA/EIA-568（也可稱為T568）是RJ45埠連接雙絞線時使用的一種線序</a:t>
            </a:r>
          </a:p>
        </p:txBody>
      </p:sp>
    </p:spTree>
    <p:extLst>
      <p:ext uri="{BB962C8B-B14F-4D97-AF65-F5344CB8AC3E}">
        <p14:creationId xmlns:p14="http://schemas.microsoft.com/office/powerpoint/2010/main" val="418739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拱形 107"/>
          <p:cNvSpPr/>
          <p:nvPr/>
        </p:nvSpPr>
        <p:spPr>
          <a:xfrm rot="10800000">
            <a:off x="1881188" y="4867275"/>
            <a:ext cx="5126037" cy="1990725"/>
          </a:xfrm>
          <a:prstGeom prst="blockArc">
            <a:avLst>
              <a:gd name="adj1" fmla="val 10906803"/>
              <a:gd name="adj2" fmla="val 0"/>
              <a:gd name="adj3" fmla="val 25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5872" name="拱形 35871"/>
          <p:cNvSpPr/>
          <p:nvPr/>
        </p:nvSpPr>
        <p:spPr>
          <a:xfrm rot="10800000">
            <a:off x="1881188" y="1989138"/>
            <a:ext cx="5126037" cy="1990725"/>
          </a:xfrm>
          <a:prstGeom prst="blockArc">
            <a:avLst>
              <a:gd name="adj1" fmla="val 10906803"/>
              <a:gd name="adj2" fmla="val 0"/>
              <a:gd name="adj3" fmla="val 25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339972" name="圖片 10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563" y="1073150"/>
            <a:ext cx="22320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設備連線的網路線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39974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1079500"/>
            <a:ext cx="22320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9975" name="圖片 10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995738"/>
            <a:ext cx="2203450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9976" name="圖片 10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088" y="4002088"/>
            <a:ext cx="2203450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9977" name="文字方塊 41"/>
          <p:cNvSpPr txBox="1">
            <a:spLocks noChangeArrowheads="1"/>
          </p:cNvSpPr>
          <p:nvPr/>
        </p:nvSpPr>
        <p:spPr bwMode="auto">
          <a:xfrm>
            <a:off x="2363788" y="3287713"/>
            <a:ext cx="431958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直線網路線</a:t>
            </a:r>
            <a:endParaRPr kumimoji="1" lang="en-US" altLang="zh-TW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Straight-through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87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拱形 35871"/>
          <p:cNvSpPr/>
          <p:nvPr/>
        </p:nvSpPr>
        <p:spPr>
          <a:xfrm rot="10800000">
            <a:off x="1619250" y="3729038"/>
            <a:ext cx="6121400" cy="1992312"/>
          </a:xfrm>
          <a:prstGeom prst="blockArc">
            <a:avLst>
              <a:gd name="adj1" fmla="val 10906803"/>
              <a:gd name="adj2" fmla="val 0"/>
              <a:gd name="adj3" fmla="val 25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設備連線的網路線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342020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1341438"/>
            <a:ext cx="3879851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2021" name="圖片 10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1355725"/>
            <a:ext cx="38703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2022" name="文字方塊 41"/>
          <p:cNvSpPr txBox="1">
            <a:spLocks noChangeArrowheads="1"/>
          </p:cNvSpPr>
          <p:nvPr/>
        </p:nvSpPr>
        <p:spPr bwMode="auto">
          <a:xfrm>
            <a:off x="2552700" y="4056063"/>
            <a:ext cx="43211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跳線網路線</a:t>
            </a:r>
            <a:endParaRPr kumimoji="1" lang="en-US" altLang="zh-TW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</a:t>
            </a:r>
            <a:r>
              <a:rPr kumimoji="1" lang="en-US" altLang="zh-TW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Crossover</a:t>
            </a:r>
            <a:r>
              <a:rPr kumimoji="1" lang="zh-TW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endParaRPr kumimoji="1" lang="en-US" altLang="zh-TW" sz="3200" b="1" i="0" u="none" strike="noStrike" kern="120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3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31"/>
          <p:cNvSpPr txBox="1">
            <a:spLocks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設備之間使用</a:t>
            </a:r>
            <a:r>
              <a:rPr kumimoji="1" lang="en-US" altLang="zh-TW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RJ45</a:t>
            </a:r>
            <a:r>
              <a:rPr kumimoji="1" lang="zh-TW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網路線</a:t>
            </a:r>
            <a:endParaRPr kumimoji="1" lang="zh-TW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0" y="1071563"/>
          <a:ext cx="9144001" cy="5786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2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72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電腦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路由器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交換器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集線器</a:t>
                      </a: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2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電腦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2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路由器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2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交換器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72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集線器</a:t>
                      </a:r>
                      <a:endParaRPr lang="zh-TW" altLang="en-US" sz="3600" b="1" kern="1200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T="45727" marB="45727" anchor="ctr">
                    <a:solidFill>
                      <a:srgbClr val="58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</a:t>
                      </a:r>
                      <a:endParaRPr lang="zh-TW" altLang="en-US" sz="3600" b="1" dirty="0" smtClean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600" b="1" kern="1200" dirty="0" smtClean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3600" b="1" dirty="0" smtClean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727" marB="45727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04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554" name="Picture 23" descr="目錄 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4" r="1076"/>
          <a:stretch>
            <a:fillRect/>
          </a:stretch>
        </p:blipFill>
        <p:spPr bwMode="auto">
          <a:xfrm>
            <a:off x="-14288" y="-31750"/>
            <a:ext cx="9158288" cy="542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6"/>
          <p:cNvSpPr/>
          <p:nvPr/>
        </p:nvSpPr>
        <p:spPr>
          <a:xfrm>
            <a:off x="-38100" y="2936875"/>
            <a:ext cx="9182100" cy="3940175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</a:gdLst>
            <a:ahLst/>
            <a:cxnLst>
              <a:cxn ang="0">
                <a:pos x="connsiteX0-31" y="connsiteY0-32"/>
              </a:cxn>
              <a:cxn ang="0">
                <a:pos x="connsiteX1-33" y="connsiteY1-34"/>
              </a:cxn>
              <a:cxn ang="0">
                <a:pos x="connsiteX2-35" y="connsiteY2-36"/>
              </a:cxn>
              <a:cxn ang="0">
                <a:pos x="connsiteX3-37" y="connsiteY3-38"/>
              </a:cxn>
              <a:cxn ang="0">
                <a:pos x="connsiteX4-39" y="connsiteY4-40"/>
              </a:cxn>
            </a:cxnLst>
            <a:rect l="l" t="t" r="r" b="b"/>
            <a:pathLst>
              <a:path w="9182637" h="3940935">
                <a:moveTo>
                  <a:pt x="25758" y="2112135"/>
                </a:moveTo>
                <a:cubicBezTo>
                  <a:pt x="5441929" y="3367484"/>
                  <a:pt x="8008211" y="1403320"/>
                  <a:pt x="9182637" y="0"/>
                </a:cubicBezTo>
                <a:lnTo>
                  <a:pt x="9169758" y="3940935"/>
                </a:lnTo>
                <a:lnTo>
                  <a:pt x="0" y="3940935"/>
                </a:lnTo>
                <a:lnTo>
                  <a:pt x="25758" y="211213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5" name="手繪多邊形 7"/>
          <p:cNvSpPr/>
          <p:nvPr/>
        </p:nvSpPr>
        <p:spPr>
          <a:xfrm>
            <a:off x="-38100" y="3560763"/>
            <a:ext cx="9182100" cy="3297237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  <a:gd name="connsiteX0-41" fmla="*/ 25758 w 9182637"/>
              <a:gd name="connsiteY0-42" fmla="*/ 1469217 h 3298017"/>
              <a:gd name="connsiteX1-43" fmla="*/ 9182637 w 9182637"/>
              <a:gd name="connsiteY1-44" fmla="*/ 0 h 3298017"/>
              <a:gd name="connsiteX2-45" fmla="*/ 9169758 w 9182637"/>
              <a:gd name="connsiteY2-46" fmla="*/ 3298017 h 3298017"/>
              <a:gd name="connsiteX3-47" fmla="*/ 0 w 9182637"/>
              <a:gd name="connsiteY3-48" fmla="*/ 3298017 h 3298017"/>
              <a:gd name="connsiteX4-49" fmla="*/ 25758 w 9182637"/>
              <a:gd name="connsiteY4-50" fmla="*/ 1469217 h 3298017"/>
              <a:gd name="connsiteX0-51" fmla="*/ 25758 w 9182637"/>
              <a:gd name="connsiteY0-52" fmla="*/ 1469217 h 3298017"/>
              <a:gd name="connsiteX1-53" fmla="*/ 9182637 w 9182637"/>
              <a:gd name="connsiteY1-54" fmla="*/ 0 h 3298017"/>
              <a:gd name="connsiteX2-55" fmla="*/ 9169758 w 9182637"/>
              <a:gd name="connsiteY2-56" fmla="*/ 3298017 h 3298017"/>
              <a:gd name="connsiteX3-57" fmla="*/ 0 w 9182637"/>
              <a:gd name="connsiteY3-58" fmla="*/ 3298017 h 3298017"/>
              <a:gd name="connsiteX4-59" fmla="*/ 25758 w 9182637"/>
              <a:gd name="connsiteY4-60" fmla="*/ 1469217 h 3298017"/>
              <a:gd name="connsiteX0-61" fmla="*/ 25758 w 9182637"/>
              <a:gd name="connsiteY0-62" fmla="*/ 1469217 h 3298017"/>
              <a:gd name="connsiteX1-63" fmla="*/ 9182637 w 9182637"/>
              <a:gd name="connsiteY1-64" fmla="*/ 0 h 3298017"/>
              <a:gd name="connsiteX2-65" fmla="*/ 9169758 w 9182637"/>
              <a:gd name="connsiteY2-66" fmla="*/ 3298017 h 3298017"/>
              <a:gd name="connsiteX3-67" fmla="*/ 0 w 9182637"/>
              <a:gd name="connsiteY3-68" fmla="*/ 3298017 h 3298017"/>
              <a:gd name="connsiteX4-69" fmla="*/ 25758 w 9182637"/>
              <a:gd name="connsiteY4-70" fmla="*/ 1469217 h 3298017"/>
              <a:gd name="connsiteX0-71" fmla="*/ 25758 w 9182637"/>
              <a:gd name="connsiteY0-72" fmla="*/ 1469217 h 3298017"/>
              <a:gd name="connsiteX1-73" fmla="*/ 9182637 w 9182637"/>
              <a:gd name="connsiteY1-74" fmla="*/ 0 h 3298017"/>
              <a:gd name="connsiteX2-75" fmla="*/ 9169758 w 9182637"/>
              <a:gd name="connsiteY2-76" fmla="*/ 3298017 h 3298017"/>
              <a:gd name="connsiteX3-77" fmla="*/ 0 w 9182637"/>
              <a:gd name="connsiteY3-78" fmla="*/ 3298017 h 3298017"/>
              <a:gd name="connsiteX4-79" fmla="*/ 25758 w 9182637"/>
              <a:gd name="connsiteY4-80" fmla="*/ 1469217 h 3298017"/>
            </a:gdLst>
            <a:ahLst/>
            <a:cxnLst>
              <a:cxn ang="0">
                <a:pos x="connsiteX0-71" y="connsiteY0-72"/>
              </a:cxn>
              <a:cxn ang="0">
                <a:pos x="connsiteX1-73" y="connsiteY1-74"/>
              </a:cxn>
              <a:cxn ang="0">
                <a:pos x="connsiteX2-75" y="connsiteY2-76"/>
              </a:cxn>
              <a:cxn ang="0">
                <a:pos x="connsiteX3-77" y="connsiteY3-78"/>
              </a:cxn>
              <a:cxn ang="0">
                <a:pos x="connsiteX4-79" y="connsiteY4-80"/>
              </a:cxn>
            </a:cxnLst>
            <a:rect l="l" t="t" r="r" b="b"/>
            <a:pathLst>
              <a:path w="9182637" h="3298017">
                <a:moveTo>
                  <a:pt x="25758" y="1469217"/>
                </a:moveTo>
                <a:cubicBezTo>
                  <a:pt x="5390000" y="2758734"/>
                  <a:pt x="7831707" y="1270898"/>
                  <a:pt x="9182637" y="0"/>
                </a:cubicBezTo>
                <a:lnTo>
                  <a:pt x="9169758" y="3298017"/>
                </a:lnTo>
                <a:lnTo>
                  <a:pt x="0" y="3298017"/>
                </a:lnTo>
                <a:lnTo>
                  <a:pt x="25758" y="1469217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6" name="手繪多邊形 8"/>
          <p:cNvSpPr/>
          <p:nvPr/>
        </p:nvSpPr>
        <p:spPr>
          <a:xfrm>
            <a:off x="-38100" y="4221163"/>
            <a:ext cx="9182100" cy="2798762"/>
          </a:xfrm>
          <a:custGeom>
            <a:avLst/>
            <a:gdLst>
              <a:gd name="connsiteX0" fmla="*/ 25758 w 9182637"/>
              <a:gd name="connsiteY0" fmla="*/ 2112135 h 3940935"/>
              <a:gd name="connsiteX1" fmla="*/ 9182637 w 9182637"/>
              <a:gd name="connsiteY1" fmla="*/ 0 h 3940935"/>
              <a:gd name="connsiteX2" fmla="*/ 9169758 w 9182637"/>
              <a:gd name="connsiteY2" fmla="*/ 3940935 h 3940935"/>
              <a:gd name="connsiteX3" fmla="*/ 0 w 9182637"/>
              <a:gd name="connsiteY3" fmla="*/ 3940935 h 3940935"/>
              <a:gd name="connsiteX4" fmla="*/ 25758 w 9182637"/>
              <a:gd name="connsiteY4" fmla="*/ 2112135 h 3940935"/>
              <a:gd name="connsiteX0-1" fmla="*/ 25758 w 9182637"/>
              <a:gd name="connsiteY0-2" fmla="*/ 2112135 h 3940935"/>
              <a:gd name="connsiteX1-3" fmla="*/ 9182637 w 9182637"/>
              <a:gd name="connsiteY1-4" fmla="*/ 0 h 3940935"/>
              <a:gd name="connsiteX2-5" fmla="*/ 9169758 w 9182637"/>
              <a:gd name="connsiteY2-6" fmla="*/ 3940935 h 3940935"/>
              <a:gd name="connsiteX3-7" fmla="*/ 0 w 9182637"/>
              <a:gd name="connsiteY3-8" fmla="*/ 3940935 h 3940935"/>
              <a:gd name="connsiteX4-9" fmla="*/ 25758 w 9182637"/>
              <a:gd name="connsiteY4-10" fmla="*/ 2112135 h 3940935"/>
              <a:gd name="connsiteX0-11" fmla="*/ 25758 w 9182637"/>
              <a:gd name="connsiteY0-12" fmla="*/ 2112135 h 3940935"/>
              <a:gd name="connsiteX1-13" fmla="*/ 9182637 w 9182637"/>
              <a:gd name="connsiteY1-14" fmla="*/ 0 h 3940935"/>
              <a:gd name="connsiteX2-15" fmla="*/ 9169758 w 9182637"/>
              <a:gd name="connsiteY2-16" fmla="*/ 3940935 h 3940935"/>
              <a:gd name="connsiteX3-17" fmla="*/ 0 w 9182637"/>
              <a:gd name="connsiteY3-18" fmla="*/ 3940935 h 3940935"/>
              <a:gd name="connsiteX4-19" fmla="*/ 25758 w 9182637"/>
              <a:gd name="connsiteY4-20" fmla="*/ 2112135 h 3940935"/>
              <a:gd name="connsiteX0-21" fmla="*/ 25758 w 9182637"/>
              <a:gd name="connsiteY0-22" fmla="*/ 2112135 h 3940935"/>
              <a:gd name="connsiteX1-23" fmla="*/ 9182637 w 9182637"/>
              <a:gd name="connsiteY1-24" fmla="*/ 0 h 3940935"/>
              <a:gd name="connsiteX2-25" fmla="*/ 9169758 w 9182637"/>
              <a:gd name="connsiteY2-26" fmla="*/ 3940935 h 3940935"/>
              <a:gd name="connsiteX3-27" fmla="*/ 0 w 9182637"/>
              <a:gd name="connsiteY3-28" fmla="*/ 3940935 h 3940935"/>
              <a:gd name="connsiteX4-29" fmla="*/ 25758 w 9182637"/>
              <a:gd name="connsiteY4-30" fmla="*/ 2112135 h 3940935"/>
              <a:gd name="connsiteX0-31" fmla="*/ 25758 w 9182637"/>
              <a:gd name="connsiteY0-32" fmla="*/ 2112135 h 3940935"/>
              <a:gd name="connsiteX1-33" fmla="*/ 9182637 w 9182637"/>
              <a:gd name="connsiteY1-34" fmla="*/ 0 h 3940935"/>
              <a:gd name="connsiteX2-35" fmla="*/ 9169758 w 9182637"/>
              <a:gd name="connsiteY2-36" fmla="*/ 3940935 h 3940935"/>
              <a:gd name="connsiteX3-37" fmla="*/ 0 w 9182637"/>
              <a:gd name="connsiteY3-38" fmla="*/ 3940935 h 3940935"/>
              <a:gd name="connsiteX4-39" fmla="*/ 25758 w 9182637"/>
              <a:gd name="connsiteY4-40" fmla="*/ 2112135 h 3940935"/>
              <a:gd name="connsiteX0-41" fmla="*/ 25758 w 9182637"/>
              <a:gd name="connsiteY0-42" fmla="*/ 1469217 h 3298017"/>
              <a:gd name="connsiteX1-43" fmla="*/ 9182637 w 9182637"/>
              <a:gd name="connsiteY1-44" fmla="*/ 0 h 3298017"/>
              <a:gd name="connsiteX2-45" fmla="*/ 9169758 w 9182637"/>
              <a:gd name="connsiteY2-46" fmla="*/ 3298017 h 3298017"/>
              <a:gd name="connsiteX3-47" fmla="*/ 0 w 9182637"/>
              <a:gd name="connsiteY3-48" fmla="*/ 3298017 h 3298017"/>
              <a:gd name="connsiteX4-49" fmla="*/ 25758 w 9182637"/>
              <a:gd name="connsiteY4-50" fmla="*/ 1469217 h 3298017"/>
              <a:gd name="connsiteX0-51" fmla="*/ 25758 w 9182637"/>
              <a:gd name="connsiteY0-52" fmla="*/ 1469217 h 3298017"/>
              <a:gd name="connsiteX1-53" fmla="*/ 9182637 w 9182637"/>
              <a:gd name="connsiteY1-54" fmla="*/ 0 h 3298017"/>
              <a:gd name="connsiteX2-55" fmla="*/ 9169758 w 9182637"/>
              <a:gd name="connsiteY2-56" fmla="*/ 3298017 h 3298017"/>
              <a:gd name="connsiteX3-57" fmla="*/ 0 w 9182637"/>
              <a:gd name="connsiteY3-58" fmla="*/ 3298017 h 3298017"/>
              <a:gd name="connsiteX4-59" fmla="*/ 25758 w 9182637"/>
              <a:gd name="connsiteY4-60" fmla="*/ 1469217 h 3298017"/>
              <a:gd name="connsiteX0-61" fmla="*/ 25758 w 9182637"/>
              <a:gd name="connsiteY0-62" fmla="*/ 1469217 h 3298017"/>
              <a:gd name="connsiteX1-63" fmla="*/ 9182637 w 9182637"/>
              <a:gd name="connsiteY1-64" fmla="*/ 0 h 3298017"/>
              <a:gd name="connsiteX2-65" fmla="*/ 9169758 w 9182637"/>
              <a:gd name="connsiteY2-66" fmla="*/ 3298017 h 3298017"/>
              <a:gd name="connsiteX3-67" fmla="*/ 0 w 9182637"/>
              <a:gd name="connsiteY3-68" fmla="*/ 3298017 h 3298017"/>
              <a:gd name="connsiteX4-69" fmla="*/ 25758 w 9182637"/>
              <a:gd name="connsiteY4-70" fmla="*/ 1469217 h 3298017"/>
              <a:gd name="connsiteX0-71" fmla="*/ 25758 w 9182637"/>
              <a:gd name="connsiteY0-72" fmla="*/ 969175 h 2797975"/>
              <a:gd name="connsiteX1-73" fmla="*/ 9182637 w 9182637"/>
              <a:gd name="connsiteY1-74" fmla="*/ 0 h 2797975"/>
              <a:gd name="connsiteX2-75" fmla="*/ 9169758 w 9182637"/>
              <a:gd name="connsiteY2-76" fmla="*/ 2797975 h 2797975"/>
              <a:gd name="connsiteX3-77" fmla="*/ 0 w 9182637"/>
              <a:gd name="connsiteY3-78" fmla="*/ 2797975 h 2797975"/>
              <a:gd name="connsiteX4-79" fmla="*/ 25758 w 9182637"/>
              <a:gd name="connsiteY4-80" fmla="*/ 969175 h 2797975"/>
              <a:gd name="connsiteX0-81" fmla="*/ 25758 w 9182637"/>
              <a:gd name="connsiteY0-82" fmla="*/ 969175 h 2797975"/>
              <a:gd name="connsiteX1-83" fmla="*/ 9182637 w 9182637"/>
              <a:gd name="connsiteY1-84" fmla="*/ 0 h 2797975"/>
              <a:gd name="connsiteX2-85" fmla="*/ 9169758 w 9182637"/>
              <a:gd name="connsiteY2-86" fmla="*/ 2797975 h 2797975"/>
              <a:gd name="connsiteX3-87" fmla="*/ 0 w 9182637"/>
              <a:gd name="connsiteY3-88" fmla="*/ 2797975 h 2797975"/>
              <a:gd name="connsiteX4-89" fmla="*/ 25758 w 9182637"/>
              <a:gd name="connsiteY4-90" fmla="*/ 969175 h 2797975"/>
              <a:gd name="connsiteX0-91" fmla="*/ 25758 w 9182637"/>
              <a:gd name="connsiteY0-92" fmla="*/ 969175 h 2797975"/>
              <a:gd name="connsiteX1-93" fmla="*/ 9182637 w 9182637"/>
              <a:gd name="connsiteY1-94" fmla="*/ 0 h 2797975"/>
              <a:gd name="connsiteX2-95" fmla="*/ 9169758 w 9182637"/>
              <a:gd name="connsiteY2-96" fmla="*/ 2797975 h 2797975"/>
              <a:gd name="connsiteX3-97" fmla="*/ 0 w 9182637"/>
              <a:gd name="connsiteY3-98" fmla="*/ 2797975 h 2797975"/>
              <a:gd name="connsiteX4-99" fmla="*/ 25758 w 9182637"/>
              <a:gd name="connsiteY4-100" fmla="*/ 969175 h 2797975"/>
              <a:gd name="connsiteX0-101" fmla="*/ 25758 w 9182637"/>
              <a:gd name="connsiteY0-102" fmla="*/ 969175 h 2797975"/>
              <a:gd name="connsiteX1-103" fmla="*/ 9182637 w 9182637"/>
              <a:gd name="connsiteY1-104" fmla="*/ 0 h 2797975"/>
              <a:gd name="connsiteX2-105" fmla="*/ 9169758 w 9182637"/>
              <a:gd name="connsiteY2-106" fmla="*/ 2797975 h 2797975"/>
              <a:gd name="connsiteX3-107" fmla="*/ 0 w 9182637"/>
              <a:gd name="connsiteY3-108" fmla="*/ 2797975 h 2797975"/>
              <a:gd name="connsiteX4-109" fmla="*/ 25758 w 9182637"/>
              <a:gd name="connsiteY4-110" fmla="*/ 969175 h 2797975"/>
            </a:gdLst>
            <a:ahLst/>
            <a:cxnLst>
              <a:cxn ang="0">
                <a:pos x="connsiteX0-101" y="connsiteY0-102"/>
              </a:cxn>
              <a:cxn ang="0">
                <a:pos x="connsiteX1-103" y="connsiteY1-104"/>
              </a:cxn>
              <a:cxn ang="0">
                <a:pos x="connsiteX2-105" y="connsiteY2-106"/>
              </a:cxn>
              <a:cxn ang="0">
                <a:pos x="connsiteX3-107" y="connsiteY3-108"/>
              </a:cxn>
              <a:cxn ang="0">
                <a:pos x="connsiteX4-109" y="connsiteY4-110"/>
              </a:cxn>
            </a:cxnLst>
            <a:rect l="l" t="t" r="r" b="b"/>
            <a:pathLst>
              <a:path w="9182637" h="2797975">
                <a:moveTo>
                  <a:pt x="25758" y="969175"/>
                </a:moveTo>
                <a:cubicBezTo>
                  <a:pt x="5396837" y="2321457"/>
                  <a:pt x="7733684" y="1141895"/>
                  <a:pt x="9182637" y="0"/>
                </a:cubicBezTo>
                <a:lnTo>
                  <a:pt x="9169758" y="2797975"/>
                </a:lnTo>
                <a:lnTo>
                  <a:pt x="0" y="2797975"/>
                </a:lnTo>
                <a:lnTo>
                  <a:pt x="25758" y="969175"/>
                </a:lnTo>
                <a:close/>
              </a:path>
            </a:pathLst>
          </a:custGeom>
          <a:solidFill>
            <a:srgbClr val="FFFFFF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7558" name="Text Box 29"/>
          <p:cNvSpPr txBox="1">
            <a:spLocks noChangeArrowheads="1"/>
          </p:cNvSpPr>
          <p:nvPr/>
        </p:nvSpPr>
        <p:spPr bwMode="auto">
          <a:xfrm>
            <a:off x="-7144" y="743704"/>
            <a:ext cx="91440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感謝聆聽</a:t>
            </a:r>
            <a:endParaRPr kumimoji="0" lang="en-US" altLang="zh-TW" sz="6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祝福</a:t>
            </a:r>
            <a:r>
              <a:rPr kumimoji="0" lang="zh-TW" alt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您</a:t>
            </a:r>
            <a:endParaRPr kumimoji="0" lang="en-US" altLang="zh-TW" sz="6600" b="1" i="0" u="none" strike="noStrike" kern="1200" cap="none" spc="0" normalizeH="0" baseline="0" noProof="0" dirty="0" smtClean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學科考試</a:t>
            </a:r>
            <a:r>
              <a:rPr kumimoji="0" lang="en-US" altLang="zh-TW" sz="6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Pass</a:t>
            </a:r>
            <a:endParaRPr kumimoji="0" lang="zh-TW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407559" name="Text Box 50"/>
          <p:cNvSpPr txBox="1">
            <a:spLocks noChangeArrowheads="1"/>
          </p:cNvSpPr>
          <p:nvPr/>
        </p:nvSpPr>
        <p:spPr bwMode="auto">
          <a:xfrm>
            <a:off x="1042988" y="6067425"/>
            <a:ext cx="70119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defRPr/>
            </a:pPr>
            <a:r>
              <a:rPr kumimoji="1" lang="zh-TW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行政院勞委會職訓局泰山職業訓練中心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A50021"/>
              </a:buClr>
              <a:buSzPct val="75000"/>
              <a:buFont typeface="Wingdings" pitchFamily="2" charset="2"/>
              <a:buNone/>
              <a:defRPr/>
            </a:pPr>
            <a:r>
              <a: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  <a:hlinkClick r:id="rId4"/>
              </a:rPr>
              <a:t> </a:t>
            </a: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  <a:hlinkClick r:id="rId4"/>
              </a:rPr>
              <a:t>http://www.tsvtc.gov.tw</a:t>
            </a: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          </a:t>
            </a:r>
            <a:r>
              <a: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總機：</a:t>
            </a: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02-29018274</a:t>
            </a:r>
          </a:p>
        </p:txBody>
      </p:sp>
      <p:pic>
        <p:nvPicPr>
          <p:cNvPr id="407560" name="Picture 49" descr="泰山LOGO (1)"/>
          <p:cNvPicPr preferRelativeResize="0">
            <a:picLocks noChangeArrowheads="1"/>
          </p:cNvPicPr>
          <p:nvPr/>
        </p:nvPicPr>
        <p:blipFill>
          <a:blip r:embed="rId5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57888"/>
            <a:ext cx="898525" cy="9001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7561" name="標題 31"/>
          <p:cNvSpPr txBox="1"/>
          <p:nvPr/>
        </p:nvSpPr>
        <p:spPr bwMode="auto">
          <a:xfrm>
            <a:off x="8285163" y="6513513"/>
            <a:ext cx="8397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41/41</a:t>
            </a:r>
            <a:endParaRPr kumimoji="0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130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8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3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7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8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38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7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8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27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9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9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29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30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20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2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2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10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2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2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3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3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3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3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35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3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37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39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40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41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5.xml><?xml version="1.0" encoding="utf-8"?>
<a:theme xmlns:a="http://schemas.openxmlformats.org/drawingml/2006/main" name="42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6.xml><?xml version="1.0" encoding="utf-8"?>
<a:theme xmlns:a="http://schemas.openxmlformats.org/drawingml/2006/main" name="43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7.xml><?xml version="1.0" encoding="utf-8"?>
<a:theme xmlns:a="http://schemas.openxmlformats.org/drawingml/2006/main" name="44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9439</Words>
  <Application>Microsoft Office PowerPoint</Application>
  <PresentationFormat>如螢幕大小 (4:3)</PresentationFormat>
  <Paragraphs>2313</Paragraphs>
  <Slides>172</Slides>
  <Notes>172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47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172</vt:i4>
      </vt:variant>
    </vt:vector>
  </HeadingPairs>
  <TitlesOfParts>
    <vt:vector size="226" baseType="lpstr">
      <vt:lpstr>微軟正黑體</vt:lpstr>
      <vt:lpstr>新細明體</vt:lpstr>
      <vt:lpstr>Arial</vt:lpstr>
      <vt:lpstr>Calibri</vt:lpstr>
      <vt:lpstr>Times New Roman</vt:lpstr>
      <vt:lpstr>Wingdings</vt:lpstr>
      <vt:lpstr>1_Office 佈景主題</vt:lpstr>
      <vt:lpstr>2_預設簡報設計</vt:lpstr>
      <vt:lpstr>4_預設簡報設計</vt:lpstr>
      <vt:lpstr>4_Office 佈景主題</vt:lpstr>
      <vt:lpstr>3_預設簡報設計</vt:lpstr>
      <vt:lpstr>13_預設簡報設計</vt:lpstr>
      <vt:lpstr>22_預設簡報設計</vt:lpstr>
      <vt:lpstr>28_預設簡報設計</vt:lpstr>
      <vt:lpstr>6_預設簡報設計</vt:lpstr>
      <vt:lpstr>11_預設簡報設計</vt:lpstr>
      <vt:lpstr>12_預設簡報設計</vt:lpstr>
      <vt:lpstr>14_預設簡報設計</vt:lpstr>
      <vt:lpstr>15_預設簡報設計</vt:lpstr>
      <vt:lpstr>3_Office 佈景主題</vt:lpstr>
      <vt:lpstr>17_預設簡報設計</vt:lpstr>
      <vt:lpstr>26_預設簡報設計</vt:lpstr>
      <vt:lpstr>18_預設簡報設計</vt:lpstr>
      <vt:lpstr>38_預設簡報設計</vt:lpstr>
      <vt:lpstr>5_預設簡報設計</vt:lpstr>
      <vt:lpstr>7_預設簡報設計</vt:lpstr>
      <vt:lpstr>8_預設簡報設計</vt:lpstr>
      <vt:lpstr>27_預設簡報設計</vt:lpstr>
      <vt:lpstr>9_預設簡報設計</vt:lpstr>
      <vt:lpstr>16_預設簡報設計</vt:lpstr>
      <vt:lpstr>19_預設簡報設計</vt:lpstr>
      <vt:lpstr>29_預設簡報設計</vt:lpstr>
      <vt:lpstr>30_預設簡報設計</vt:lpstr>
      <vt:lpstr>20_預設簡報設計</vt:lpstr>
      <vt:lpstr>21_預設簡報設計</vt:lpstr>
      <vt:lpstr>23_預設簡報設計</vt:lpstr>
      <vt:lpstr>1_預設簡報設計</vt:lpstr>
      <vt:lpstr>10_預設簡報設計</vt:lpstr>
      <vt:lpstr>24_預設簡報設計</vt:lpstr>
      <vt:lpstr>25_預設簡報設計</vt:lpstr>
      <vt:lpstr>31_預設簡報設計</vt:lpstr>
      <vt:lpstr>32_預設簡報設計</vt:lpstr>
      <vt:lpstr>33_預設簡報設計</vt:lpstr>
      <vt:lpstr>34_預設簡報設計</vt:lpstr>
      <vt:lpstr>35_預設簡報設計</vt:lpstr>
      <vt:lpstr>36_預設簡報設計</vt:lpstr>
      <vt:lpstr>37_預設簡報設計</vt:lpstr>
      <vt:lpstr>39_預設簡報設計</vt:lpstr>
      <vt:lpstr>40_預設簡報設計</vt:lpstr>
      <vt:lpstr>41_預設簡報設計</vt:lpstr>
      <vt:lpstr>42_預設簡報設計</vt:lpstr>
      <vt:lpstr>43_預設簡報設計</vt:lpstr>
      <vt:lpstr>44_預設簡報設計</vt:lpstr>
      <vt:lpstr>Image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512</cp:revision>
  <dcterms:created xsi:type="dcterms:W3CDTF">2017-06-20T06:27:00Z</dcterms:created>
  <dcterms:modified xsi:type="dcterms:W3CDTF">2022-01-18T06:40:32Z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1028-10.1.0.5644</vt:lpwstr>
  </property>
</Properties>
</file>