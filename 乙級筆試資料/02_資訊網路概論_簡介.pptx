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  <p:sldMasterId id="2147483699" r:id="rId3"/>
    <p:sldMasterId id="2147483711" r:id="rId4"/>
    <p:sldMasterId id="2147483723" r:id="rId5"/>
    <p:sldMasterId id="2147483736" r:id="rId6"/>
  </p:sldMasterIdLst>
  <p:notesMasterIdLst>
    <p:notesMasterId r:id="rId49"/>
  </p:notesMasterIdLst>
  <p:sldIdLst>
    <p:sldId id="321" r:id="rId7"/>
    <p:sldId id="427" r:id="rId8"/>
    <p:sldId id="342" r:id="rId9"/>
    <p:sldId id="431" r:id="rId10"/>
    <p:sldId id="432" r:id="rId11"/>
    <p:sldId id="433" r:id="rId12"/>
    <p:sldId id="437" r:id="rId13"/>
    <p:sldId id="434" r:id="rId14"/>
    <p:sldId id="364" r:id="rId15"/>
    <p:sldId id="367" r:id="rId16"/>
    <p:sldId id="368" r:id="rId17"/>
    <p:sldId id="366" r:id="rId18"/>
    <p:sldId id="438" r:id="rId19"/>
    <p:sldId id="369" r:id="rId20"/>
    <p:sldId id="398" r:id="rId21"/>
    <p:sldId id="359" r:id="rId22"/>
    <p:sldId id="360" r:id="rId23"/>
    <p:sldId id="361" r:id="rId24"/>
    <p:sldId id="362" r:id="rId25"/>
    <p:sldId id="363" r:id="rId26"/>
    <p:sldId id="371" r:id="rId27"/>
    <p:sldId id="435" r:id="rId28"/>
    <p:sldId id="372" r:id="rId29"/>
    <p:sldId id="373" r:id="rId30"/>
    <p:sldId id="436" r:id="rId31"/>
    <p:sldId id="375" r:id="rId32"/>
    <p:sldId id="376" r:id="rId33"/>
    <p:sldId id="377" r:id="rId34"/>
    <p:sldId id="378" r:id="rId35"/>
    <p:sldId id="379" r:id="rId36"/>
    <p:sldId id="381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99" r:id="rId45"/>
    <p:sldId id="400" r:id="rId46"/>
    <p:sldId id="401" r:id="rId47"/>
    <p:sldId id="315" r:id="rId4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85168" autoAdjust="0"/>
  </p:normalViewPr>
  <p:slideViewPr>
    <p:cSldViewPr snapToGrid="0">
      <p:cViewPr varScale="1">
        <p:scale>
          <a:sx n="98" d="100"/>
          <a:sy n="98" d="100"/>
        </p:scale>
        <p:origin x="184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8" Type="http://schemas.openxmlformats.org/officeDocument/2006/relationships/slide" Target="slides/slide2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notesMaster" Target="notesMasters/notesMaster1.xml"/><Relationship Id="rId106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4F7ED-1D4D-4803-8D36-DFED89DD701D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6C71B-E1F8-4E12-A4D7-600470733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6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xunjiepdf.com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ightpdf.com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lovepdf.com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dfcandy.com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everpdf.com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mallpdf.com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owersoft.tw/pdf-editor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02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180228" name="投影片編號版面配置區 3"/>
          <p:cNvSpPr txBox="1">
            <a:spLocks noGrp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061BEF08-4BDC-4DF2-9A00-ECC02DA645F0}" type="slidenum">
              <a:rPr lang="en-US" altLang="zh-TW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TW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84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備忘稿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LAMP = Linux + Apache + </a:t>
            </a:r>
            <a:r>
              <a:rPr lang="en-US" altLang="zh-TW" dirty="0" err="1" smtClean="0"/>
              <a:t>Mysql</a:t>
            </a:r>
            <a:r>
              <a:rPr lang="en-US" altLang="zh-TW" dirty="0" smtClean="0"/>
              <a:t> + </a:t>
            </a:r>
            <a:r>
              <a:rPr lang="en-US" altLang="zh-TW" dirty="0" err="1" smtClean="0"/>
              <a:t>PhP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3893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504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194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203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939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598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F398794-F12C-4373-A0A3-DC7A3BCBA1F8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41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F398794-F12C-4373-A0A3-DC7A3BCBA1F8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5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F398794-F12C-4373-A0A3-DC7A3BCBA1F8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458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522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522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0B3A877-67AD-4CDF-B0BE-77885570945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623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090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9613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774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235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93BC89-B385-42E9-900D-613AE60709B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980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2560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E84E1B-B9F4-4BDC-BF30-47405EFC505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740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9619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297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1EBDAD-CE29-44C3-80FF-035DAF67D88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8508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  <a:hlinkClick r:id="rId3"/>
              </a:rPr>
              <a:t>https://app.xunjiepdf.com/</a:t>
            </a:r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3174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E19F7B-543E-422F-B11B-345C8B8FF06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0869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</a:rPr>
              <a:t>20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23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26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27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30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31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32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33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34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36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41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42</a:t>
            </a:r>
          </a:p>
          <a:p>
            <a:r>
              <a:rPr lang="en-US" altLang="zh-TW" smtClean="0">
                <a:latin typeface="Arial" panose="020B0604020202020204" pitchFamily="34" charset="0"/>
              </a:rPr>
              <a:t>46</a:t>
            </a:r>
          </a:p>
          <a:p>
            <a:r>
              <a:rPr lang="zh-TW" altLang="en-US" smtClean="0">
                <a:latin typeface="Arial" panose="020B0604020202020204" pitchFamily="34" charset="0"/>
              </a:rPr>
              <a:t>圖片會被刪除</a:t>
            </a:r>
          </a:p>
        </p:txBody>
      </p:sp>
      <p:sp>
        <p:nvSpPr>
          <p:cNvPr id="337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802FE-90EF-4E32-951D-F2DEF9523E87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53504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</a:rPr>
              <a:t>https://app.xunjiepdf.com/</a:t>
            </a:r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4198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1912D6-95D4-46B2-95D6-B221BA849FEB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1348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  <a:hlinkClick r:id="rId3"/>
              </a:rPr>
              <a:t>https://lightpdf.com/</a:t>
            </a:r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3584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2B31BF-F009-4BB9-9F5D-D93B3442981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13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  <a:hlinkClick r:id="rId3"/>
              </a:rPr>
              <a:t>https://www.ilovepdf.com/</a:t>
            </a:r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399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1D176E-9AA2-402E-B8D0-6923E64AB177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5825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  <a:hlinkClick r:id="rId3"/>
              </a:rPr>
              <a:t>https://pdfcandy.com/</a:t>
            </a:r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4403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AFC6BD-08E6-45A2-956E-19A3E0F6216D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2337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  <a:hlinkClick r:id="rId3"/>
              </a:rPr>
              <a:t>https://www.cleverpdf.com/</a:t>
            </a:r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4608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3CEAA2-6BA4-44BD-BD92-34810DDF695B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8872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  <a:hlinkClick r:id="rId3"/>
              </a:rPr>
              <a:t>https://smallpdf.com/</a:t>
            </a:r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9BDF1C-272D-4CB9-ADF5-EEE6D4B12E03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13127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  <a:hlinkClick r:id="rId3"/>
              </a:rPr>
              <a:t>https://www.apowersoft.tw/pdf-editor</a:t>
            </a:r>
            <a:endParaRPr lang="en-US" altLang="zh-TW" smtClean="0">
              <a:latin typeface="Arial" panose="020B0604020202020204" pitchFamily="34" charset="0"/>
            </a:endParaRPr>
          </a:p>
          <a:p>
            <a:r>
              <a:rPr lang="zh-TW" altLang="en-US" smtClean="0">
                <a:latin typeface="Arial" panose="020B0604020202020204" pitchFamily="34" charset="0"/>
              </a:rPr>
              <a:t>只能轉</a:t>
            </a:r>
            <a:r>
              <a:rPr lang="en-US" altLang="zh-TW" smtClean="0">
                <a:latin typeface="Arial" panose="020B0604020202020204" pitchFamily="34" charset="0"/>
              </a:rPr>
              <a:t>5</a:t>
            </a:r>
            <a:r>
              <a:rPr lang="zh-TW" altLang="en-US" smtClean="0">
                <a:latin typeface="Arial" panose="020B0604020202020204" pitchFamily="34" charset="0"/>
              </a:rPr>
              <a:t>頁</a:t>
            </a:r>
          </a:p>
        </p:txBody>
      </p:sp>
      <p:sp>
        <p:nvSpPr>
          <p:cNvPr id="501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DA303C-A6D2-4AFF-89CC-5DB5A3D7E2D0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2908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</a:rPr>
              <a:t>(^#)</a:t>
            </a:r>
          </a:p>
          <a:p>
            <a:r>
              <a:rPr lang="en-US" altLang="zh-TW" dirty="0" smtClean="0">
                <a:latin typeface="Arial" panose="020B0604020202020204" pitchFamily="34" charset="0"/>
              </a:rPr>
              <a:t>(^#^#) (^#^#^#) (^#^#^#^#)</a:t>
            </a:r>
            <a:endParaRPr lang="zh-TW" altLang="en-US" dirty="0" smtClean="0">
              <a:latin typeface="Arial" panose="020B0604020202020204" pitchFamily="34" charset="0"/>
            </a:endParaRPr>
          </a:p>
          <a:p>
            <a:endParaRPr lang="zh-TW" altLang="en-US" dirty="0" smtClean="0">
              <a:latin typeface="Arial" panose="020B0604020202020204" pitchFamily="34" charset="0"/>
            </a:endParaRPr>
          </a:p>
          <a:p>
            <a:endParaRPr lang="zh-TW" altLang="en-US" dirty="0" smtClean="0">
              <a:latin typeface="Arial" panose="020B0604020202020204" pitchFamily="34" charset="0"/>
            </a:endParaRPr>
          </a:p>
          <a:p>
            <a:endParaRPr lang="zh-TW" altLang="en-US" dirty="0" smtClean="0">
              <a:latin typeface="Arial" panose="020B0604020202020204" pitchFamily="34" charset="0"/>
            </a:endParaRPr>
          </a:p>
        </p:txBody>
      </p:sp>
      <p:sp>
        <p:nvSpPr>
          <p:cNvPr id="522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5A4A5C-B08B-49C9-A65C-B88A16635BBB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6158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</a:rPr>
              <a:t>\(?\)</a:t>
            </a:r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542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3BD976-5E77-4288-A091-A0A4E85EE369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3970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</a:rPr>
              <a:t>\([1-4]\)</a:t>
            </a:r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56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A48A9B-66B1-4CC0-B1B4-21A14ABDD34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7347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^9</a:t>
            </a:r>
            <a:r>
              <a:rPr lang="en-US" altLang="zh-TW" baseline="0" dirty="0" smtClean="0"/>
              <a:t> </a:t>
            </a:r>
            <a:r>
              <a:rPr lang="zh-TW" altLang="en-US" baseline="0" dirty="0" smtClean="0"/>
              <a:t>圖片取代空白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D6C71B-E1F8-4E12-A4D7-600470733B11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4796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94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A1C746E-41C7-4F9E-B371-4DCC88BF84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98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F3DFCFF-9567-47C6-BDD0-0535D68292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13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EF7702A-1BE9-47AA-920C-63DB50F0AC7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381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DAA8C43-85E2-47D9-9370-E413756E7A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7825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1578F88-D058-42EB-A034-A6433F34AAF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222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55CCAA7-FF88-4AED-B2BB-022E3554D96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254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13A9F10-4C4A-44C3-8240-B6C9DA0C21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0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9BE3C65-1487-4922-9310-3368D52EF59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617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1631424-FEA1-4BAD-AEEC-C3EB56BA5E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492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D975ED0-34A6-4BB0-AF93-EE8BCBB997D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833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2991259-2112-44AE-934C-479DF94E26D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7595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6ADE312-9FA3-4A29-9E98-1947032D64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9507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1498638-632B-4B4C-ACCD-E9D0D2B462E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7964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A67B0BD-E84D-4D67-A606-780F3ADCC3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057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AC6817D-C939-4867-B01A-DC9E680DE0B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4268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82A9C0B-20FA-4E8C-8F3C-26F2BADAFE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59780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E138F42-A533-4F4F-B5A2-7B41D43F3F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8563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5E9456A-FF7C-418D-8A36-3DE162402F5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0851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B6F945C-5B36-4767-95F1-AD56FF6B98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666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1E8C2B2-0BF7-45B4-A774-4F9BD1B0FA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2060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2EAE1A2-42E5-4B59-ADB1-D938BA3F2F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3212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80C64B7-E808-49B3-B781-29D8F98A958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7184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E01DB36-4CB0-461F-AD9C-A4D3ABEC5B1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52057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1CBC0C2-C907-4A55-93E6-46038E8810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65424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E430D-7C23-46F2-9952-7EFD0E56FA99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0BCFC-8F51-467A-A0D7-2ABD2859C22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4926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solidFill>
            <a:srgbClr val="800000"/>
          </a:solidFill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411A1-B6C8-488F-B545-232E9A6A6178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08D4F-1874-4342-BA99-39AE232464EF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5793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C53A6-E229-40B5-9FDD-CAD456A9B4C3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06BE0-E1CD-4349-8168-E416DE04022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076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09279-2961-44A9-A7BD-58396E8FDC3C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063566-0176-4F2F-8945-37F732E9D9C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8501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326C5-CE08-40AD-A20E-3749DE82FF85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53807A-D5BD-4C5B-A97C-10436E48733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3015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67B20-DBAC-4AE8-BD95-D21EEABDA220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5FF66-34E3-490B-8315-8D4FC18F543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64689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E3144-5D76-4805-A95B-6695A8EE14B8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5940C7-26DB-4BFC-A5C6-D97D9A1322F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0615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BF0DD-6BCC-4233-89BD-73D293E77F62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55C34F-2ACB-48EB-9C7B-052DE4F397A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48160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CE0CF-0EEB-4964-9391-B0077B0A04CB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604FB-A7AC-4086-8B60-3DFB6385172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2798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76407-A535-49A6-A51F-93D6685B770F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972317-90B0-4EBC-B87C-6AC7B38DD05C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4116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AF6C1-A735-4589-AE51-69893CE89424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C64A2A-3F31-4739-BF5B-0282CD1C3BB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1889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2308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4483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3444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6930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108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214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62693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842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4205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29650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581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D3F3A9-5B2D-4933-B50D-2CC59D2A457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400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BB1259-EA2C-475D-88EB-8ECF4E1301E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9367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D69B608-AEC5-4F19-95E3-EAB75FEE03D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2558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276DB0-4977-42BC-99AF-536F1235642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0148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018527-7EDD-4408-BBE7-05183D7C52E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6086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8F6A1C-C576-4DD7-BE64-73C6DAF05B0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92798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2E326C-EC1A-46AD-8B11-A8915DD8CF8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191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1DB52-796B-4F4E-AD6E-7F84DB5DC5B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99315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1DEA50-C9EE-463D-BCA0-7EC5440F044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5304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A4E4477-337C-456C-A473-4726E5A4B23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76193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97DFBF-433F-48E5-9F52-AE777816BC2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8145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5ACD94-C397-4BBB-8A1E-456C20B1315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0541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2B799-15A0-4039-85C0-62FFE4C6CC2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1829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9B158-BFD7-4891-89EF-195584D4FB5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4669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09F267-A97F-43F1-A57E-05DB1EC15B3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94962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C16B70-69C4-4410-AEBD-D8944C98789B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5414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58A3E5-A1D0-48E9-9939-7D2F7BEC129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7280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5C1713-1AB8-49B8-A952-0C5EA0B8D51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78683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69653E-B80B-4A40-B40A-7F586537D9C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47285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96359F-4859-44A5-8B6A-5BD1A75F22A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29321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A813DB-BBC0-4A68-906C-4C1749CC553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0511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F16666-C7BA-4E77-8CA4-E2F717FE70F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06872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9369FE-3E38-4162-A730-87D83E5E4AE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0497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2C3811-1CE0-49A4-8779-C7600B850ED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62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C85B1E2-30B6-4862-92A5-97115C1B6E46}" type="slidenum">
              <a:rPr kumimoji="1" lang="en-US" altLang="zh-TW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/>
          </a:p>
        </p:txBody>
      </p:sp>
    </p:spTree>
    <p:extLst>
      <p:ext uri="{BB962C8B-B14F-4D97-AF65-F5344CB8AC3E}">
        <p14:creationId xmlns:p14="http://schemas.microsoft.com/office/powerpoint/2010/main" val="46560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AD8661-340A-480F-B82D-5523C8722D20}" type="slidenum">
              <a:rPr kumimoji="1" lang="en-US" altLang="zh-TW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/>
          </a:p>
        </p:txBody>
      </p:sp>
    </p:spTree>
    <p:extLst>
      <p:ext uri="{BB962C8B-B14F-4D97-AF65-F5344CB8AC3E}">
        <p14:creationId xmlns:p14="http://schemas.microsoft.com/office/powerpoint/2010/main" val="43212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763" y="-4763"/>
            <a:ext cx="9144000" cy="769938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00A39A1-4CAF-4FE1-9F67-7837A1C54E85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59F8C67-20BE-4EAF-A4E4-A660458EEAE3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345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2112C-79EE-4F22-BC2C-36CF67E4BB59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D74F4-A85D-40ED-ADE2-66055C38C51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93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8830C9-7A2A-4FC7-B7F4-71EF2F8863E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796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D0BBB8-8250-427F-B736-068595DE527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052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.jpeg"/><Relationship Id="rId5" Type="http://schemas.openxmlformats.org/officeDocument/2006/relationships/hyperlink" Target="http://tkyhkm.wda.gov.tw/" TargetMode="External"/><Relationship Id="rId4" Type="http://schemas.openxmlformats.org/officeDocument/2006/relationships/hyperlink" Target="http://www.tsvtc.gov.tw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xunjiepdf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xunjiepdf.com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xunjiepdf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lightpdf.c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everpdf.com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hyperlink" Target="http://tkyhkm.wda.gov.tw/" TargetMode="External"/><Relationship Id="rId4" Type="http://schemas.openxmlformats.org/officeDocument/2006/relationships/hyperlink" Target="http://www.tsvtc.gov.t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3" descr="目錄 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4" r="1076"/>
          <a:stretch>
            <a:fillRect/>
          </a:stretch>
        </p:blipFill>
        <p:spPr bwMode="auto">
          <a:xfrm>
            <a:off x="-14288" y="-31750"/>
            <a:ext cx="9158288" cy="542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手繪多邊形 6"/>
          <p:cNvSpPr/>
          <p:nvPr/>
        </p:nvSpPr>
        <p:spPr>
          <a:xfrm>
            <a:off x="-38100" y="2936875"/>
            <a:ext cx="9182100" cy="3940175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3940935">
                <a:moveTo>
                  <a:pt x="25758" y="2112135"/>
                </a:moveTo>
                <a:cubicBezTo>
                  <a:pt x="5441929" y="3367484"/>
                  <a:pt x="8008211" y="1403320"/>
                  <a:pt x="9182637" y="0"/>
                </a:cubicBezTo>
                <a:lnTo>
                  <a:pt x="9169758" y="3940935"/>
                </a:lnTo>
                <a:lnTo>
                  <a:pt x="0" y="3940935"/>
                </a:lnTo>
                <a:lnTo>
                  <a:pt x="25758" y="211213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5" name="手繪多邊形 7"/>
          <p:cNvSpPr/>
          <p:nvPr/>
        </p:nvSpPr>
        <p:spPr>
          <a:xfrm>
            <a:off x="-50800" y="3571875"/>
            <a:ext cx="9194800" cy="3297238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3298017">
                <a:moveTo>
                  <a:pt x="25758" y="1469217"/>
                </a:moveTo>
                <a:cubicBezTo>
                  <a:pt x="5390000" y="2758734"/>
                  <a:pt x="7831707" y="1270898"/>
                  <a:pt x="9182637" y="0"/>
                </a:cubicBezTo>
                <a:lnTo>
                  <a:pt x="9169758" y="3298017"/>
                </a:lnTo>
                <a:lnTo>
                  <a:pt x="0" y="3298017"/>
                </a:lnTo>
                <a:lnTo>
                  <a:pt x="25758" y="1469217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6" name="手繪多邊形 8"/>
          <p:cNvSpPr/>
          <p:nvPr/>
        </p:nvSpPr>
        <p:spPr>
          <a:xfrm>
            <a:off x="-50800" y="4221163"/>
            <a:ext cx="9194800" cy="2798762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2797975">
                <a:moveTo>
                  <a:pt x="25758" y="969175"/>
                </a:moveTo>
                <a:cubicBezTo>
                  <a:pt x="5396837" y="2321457"/>
                  <a:pt x="7733684" y="1141895"/>
                  <a:pt x="9182637" y="0"/>
                </a:cubicBezTo>
                <a:lnTo>
                  <a:pt x="9169758" y="2797975"/>
                </a:lnTo>
                <a:lnTo>
                  <a:pt x="0" y="2797975"/>
                </a:lnTo>
                <a:lnTo>
                  <a:pt x="25758" y="969175"/>
                </a:lnTo>
                <a:close/>
              </a:path>
            </a:pathLst>
          </a:custGeom>
          <a:solidFill>
            <a:srgbClr val="FFFFFF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17415" name="文字方塊 16"/>
          <p:cNvSpPr txBox="1">
            <a:spLocks noChangeArrowheads="1"/>
          </p:cNvSpPr>
          <p:nvPr/>
        </p:nvSpPr>
        <p:spPr bwMode="auto">
          <a:xfrm>
            <a:off x="2627508" y="2794000"/>
            <a:ext cx="30241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2800" b="1" dirty="0">
                <a:solidFill>
                  <a:srgbClr val="00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  分享人</a:t>
            </a:r>
            <a:r>
              <a:rPr kumimoji="0" lang="zh-TW" altLang="en-US" sz="2800" b="1" dirty="0" smtClean="0">
                <a:solidFill>
                  <a:srgbClr val="00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：劉勤永               </a:t>
            </a:r>
            <a:endParaRPr kumimoji="0" lang="zh-TW" altLang="en-US" sz="2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7416" name="Text Box 50"/>
          <p:cNvSpPr txBox="1">
            <a:spLocks noChangeArrowheads="1"/>
          </p:cNvSpPr>
          <p:nvPr/>
        </p:nvSpPr>
        <p:spPr bwMode="auto">
          <a:xfrm>
            <a:off x="1284288" y="6067425"/>
            <a:ext cx="7011987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 marL="457200" indent="-4572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32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勞動部勞動力發展署北基宜花金馬分署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 </a:t>
            </a:r>
            <a:r>
              <a:rPr lang="en-US" altLang="zh-TW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http://tkyhkm.wda.gov.tw/ </a:t>
            </a:r>
            <a:r>
              <a:rPr lang="en-US" altLang="zh-TW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</a:t>
            </a:r>
            <a:r>
              <a:rPr lang="zh-TW" altLang="en-US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總機：</a:t>
            </a:r>
            <a:r>
              <a:rPr lang="en-US" altLang="zh-TW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02-29018274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936625" y="723900"/>
            <a:ext cx="7416800" cy="15652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7418" name="文字方塊 15"/>
          <p:cNvSpPr txBox="1">
            <a:spLocks noChangeArrowheads="1"/>
          </p:cNvSpPr>
          <p:nvPr/>
        </p:nvSpPr>
        <p:spPr bwMode="auto">
          <a:xfrm>
            <a:off x="986595" y="737861"/>
            <a:ext cx="74072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TW" altLang="en-US" sz="4800" b="1" dirty="0" smtClean="0">
                <a:latin typeface="微軟正黑體" pitchFamily="34" charset="-120"/>
                <a:ea typeface="微軟正黑體" pitchFamily="34" charset="-120"/>
              </a:rPr>
              <a:t>資訊網路概論</a:t>
            </a:r>
            <a:endParaRPr kumimoji="0" lang="en-US" altLang="zh-TW" sz="4800" b="1" dirty="0" smtClean="0">
              <a:latin typeface="微軟正黑體" pitchFamily="34" charset="-120"/>
              <a:ea typeface="微軟正黑體" pitchFamily="34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TW" altLang="en-US" sz="4800" b="1" dirty="0" smtClean="0">
                <a:latin typeface="微軟正黑體" pitchFamily="34" charset="-120"/>
                <a:ea typeface="微軟正黑體" pitchFamily="34" charset="-120"/>
              </a:rPr>
              <a:t>簡介</a:t>
            </a:r>
            <a:endParaRPr kumimoji="0" lang="zh-TW" altLang="en-US" sz="48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7419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8" y="5645150"/>
            <a:ext cx="1268413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2995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31"/>
          <p:cNvSpPr txBox="1">
            <a:spLocks/>
          </p:cNvSpPr>
          <p:nvPr/>
        </p:nvSpPr>
        <p:spPr bwMode="auto">
          <a:xfrm>
            <a:off x="0" y="1955801"/>
            <a:ext cx="9144000" cy="251936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本課程成績考核標準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616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defRPr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ea typeface="新細明體" pitchFamily="18" charset="-12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sz="6000" kern="0" dirty="0" smtClean="0">
                <a:solidFill>
                  <a:srgbClr val="FFFFFF"/>
                </a:solidFill>
              </a:rPr>
              <a:t>本課程成績考核標準</a:t>
            </a:r>
            <a:endParaRPr lang="zh-TW" altLang="en-US" sz="6000" kern="0" dirty="0">
              <a:solidFill>
                <a:srgbClr val="FFFFFF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354922"/>
              </p:ext>
            </p:extLst>
          </p:nvPr>
        </p:nvGraphicFramePr>
        <p:xfrm>
          <a:off x="-7938" y="1087438"/>
          <a:ext cx="9151938" cy="28345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7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5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9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4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000" b="1" kern="1200" dirty="0" smtClean="0"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課程名稱</a:t>
                      </a:r>
                    </a:p>
                  </a:txBody>
                  <a:tcPr marT="45697" marB="45697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000" b="1" kern="1200" dirty="0" smtClean="0"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授課內容</a:t>
                      </a:r>
                    </a:p>
                  </a:txBody>
                  <a:tcPr marT="45697" marB="45697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000" b="1" kern="1200" dirty="0" smtClean="0"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總成績</a:t>
                      </a:r>
                    </a:p>
                  </a:txBody>
                  <a:tcPr marT="45697" marB="45697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4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資訊網路技術</a:t>
                      </a:r>
                    </a:p>
                  </a:txBody>
                  <a:tcPr marT="45697" marB="45697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1.</a:t>
                      </a:r>
                      <a:r>
                        <a:rPr kumimoji="0" lang="zh-TW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網頁設計乙級學科說明及題測平 </a:t>
                      </a:r>
                      <a:endParaRPr kumimoji="0" lang="en-US" altLang="zh-TW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TW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   台使用操作</a:t>
                      </a:r>
                      <a:endParaRPr kumimoji="0" lang="en-US" altLang="zh-TW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2.Linux</a:t>
                      </a:r>
                      <a:r>
                        <a:rPr kumimoji="0" lang="zh-TW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作業系統安裝與指令操作</a:t>
                      </a:r>
                      <a:endParaRPr kumimoji="0" lang="en-US" altLang="zh-TW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3.Linux</a:t>
                      </a:r>
                      <a:r>
                        <a:rPr kumimoji="0" lang="zh-TW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安裝</a:t>
                      </a:r>
                      <a:r>
                        <a:rPr kumimoji="0" lang="en-US" altLang="zh-TW" sz="24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Lampp</a:t>
                      </a:r>
                      <a:endParaRPr kumimoji="0" lang="en-US" altLang="zh-TW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4.</a:t>
                      </a:r>
                      <a:r>
                        <a:rPr lang="zh-TW" alt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資訊網路技術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5.</a:t>
                      </a:r>
                      <a:r>
                        <a:rPr kumimoji="0" lang="zh-TW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網路線製作</a:t>
                      </a:r>
                      <a:endParaRPr kumimoji="0" lang="en-US" altLang="zh-TW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97" marB="45697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平時作業</a:t>
                      </a: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40%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TW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期末測驗</a:t>
                      </a: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60%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TW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97" marB="45697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-7938" y="4146693"/>
            <a:ext cx="47063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平時作業</a:t>
            </a:r>
            <a:endParaRPr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defRPr/>
            </a:pPr>
            <a:r>
              <a:rPr lang="zh-TW" altLang="en-US" sz="2400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每週會出考題給各位練習</a:t>
            </a:r>
            <a:endParaRPr lang="en-US" altLang="zh-TW" sz="2400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defRPr/>
            </a:pPr>
            <a:r>
              <a:rPr lang="en-US" altLang="zh-TW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01/20-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工作項目一</a:t>
            </a:r>
            <a:endParaRPr lang="en-US" altLang="zh-TW" sz="2400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defRPr/>
            </a:pPr>
            <a:r>
              <a:rPr lang="en-US" altLang="zh-TW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01/27-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工作項目二</a:t>
            </a:r>
            <a:endParaRPr lang="en-US" altLang="zh-TW" sz="2400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defRPr/>
            </a:pPr>
            <a:r>
              <a:rPr lang="en-US" altLang="zh-TW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02/03-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工作項目三</a:t>
            </a:r>
            <a:endParaRPr lang="en-US" altLang="zh-TW" sz="2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defRPr/>
            </a:pPr>
            <a:r>
              <a:rPr lang="en-US" altLang="zh-TW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02/17-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模擬</a:t>
            </a:r>
            <a:r>
              <a:rPr lang="zh-TW" altLang="en-US" sz="2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總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測驗</a:t>
            </a:r>
            <a:endParaRPr lang="en-US" altLang="zh-TW" sz="2400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5540" y="4146692"/>
            <a:ext cx="45219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期末測驗</a:t>
            </a:r>
            <a:endParaRPr lang="en-US" altLang="zh-TW" sz="24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defRPr/>
            </a:pPr>
            <a:r>
              <a:rPr lang="en-US" altLang="zh-TW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02/17-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紙本考試</a:t>
            </a:r>
            <a:endParaRPr lang="en-US" altLang="zh-TW" sz="2400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defRPr/>
            </a:pPr>
            <a:r>
              <a:rPr lang="zh-TW" altLang="en-US" sz="2400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會有本科同仁發試卷</a:t>
            </a:r>
            <a:endParaRPr lang="en-US" altLang="zh-TW" sz="2400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026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平時作業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0597"/>
            <a:ext cx="9144000" cy="529936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0820" y="5041562"/>
            <a:ext cx="6783104" cy="44483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b="1" dirty="0" smtClean="0">
                <a:solidFill>
                  <a:srgbClr val="FF0000"/>
                </a:solidFill>
              </a:rPr>
              <a:t>01/20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0820" y="5498757"/>
            <a:ext cx="6783104" cy="44483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b="1" dirty="0" smtClean="0">
                <a:solidFill>
                  <a:srgbClr val="FF0000"/>
                </a:solidFill>
              </a:rPr>
              <a:t>01/27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0820" y="5968309"/>
            <a:ext cx="6783104" cy="44483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b="1" dirty="0" smtClean="0">
                <a:solidFill>
                  <a:srgbClr val="FF0000"/>
                </a:solidFill>
              </a:rPr>
              <a:t>02/03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939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2633"/>
            <a:ext cx="9144000" cy="4152734"/>
          </a:xfrm>
          <a:prstGeom prst="rect">
            <a:avLst/>
          </a:prstGeom>
        </p:spPr>
      </p:pic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平時作業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0820" y="4547286"/>
            <a:ext cx="6783104" cy="69197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b="1" dirty="0" smtClean="0">
                <a:solidFill>
                  <a:srgbClr val="FF0000"/>
                </a:solidFill>
              </a:rPr>
              <a:t>02/17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64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378" y="1119188"/>
            <a:ext cx="7108984" cy="5684996"/>
          </a:xfrm>
          <a:prstGeom prst="rect">
            <a:avLst/>
          </a:prstGeom>
        </p:spPr>
      </p:pic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截圖存檔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5924" y="1119188"/>
            <a:ext cx="7292152" cy="380854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76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截圖存檔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文字方塊 5"/>
          <p:cNvSpPr txBox="1">
            <a:spLocks noChangeArrowheads="1"/>
          </p:cNvSpPr>
          <p:nvPr/>
        </p:nvSpPr>
        <p:spPr bwMode="auto">
          <a:xfrm>
            <a:off x="-5080" y="1430844"/>
            <a:ext cx="914400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將截圖檔案儲存至</a:t>
            </a:r>
            <a:endParaRPr lang="en-US" altLang="zh-TW" sz="4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教師資料夾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資訊網路概論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平時作業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\20210120_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工作項目一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.jpg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教師資料夾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網路概論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平時作業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20210127_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項目二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座號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.jpg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教師資料夾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網路概論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平時作業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20210203_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項目三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座號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.jpg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教師資料夾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網路概論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平時作業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20210217_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模擬總測驗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座號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jpg</a:t>
            </a:r>
            <a:endParaRPr lang="en-US" altLang="zh-TW" sz="2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0350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填寫成績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9499"/>
            <a:ext cx="9144000" cy="492892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-5080" y="6032726"/>
            <a:ext cx="9144000" cy="800219"/>
          </a:xfrm>
          <a:prstGeom prst="rect">
            <a:avLst/>
          </a:prstGeom>
          <a:solidFill>
            <a:srgbClr val="000000">
              <a:lumMod val="85000"/>
              <a:lumOff val="15000"/>
              <a:alpha val="92000"/>
            </a:srgbClr>
          </a:solidFill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300" dirty="0">
                <a:solidFill>
                  <a:schemeClr val="bg1"/>
                </a:solidFill>
              </a:rPr>
              <a:t>https://docs.google.com/spreadsheets/d/1AnE4tN7a-P-EVWbulczA9Kc-ulSWPMX2/edit#gid=2133026439</a:t>
            </a:r>
            <a:endParaRPr kumimoji="1" lang="zh-TW" altLang="en-US" sz="2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79799" y="2001795"/>
            <a:ext cx="946709" cy="40066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2026508" y="2001795"/>
            <a:ext cx="864973" cy="40066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883244" y="2001795"/>
            <a:ext cx="860854" cy="40066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3744098" y="2001795"/>
            <a:ext cx="951470" cy="40066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08358" y="2001795"/>
            <a:ext cx="873210" cy="40066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749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31"/>
          <p:cNvSpPr txBox="1">
            <a:spLocks/>
          </p:cNvSpPr>
          <p:nvPr/>
        </p:nvSpPr>
        <p:spPr bwMode="auto">
          <a:xfrm>
            <a:off x="0" y="1955801"/>
            <a:ext cx="9144000" cy="251936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製作題庫文件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7719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8550"/>
            <a:ext cx="9144000" cy="5759450"/>
          </a:xfrm>
          <a:prstGeom prst="rect">
            <a:avLst/>
          </a:prstGeom>
        </p:spPr>
      </p:pic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  <a:r>
              <a:rPr kumimoji="0"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已保全</a:t>
            </a:r>
            <a:endParaRPr kumimoji="0" lang="zh-TW" altLang="en-US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72" name="矩形 10"/>
          <p:cNvSpPr>
            <a:spLocks noChangeArrowheads="1"/>
          </p:cNvSpPr>
          <p:nvPr/>
        </p:nvSpPr>
        <p:spPr bwMode="auto">
          <a:xfrm>
            <a:off x="0" y="1033463"/>
            <a:ext cx="1476375" cy="234950"/>
          </a:xfrm>
          <a:prstGeom prst="rect">
            <a:avLst/>
          </a:prstGeom>
          <a:noFill/>
          <a:ln w="63500" cap="sq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TW" altLang="en-US" sz="24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940" y="1656404"/>
            <a:ext cx="6865785" cy="520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9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8550"/>
            <a:ext cx="9144000" cy="5759450"/>
          </a:xfrm>
          <a:prstGeom prst="rect">
            <a:avLst/>
          </a:prstGeom>
        </p:spPr>
      </p:pic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  <a:r>
              <a:rPr kumimoji="0"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已解保全</a:t>
            </a:r>
            <a:endParaRPr kumimoji="0" lang="zh-TW" altLang="en-US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72" name="矩形 10"/>
          <p:cNvSpPr>
            <a:spLocks noChangeArrowheads="1"/>
          </p:cNvSpPr>
          <p:nvPr/>
        </p:nvSpPr>
        <p:spPr bwMode="auto">
          <a:xfrm>
            <a:off x="0" y="1033462"/>
            <a:ext cx="1835696" cy="235297"/>
          </a:xfrm>
          <a:prstGeom prst="rect">
            <a:avLst/>
          </a:prstGeom>
          <a:noFill/>
          <a:ln w="63500" cap="sq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TW" altLang="en-US" sz="24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75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47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移除浮水印、轉</a:t>
            </a:r>
            <a:r>
              <a:rPr kumimoji="0" lang="en-US" altLang="zh-TW" sz="47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kumimoji="0" lang="en-US" altLang="zh-TW" sz="47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ord</a:t>
            </a:r>
            <a:r>
              <a:rPr kumimoji="0" lang="zh-TW" altLang="en-US" sz="47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、移除答案</a:t>
            </a:r>
            <a:endParaRPr kumimoji="0" lang="zh-TW" altLang="en-US" sz="47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98549"/>
            <a:ext cx="9144001" cy="564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8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dirty="0" smtClean="0"/>
              <a:t>練習一：製作題庫文件</a:t>
            </a:r>
            <a:endParaRPr lang="en-US" altLang="zh-TW" dirty="0"/>
          </a:p>
        </p:txBody>
      </p:sp>
      <p:sp>
        <p:nvSpPr>
          <p:cNvPr id="25" name="文字方塊 19"/>
          <p:cNvSpPr txBox="1">
            <a:spLocks noChangeArrowheads="1"/>
          </p:cNvSpPr>
          <p:nvPr/>
        </p:nvSpPr>
        <p:spPr bwMode="auto">
          <a:xfrm>
            <a:off x="0" y="1287737"/>
            <a:ext cx="91440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just" fontAlgn="base">
              <a:spcBef>
                <a:spcPts val="0"/>
              </a:spcBef>
              <a:buFontTx/>
              <a:buNone/>
            </a:pPr>
            <a:r>
              <a:rPr lang="zh-TW" altLang="en-US" sz="4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針對題庫文件的規格要求如下</a:t>
            </a:r>
            <a:endParaRPr lang="en-US" altLang="zh-TW" sz="4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0"/>
              </a:spcBef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zh-TW" altLang="en-US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、保持文件原有的格式</a:t>
            </a:r>
            <a:r>
              <a:rPr lang="en-US" altLang="zh-TW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文字、段落</a:t>
            </a:r>
            <a:r>
              <a:rPr lang="en-US" altLang="zh-TW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…)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0"/>
              </a:spcBef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zh-TW" altLang="en-US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、移除浮水印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0"/>
              </a:spcBef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zh-TW" altLang="en-US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、移除所有答案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0"/>
              </a:spcBef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en-US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、列印紙本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538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練習一：製作題庫文件</a:t>
            </a:r>
            <a:endParaRPr kumimoji="0" lang="en-US" altLang="zh-TW" sz="6000" b="1" kern="0" dirty="0" smtClean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文字方塊 5"/>
          <p:cNvSpPr txBox="1">
            <a:spLocks noChangeArrowheads="1"/>
          </p:cNvSpPr>
          <p:nvPr/>
        </p:nvSpPr>
        <p:spPr bwMode="auto">
          <a:xfrm>
            <a:off x="-5080" y="1430844"/>
            <a:ext cx="914400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將完成檔案儲存至</a:t>
            </a:r>
            <a:endParaRPr lang="en-US" altLang="zh-TW" sz="4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just" fontAlgn="base">
              <a:spcBef>
                <a:spcPts val="0"/>
              </a:spcBef>
              <a:buClrTx/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教師資料夾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網路概論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平時練習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\20210120_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製作題庫文件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座號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步驟記錄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2800" dirty="0" err="1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pptx</a:t>
            </a:r>
            <a:endParaRPr lang="en-US" altLang="zh-TW" sz="2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just" fontAlgn="base">
              <a:spcBef>
                <a:spcPts val="0"/>
              </a:spcBef>
              <a:buClrTx/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教師資料夾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網路概論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平時練習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\20210120_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製作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題庫文件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座號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lang="en-US" altLang="zh-TW" sz="2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173002A13.docx</a:t>
            </a:r>
            <a:endParaRPr lang="en-US" altLang="zh-TW" sz="2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TW" sz="40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下午</a:t>
            </a:r>
            <a:r>
              <a:rPr lang="en-US" altLang="zh-TW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分，使用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示範轉播功能，分享討論</a:t>
            </a:r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058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示範轉播</a:t>
            </a:r>
            <a:endParaRPr kumimoji="0" lang="en-US" altLang="zh-TW" sz="6000" b="1" kern="0" dirty="0" smtClean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9500"/>
            <a:ext cx="9144000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4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>
            <a:spLocks/>
          </p:cNvSpPr>
          <p:nvPr/>
        </p:nvSpPr>
        <p:spPr bwMode="auto">
          <a:xfrm>
            <a:off x="-1" y="0"/>
            <a:ext cx="9144000" cy="10980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步驟記錄</a:t>
            </a:r>
            <a:endParaRPr kumimoji="0" lang="ko-KR" altLang="en-US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grpSp>
        <p:nvGrpSpPr>
          <p:cNvPr id="5" name="群組 3"/>
          <p:cNvGrpSpPr>
            <a:grpSpLocks/>
          </p:cNvGrpSpPr>
          <p:nvPr/>
        </p:nvGrpSpPr>
        <p:grpSpPr bwMode="auto">
          <a:xfrm>
            <a:off x="164860" y="1734160"/>
            <a:ext cx="8785225" cy="890587"/>
            <a:chOff x="251520" y="1263407"/>
            <a:chExt cx="8784974" cy="989255"/>
          </a:xfrm>
        </p:grpSpPr>
        <p:sp>
          <p:nvSpPr>
            <p:cNvPr id="6" name="五邊形 5"/>
            <p:cNvSpPr/>
            <p:nvPr/>
          </p:nvSpPr>
          <p:spPr bwMode="auto">
            <a:xfrm flipH="1">
              <a:off x="3348645" y="1263407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移除</a:t>
              </a:r>
              <a:r>
                <a:rPr kumimoji="0" lang="en-US" altLang="zh-TW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PDF</a:t>
              </a:r>
              <a:r>
                <a:rPr kumimoji="0" lang="zh-TW" altLang="en-US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保全</a:t>
              </a:r>
              <a:endPara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7" name="圓角矩形 6"/>
            <p:cNvSpPr/>
            <p:nvPr/>
          </p:nvSpPr>
          <p:spPr bwMode="auto">
            <a:xfrm>
              <a:off x="251520" y="1263407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步驟一</a:t>
              </a:r>
              <a:endPara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8" name="群組 2"/>
          <p:cNvGrpSpPr>
            <a:grpSpLocks/>
          </p:cNvGrpSpPr>
          <p:nvPr/>
        </p:nvGrpSpPr>
        <p:grpSpPr bwMode="auto">
          <a:xfrm>
            <a:off x="164860" y="2937487"/>
            <a:ext cx="8785225" cy="889160"/>
            <a:chOff x="251520" y="2511753"/>
            <a:chExt cx="8784974" cy="989255"/>
          </a:xfrm>
        </p:grpSpPr>
        <p:sp>
          <p:nvSpPr>
            <p:cNvPr id="9" name="五邊形 8"/>
            <p:cNvSpPr/>
            <p:nvPr/>
          </p:nvSpPr>
          <p:spPr bwMode="auto">
            <a:xfrm flipH="1">
              <a:off x="3348645" y="2511753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移除浮水印</a:t>
              </a:r>
              <a:endPara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0" name="圓角矩形 9"/>
            <p:cNvSpPr/>
            <p:nvPr/>
          </p:nvSpPr>
          <p:spPr bwMode="auto">
            <a:xfrm>
              <a:off x="251520" y="2511753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步驟二</a:t>
              </a:r>
              <a:endPara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1" name="群組 1"/>
          <p:cNvGrpSpPr>
            <a:grpSpLocks/>
          </p:cNvGrpSpPr>
          <p:nvPr/>
        </p:nvGrpSpPr>
        <p:grpSpPr bwMode="auto">
          <a:xfrm>
            <a:off x="164860" y="4139223"/>
            <a:ext cx="8785225" cy="889159"/>
            <a:chOff x="251520" y="3756671"/>
            <a:chExt cx="8784974" cy="989255"/>
          </a:xfrm>
        </p:grpSpPr>
        <p:sp>
          <p:nvSpPr>
            <p:cNvPr id="12" name="五邊形 11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PDF</a:t>
              </a:r>
              <a:r>
                <a:rPr kumimoji="0" lang="zh-TW" altLang="en-US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轉</a:t>
              </a:r>
              <a:r>
                <a:rPr kumimoji="0" lang="en-US" altLang="zh-TW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Word</a:t>
              </a:r>
            </a:p>
          </p:txBody>
        </p:sp>
        <p:sp>
          <p:nvSpPr>
            <p:cNvPr id="13" name="圓角矩形 12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步驟三</a:t>
              </a:r>
              <a:endPara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4" name="群組 32"/>
          <p:cNvGrpSpPr>
            <a:grpSpLocks/>
          </p:cNvGrpSpPr>
          <p:nvPr/>
        </p:nvGrpSpPr>
        <p:grpSpPr bwMode="auto">
          <a:xfrm>
            <a:off x="145810" y="5340962"/>
            <a:ext cx="8785225" cy="889160"/>
            <a:chOff x="251520" y="3756671"/>
            <a:chExt cx="8784974" cy="989255"/>
          </a:xfrm>
        </p:grpSpPr>
        <p:sp>
          <p:nvSpPr>
            <p:cNvPr id="15" name="五邊形 14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移除所有答案</a:t>
              </a:r>
              <a:endPara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6" name="圓角矩形 15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步驟四</a:t>
              </a:r>
              <a:endPara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256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>
            <a:spLocks/>
          </p:cNvSpPr>
          <p:nvPr/>
        </p:nvSpPr>
        <p:spPr bwMode="auto">
          <a:xfrm>
            <a:off x="-1" y="0"/>
            <a:ext cx="9144000" cy="10980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步驟一、</a:t>
            </a:r>
            <a:r>
              <a:rPr kumimoji="1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移除</a:t>
            </a:r>
            <a:r>
              <a:rPr kumimoji="1" lang="en-US" altLang="zh-TW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1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保全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16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>
            <a:spLocks/>
          </p:cNvSpPr>
          <p:nvPr/>
        </p:nvSpPr>
        <p:spPr bwMode="auto">
          <a:xfrm>
            <a:off x="-1" y="0"/>
            <a:ext cx="9144000" cy="10980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步驟二、</a:t>
            </a:r>
            <a:r>
              <a:rPr kumimoji="1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移除</a:t>
            </a:r>
            <a:r>
              <a:rPr kumimoji="1" lang="zh-TW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浮水印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04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>
            <a:spLocks/>
          </p:cNvSpPr>
          <p:nvPr/>
        </p:nvSpPr>
        <p:spPr bwMode="auto">
          <a:xfrm>
            <a:off x="-1" y="0"/>
            <a:ext cx="9144000" cy="10980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步驟三、</a:t>
            </a:r>
            <a:r>
              <a:rPr kumimoji="0" lang="en-US" altLang="zh-TW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PDF</a:t>
            </a:r>
            <a:r>
              <a:rPr kumimoji="1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</a:t>
            </a:r>
            <a:r>
              <a:rPr kumimoji="1" lang="en-US" altLang="zh-TW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166414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>
            <a:spLocks/>
          </p:cNvSpPr>
          <p:nvPr/>
        </p:nvSpPr>
        <p:spPr bwMode="auto">
          <a:xfrm>
            <a:off x="-1" y="0"/>
            <a:ext cx="9144000" cy="10980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步驟四、移除所有答案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35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31"/>
          <p:cNvSpPr txBox="1">
            <a:spLocks/>
          </p:cNvSpPr>
          <p:nvPr/>
        </p:nvSpPr>
        <p:spPr bwMode="auto">
          <a:xfrm>
            <a:off x="0" y="2146300"/>
            <a:ext cx="9144000" cy="251936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線上破解</a:t>
            </a:r>
            <a:r>
              <a:rPr kumimoji="0" lang="en-US" altLang="zh-TW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PDF</a:t>
            </a:r>
            <a:endParaRPr kumimoji="0" lang="ko-KR" altLang="en-US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37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9611"/>
            <a:ext cx="9144000" cy="5153057"/>
          </a:xfrm>
          <a:prstGeom prst="rect">
            <a:avLst/>
          </a:prstGeom>
        </p:spPr>
      </p:pic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步驟一、</a:t>
            </a:r>
            <a:r>
              <a:rPr lang="zh-TW" altLang="en-US" sz="6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移除</a:t>
            </a:r>
            <a:r>
              <a:rPr lang="en-US" altLang="zh-TW" sz="6000" b="1" kern="0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  <a:r>
              <a:rPr lang="zh-TW" altLang="en-US" sz="6000" b="1" kern="0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保全</a:t>
            </a:r>
            <a:endParaRPr lang="en-US" altLang="zh-TW" sz="6000" b="1" kern="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-5080" y="6403429"/>
            <a:ext cx="9144000" cy="446276"/>
          </a:xfrm>
          <a:prstGeom prst="rect">
            <a:avLst/>
          </a:prstGeom>
          <a:solidFill>
            <a:srgbClr val="000000">
              <a:lumMod val="85000"/>
              <a:lumOff val="15000"/>
              <a:alpha val="92000"/>
            </a:srgbClr>
          </a:solidFill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300" dirty="0">
                <a:solidFill>
                  <a:schemeClr val="bg1"/>
                </a:solidFill>
              </a:rPr>
              <a:t>https://app.xunjiepdf.com/</a:t>
            </a:r>
            <a:endParaRPr kumimoji="1" lang="zh-TW" altLang="en-US" sz="2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3672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步驟一</a:t>
            </a: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、</a:t>
            </a:r>
            <a:r>
              <a:rPr kumimoji="1" lang="zh-TW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移除</a:t>
            </a:r>
            <a:r>
              <a:rPr kumimoji="1" lang="en-US" altLang="zh-TW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1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保全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2531" name="圖片 1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2363"/>
            <a:ext cx="9144000" cy="573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426044" y="2730845"/>
            <a:ext cx="873210" cy="3336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426044" y="1592972"/>
            <a:ext cx="700215" cy="3336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93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步驟一、</a:t>
            </a:r>
            <a:r>
              <a:rPr kumimoji="1" lang="zh-TW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移除</a:t>
            </a:r>
            <a:r>
              <a:rPr kumimoji="1" lang="en-US" altLang="zh-TW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1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保全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4579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9144000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017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步驟一</a:t>
            </a:r>
            <a:r>
              <a:rPr kumimoji="0"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、線上</a:t>
            </a:r>
            <a:r>
              <a:rPr lang="en-US" altLang="zh-TW" sz="6000" b="1" kern="0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  <a:r>
              <a:rPr lang="zh-TW" altLang="en-US" sz="6000" b="1" kern="0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壓縮</a:t>
            </a:r>
            <a:endParaRPr lang="en-US" altLang="zh-TW" sz="6000" b="1" kern="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-5080" y="6403429"/>
            <a:ext cx="9144000" cy="446276"/>
          </a:xfrm>
          <a:prstGeom prst="rect">
            <a:avLst/>
          </a:prstGeom>
          <a:solidFill>
            <a:srgbClr val="000000">
              <a:lumMod val="85000"/>
              <a:lumOff val="15000"/>
              <a:alpha val="92000"/>
            </a:srgbClr>
          </a:solidFill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300" dirty="0">
                <a:solidFill>
                  <a:schemeClr val="bg1"/>
                </a:solidFill>
              </a:rPr>
              <a:t>https://www.freepdfconvert.com/zh-tw/compress-pdf</a:t>
            </a:r>
            <a:endParaRPr kumimoji="1" lang="zh-TW" altLang="en-US" sz="2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1884"/>
            <a:ext cx="9144000" cy="44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98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步驟一、</a:t>
            </a:r>
            <a:r>
              <a:rPr kumimoji="1" lang="zh-TW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移除</a:t>
            </a:r>
            <a:r>
              <a:rPr kumimoji="1" lang="en-US" altLang="zh-TW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 </a:t>
            </a:r>
            <a:r>
              <a:rPr kumimoji="1" lang="zh-TW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保全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8675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3788"/>
            <a:ext cx="9120188" cy="57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78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步驟二、</a:t>
            </a:r>
            <a:r>
              <a:rPr kumimoji="1" lang="zh-TW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移除浮水印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30723" name="圖片 1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8550"/>
            <a:ext cx="914400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747318" y="3941204"/>
            <a:ext cx="873210" cy="3336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857633" y="1875825"/>
            <a:ext cx="700215" cy="3336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4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步驟二、</a:t>
            </a:r>
            <a:r>
              <a:rPr kumimoji="1" lang="zh-TW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移除浮水印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32771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8550"/>
            <a:ext cx="914400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703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步驟三、 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Word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0963" name="矩形 1"/>
          <p:cNvSpPr>
            <a:spLocks noChangeArrowheads="1"/>
          </p:cNvSpPr>
          <p:nvPr/>
        </p:nvSpPr>
        <p:spPr bwMode="auto">
          <a:xfrm>
            <a:off x="4017963" y="324485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步驟二、</a:t>
            </a: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0964" name="圖片 2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8550"/>
            <a:ext cx="914400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58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步驟三、 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Word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4819" name="矩形 1"/>
          <p:cNvSpPr>
            <a:spLocks noChangeArrowheads="1"/>
          </p:cNvSpPr>
          <p:nvPr/>
        </p:nvSpPr>
        <p:spPr bwMode="auto">
          <a:xfrm>
            <a:off x="4017963" y="324485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步驟二、</a:t>
            </a: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34820" name="圖片 2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7438"/>
            <a:ext cx="9144000" cy="577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899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步驟三、 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Word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8915" name="矩形 1"/>
          <p:cNvSpPr>
            <a:spLocks noChangeArrowheads="1"/>
          </p:cNvSpPr>
          <p:nvPr/>
        </p:nvSpPr>
        <p:spPr bwMode="auto">
          <a:xfrm>
            <a:off x="4017963" y="324485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步驟二、</a:t>
            </a: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38916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1098550"/>
            <a:ext cx="9145587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292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步驟三、 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Word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3011" name="矩形 1"/>
          <p:cNvSpPr>
            <a:spLocks noChangeArrowheads="1"/>
          </p:cNvSpPr>
          <p:nvPr/>
        </p:nvSpPr>
        <p:spPr bwMode="auto">
          <a:xfrm>
            <a:off x="4017963" y="324485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步驟二、</a:t>
            </a: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3012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7125"/>
            <a:ext cx="9144000" cy="573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68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步驟三、 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Word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5059" name="矩形 1"/>
          <p:cNvSpPr>
            <a:spLocks noChangeArrowheads="1"/>
          </p:cNvSpPr>
          <p:nvPr/>
        </p:nvSpPr>
        <p:spPr bwMode="auto">
          <a:xfrm>
            <a:off x="4017963" y="324485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步驟二、</a:t>
            </a: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5060" name="圖片 2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6488"/>
            <a:ext cx="9144000" cy="575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581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步驟三、 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Word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7107" name="矩形 1"/>
          <p:cNvSpPr>
            <a:spLocks noChangeArrowheads="1"/>
          </p:cNvSpPr>
          <p:nvPr/>
        </p:nvSpPr>
        <p:spPr bwMode="auto">
          <a:xfrm>
            <a:off x="4017963" y="324485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步驟二、</a:t>
            </a: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7108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813"/>
            <a:ext cx="9144000" cy="569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430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步驟三、 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Word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9155" name="矩形 1"/>
          <p:cNvSpPr>
            <a:spLocks noChangeArrowheads="1"/>
          </p:cNvSpPr>
          <p:nvPr/>
        </p:nvSpPr>
        <p:spPr bwMode="auto">
          <a:xfrm>
            <a:off x="4017963" y="324485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步驟二、</a:t>
            </a: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9156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8550"/>
            <a:ext cx="914400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3346450"/>
            <a:ext cx="4932362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499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步驟四、移除</a:t>
            </a:r>
            <a:r>
              <a:rPr kumimoji="1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所有答案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1203" name="Picture 2" descr="C:\Users\user\Desktop\0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27"/>
          <a:stretch>
            <a:fillRect/>
          </a:stretch>
        </p:blipFill>
        <p:spPr bwMode="auto">
          <a:xfrm>
            <a:off x="0" y="1098550"/>
            <a:ext cx="914400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5923006" y="2221814"/>
            <a:ext cx="2343664" cy="120100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164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步驟</a:t>
            </a:r>
            <a:r>
              <a:rPr kumimoji="0" lang="zh-TW" altLang="en-US" sz="6000" b="1" kern="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四、移除</a:t>
            </a:r>
            <a:r>
              <a:rPr lang="zh-TW" altLang="en-US" sz="6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所有答案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3251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9232"/>
            <a:ext cx="9144000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188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TW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步驟</a:t>
            </a:r>
            <a:r>
              <a:rPr kumimoji="0" lang="zh-TW" altLang="en-US" sz="6000" b="1" kern="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四、移除</a:t>
            </a:r>
            <a:r>
              <a:rPr lang="zh-TW" altLang="en-US" sz="6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所有答案</a:t>
            </a:r>
            <a:endParaRPr kumimoji="1" lang="en-US" altLang="zh-TW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5299" name="矩形 4"/>
          <p:cNvSpPr>
            <a:spLocks noChangeArrowheads="1"/>
          </p:cNvSpPr>
          <p:nvPr/>
        </p:nvSpPr>
        <p:spPr bwMode="auto">
          <a:xfrm>
            <a:off x="2592388" y="1484313"/>
            <a:ext cx="6140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Ctrl+H</a:t>
            </a:r>
            <a:r>
              <a:rPr kumimoji="1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，使用萬用字元取代成</a:t>
            </a:r>
            <a:r>
              <a:rPr kumimoji="1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(</a:t>
            </a:r>
            <a:r>
              <a:rPr kumimoji="1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1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)</a:t>
            </a:r>
            <a:r>
              <a:rPr kumimoji="1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即可。</a:t>
            </a:r>
          </a:p>
        </p:txBody>
      </p:sp>
      <p:pic>
        <p:nvPicPr>
          <p:cNvPr id="55300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2370138"/>
            <a:ext cx="4137025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15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>
            <a:spLocks noChangeArrowheads="1"/>
          </p:cNvSpPr>
          <p:nvPr/>
        </p:nvSpPr>
        <p:spPr bwMode="auto">
          <a:xfrm>
            <a:off x="125413" y="1098550"/>
            <a:ext cx="8893175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1.I </a:t>
            </a:r>
            <a:r>
              <a:rPr kumimoji="1" lang="zh-TW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愛</a:t>
            </a: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PDF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2.FreeMyPDF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3.Foxit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4.Google</a:t>
            </a:r>
            <a:r>
              <a:rPr kumimoji="1" lang="zh-TW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雲端硬碟工具</a:t>
            </a: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unlock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5.Google </a:t>
            </a:r>
            <a:r>
              <a:rPr kumimoji="1" lang="zh-TW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  <a:r>
              <a:rPr kumimoji="1" lang="zh-TW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1" lang="en-US" altLang="zh-TW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6.Weeny Free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7.PDF Unlock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8.SmallPDF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9.CleverPDF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10.APowerSoft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11.</a:t>
            </a:r>
            <a:r>
              <a:rPr kumimoji="1" lang="zh-TW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迅捷</a:t>
            </a:r>
            <a:r>
              <a:rPr kumimoji="1" lang="en-US" altLang="zh-TW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12.PDFCandy</a:t>
            </a:r>
            <a:endParaRPr kumimoji="1" lang="en-US" altLang="zh-TW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13.WeenyPDFPassword</a:t>
            </a:r>
            <a:endParaRPr kumimoji="1" lang="en-US" altLang="zh-TW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Unlock</a:t>
            </a:r>
          </a:p>
        </p:txBody>
      </p:sp>
    </p:spTree>
    <p:extLst>
      <p:ext uri="{BB962C8B-B14F-4D97-AF65-F5344CB8AC3E}">
        <p14:creationId xmlns:p14="http://schemas.microsoft.com/office/powerpoint/2010/main" val="375583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3"/>
          <p:cNvSpPr>
            <a:spLocks noChangeArrowheads="1"/>
          </p:cNvSpPr>
          <p:nvPr/>
        </p:nvSpPr>
        <p:spPr bwMode="auto">
          <a:xfrm>
            <a:off x="0" y="1098550"/>
            <a:ext cx="9144000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1.Adobe Acrobat  Pro DC </a:t>
            </a:r>
            <a:r>
              <a:rPr kumimoji="1" lang="zh-TW" alt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試用版  </a:t>
            </a: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kumimoji="1" lang="zh-TW" alt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天</a:t>
            </a:r>
            <a:endParaRPr kumimoji="1" lang="en-US" altLang="zh-TW" sz="3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2.PDF Water Marker Remover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3.PDF</a:t>
            </a:r>
            <a:r>
              <a:rPr kumimoji="1" lang="zh-TW" alt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Logo Remover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4.PDF X-Change Editor  </a:t>
            </a:r>
            <a:r>
              <a:rPr kumimoji="1" lang="zh-TW" alt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有</a:t>
            </a: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LOGO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5.FoxitPDF</a:t>
            </a:r>
            <a:r>
              <a:rPr kumimoji="1" lang="zh-TW" alt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可以移除保全及浮水印</a:t>
            </a:r>
            <a:endParaRPr kumimoji="1" lang="en-US" altLang="zh-TW" sz="3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6.APowerPDF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7.</a:t>
            </a:r>
            <a:r>
              <a:rPr kumimoji="1" lang="zh-TW" alt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迅捷</a:t>
            </a: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8.Word</a:t>
            </a:r>
            <a:r>
              <a:rPr kumimoji="1" lang="zh-TW" alt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移除</a:t>
            </a:r>
            <a:endParaRPr kumimoji="1" lang="en-US" altLang="zh-TW" sz="3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9.APowerSoft</a:t>
            </a:r>
            <a:b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kumimoji="1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10.lightPDF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TW" sz="3400" dirty="0" smtClean="0"/>
              <a:t>11.Word ^g</a:t>
            </a:r>
            <a:r>
              <a:rPr lang="zh-TW" altLang="en-US" sz="3400" dirty="0" smtClean="0"/>
              <a:t>取代圖片</a:t>
            </a:r>
            <a:endParaRPr kumimoji="1" lang="en-US" altLang="zh-TW" sz="3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ea typeface="新細明體" charset="-120"/>
              </a:defRPr>
            </a:lvl2pPr>
            <a:lvl3pPr marL="1143000" indent="-228600">
              <a:defRPr>
                <a:ea typeface="新細明體" charset="-120"/>
              </a:defRPr>
            </a:lvl3pPr>
            <a:lvl4pPr marL="1600200" indent="-228600">
              <a:defRPr>
                <a:ea typeface="新細明體" charset="-120"/>
              </a:defRPr>
            </a:lvl4pPr>
            <a:lvl5pPr marL="2057400" indent="-228600">
              <a:defRPr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移除浮水印</a:t>
            </a:r>
            <a:endParaRPr kumimoji="0" lang="en-US" altLang="zh-TW" sz="60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804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3"/>
          <p:cNvSpPr>
            <a:spLocks noChangeArrowheads="1"/>
          </p:cNvSpPr>
          <p:nvPr/>
        </p:nvSpPr>
        <p:spPr bwMode="auto">
          <a:xfrm>
            <a:off x="0" y="1341438"/>
            <a:ext cx="91440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1.Adobe Acrobat  Pro DC </a:t>
            </a:r>
            <a:r>
              <a:rPr kumimoji="1" lang="zh-TW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試用版  </a:t>
            </a: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7</a:t>
            </a:r>
            <a:r>
              <a:rPr kumimoji="1" lang="zh-TW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天</a:t>
            </a:r>
            <a:endParaRPr kumimoji="1" lang="en-US" altLang="zh-TW" sz="3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2.iLovePDF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3.CleverPDF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4.SmallPDF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5.APowerPDF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6.</a:t>
            </a:r>
            <a:r>
              <a:rPr kumimoji="1" lang="zh-TW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迅捷</a:t>
            </a: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7.lightPDF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8.PDFCandy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9.hiPDF</a:t>
            </a:r>
          </a:p>
        </p:txBody>
      </p:sp>
      <p:sp>
        <p:nvSpPr>
          <p:cNvPr id="5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ea typeface="新細明體" charset="-120"/>
              </a:defRPr>
            </a:lvl2pPr>
            <a:lvl3pPr marL="1143000" indent="-228600">
              <a:defRPr>
                <a:ea typeface="新細明體" charset="-120"/>
              </a:defRPr>
            </a:lvl3pPr>
            <a:lvl4pPr marL="1600200" indent="-228600">
              <a:defRPr>
                <a:ea typeface="新細明體" charset="-120"/>
              </a:defRPr>
            </a:lvl4pPr>
            <a:lvl5pPr marL="2057400" indent="-228600">
              <a:defRPr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4717402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3" descr="目錄 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4" r="1076"/>
          <a:stretch>
            <a:fillRect/>
          </a:stretch>
        </p:blipFill>
        <p:spPr bwMode="auto">
          <a:xfrm>
            <a:off x="-14288" y="0"/>
            <a:ext cx="9158288" cy="542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手繪多邊形 6"/>
          <p:cNvSpPr/>
          <p:nvPr/>
        </p:nvSpPr>
        <p:spPr>
          <a:xfrm>
            <a:off x="-38100" y="2968626"/>
            <a:ext cx="9182100" cy="3940175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3940935">
                <a:moveTo>
                  <a:pt x="25758" y="2112135"/>
                </a:moveTo>
                <a:cubicBezTo>
                  <a:pt x="5441929" y="3367484"/>
                  <a:pt x="8008211" y="1403320"/>
                  <a:pt x="9182637" y="0"/>
                </a:cubicBezTo>
                <a:lnTo>
                  <a:pt x="9169758" y="3940935"/>
                </a:lnTo>
                <a:lnTo>
                  <a:pt x="0" y="3940935"/>
                </a:lnTo>
                <a:lnTo>
                  <a:pt x="25758" y="2112135"/>
                </a:lnTo>
                <a:close/>
              </a:path>
            </a:pathLst>
          </a:custGeom>
          <a:solidFill>
            <a:srgbClr val="1F497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手繪多邊形 7"/>
          <p:cNvSpPr/>
          <p:nvPr/>
        </p:nvSpPr>
        <p:spPr>
          <a:xfrm>
            <a:off x="-50800" y="3603625"/>
            <a:ext cx="9194800" cy="3297238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3298017">
                <a:moveTo>
                  <a:pt x="25758" y="1469217"/>
                </a:moveTo>
                <a:cubicBezTo>
                  <a:pt x="5390000" y="2758734"/>
                  <a:pt x="7831707" y="1270898"/>
                  <a:pt x="9182637" y="0"/>
                </a:cubicBezTo>
                <a:lnTo>
                  <a:pt x="9169758" y="3298017"/>
                </a:lnTo>
                <a:lnTo>
                  <a:pt x="0" y="3298017"/>
                </a:lnTo>
                <a:lnTo>
                  <a:pt x="25758" y="1469217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手繪多邊形 8"/>
          <p:cNvSpPr/>
          <p:nvPr/>
        </p:nvSpPr>
        <p:spPr>
          <a:xfrm>
            <a:off x="-50800" y="4252913"/>
            <a:ext cx="9194800" cy="2798762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2797975">
                <a:moveTo>
                  <a:pt x="25758" y="969175"/>
                </a:moveTo>
                <a:cubicBezTo>
                  <a:pt x="5396837" y="2321457"/>
                  <a:pt x="7733684" y="1141895"/>
                  <a:pt x="9182637" y="0"/>
                </a:cubicBezTo>
                <a:lnTo>
                  <a:pt x="9169758" y="2797975"/>
                </a:lnTo>
                <a:lnTo>
                  <a:pt x="0" y="2797975"/>
                </a:lnTo>
                <a:lnTo>
                  <a:pt x="25758" y="969175"/>
                </a:lnTo>
                <a:close/>
              </a:path>
            </a:pathLst>
          </a:custGeom>
          <a:solidFill>
            <a:srgbClr val="FFFFFF">
              <a:alpha val="84706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Text Box 50"/>
          <p:cNvSpPr txBox="1">
            <a:spLocks noChangeArrowheads="1"/>
          </p:cNvSpPr>
          <p:nvPr/>
        </p:nvSpPr>
        <p:spPr bwMode="auto">
          <a:xfrm>
            <a:off x="1629518" y="6005866"/>
            <a:ext cx="7011987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 marL="457200" indent="-4572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勞動部勞動力發展署北基宜花金馬分署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http://tkyhkm.wda.gov.tw/ 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總機：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02-29018274</a:t>
            </a:r>
          </a:p>
        </p:txBody>
      </p:sp>
      <p:pic>
        <p:nvPicPr>
          <p:cNvPr id="19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96" y="5583591"/>
            <a:ext cx="1268413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29"/>
          <p:cNvSpPr txBox="1">
            <a:spLocks noChangeArrowheads="1"/>
          </p:cNvSpPr>
          <p:nvPr/>
        </p:nvSpPr>
        <p:spPr bwMode="auto">
          <a:xfrm>
            <a:off x="23812" y="1373189"/>
            <a:ext cx="91440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6600" b="1" dirty="0">
                <a:solidFill>
                  <a:srgbClr val="0033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感謝聆聽</a:t>
            </a:r>
            <a:endParaRPr kumimoji="0" lang="en-US" altLang="zh-TW" sz="6600" b="1" dirty="0">
              <a:solidFill>
                <a:srgbClr val="00336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6600" b="1" dirty="0">
                <a:solidFill>
                  <a:srgbClr val="0033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祝福您</a:t>
            </a:r>
          </a:p>
        </p:txBody>
      </p:sp>
    </p:spTree>
    <p:extLst>
      <p:ext uri="{BB962C8B-B14F-4D97-AF65-F5344CB8AC3E}">
        <p14:creationId xmlns:p14="http://schemas.microsoft.com/office/powerpoint/2010/main" val="3148303201"/>
      </p:ext>
    </p:extLst>
  </p:cSld>
  <p:clrMapOvr>
    <a:masterClrMapping/>
  </p:clrMapOvr>
</p:sld>
</file>

<file path=ppt/theme/theme1.xml><?xml version="1.0" encoding="utf-8"?>
<a:theme xmlns:a="http://schemas.openxmlformats.org/drawingml/2006/main" name="5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4170</TotalTime>
  <Words>1134</Words>
  <Application>Microsoft Office PowerPoint</Application>
  <PresentationFormat>如螢幕大小 (4:3)</PresentationFormat>
  <Paragraphs>219</Paragraphs>
  <Slides>42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42</vt:i4>
      </vt:variant>
    </vt:vector>
  </HeadingPairs>
  <TitlesOfParts>
    <vt:vector size="55" baseType="lpstr">
      <vt:lpstr>微軟正黑體</vt:lpstr>
      <vt:lpstr>新細明體</vt:lpstr>
      <vt:lpstr>Arial</vt:lpstr>
      <vt:lpstr>Calibri</vt:lpstr>
      <vt:lpstr>Calibri Light</vt:lpstr>
      <vt:lpstr>Times New Roman</vt:lpstr>
      <vt:lpstr>Wingdings</vt:lpstr>
      <vt:lpstr>5_預設簡報設計</vt:lpstr>
      <vt:lpstr>4_預設簡報設計</vt:lpstr>
      <vt:lpstr>Office 佈景主題</vt:lpstr>
      <vt:lpstr>1_Office 佈景主題</vt:lpstr>
      <vt:lpstr>2_預設簡報設計</vt:lpstr>
      <vt:lpstr>3_預設簡報設計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楊健裕</dc:creator>
  <cp:lastModifiedBy>user</cp:lastModifiedBy>
  <cp:revision>182</cp:revision>
  <dcterms:created xsi:type="dcterms:W3CDTF">2015-04-08T00:14:16Z</dcterms:created>
  <dcterms:modified xsi:type="dcterms:W3CDTF">2022-01-18T06:39:55Z</dcterms:modified>
</cp:coreProperties>
</file>