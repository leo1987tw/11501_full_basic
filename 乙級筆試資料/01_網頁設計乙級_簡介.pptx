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  <p:sldMasterId id="2147483699" r:id="rId3"/>
  </p:sldMasterIdLst>
  <p:notesMasterIdLst>
    <p:notesMasterId r:id="rId39"/>
  </p:notesMasterIdLst>
  <p:sldIdLst>
    <p:sldId id="321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416" r:id="rId12"/>
    <p:sldId id="417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326" r:id="rId22"/>
    <p:sldId id="324" r:id="rId23"/>
    <p:sldId id="409" r:id="rId24"/>
    <p:sldId id="331" r:id="rId25"/>
    <p:sldId id="340" r:id="rId26"/>
    <p:sldId id="260" r:id="rId27"/>
    <p:sldId id="332" r:id="rId28"/>
    <p:sldId id="354" r:id="rId29"/>
    <p:sldId id="352" r:id="rId30"/>
    <p:sldId id="410" r:id="rId31"/>
    <p:sldId id="355" r:id="rId32"/>
    <p:sldId id="356" r:id="rId33"/>
    <p:sldId id="428" r:id="rId34"/>
    <p:sldId id="357" r:id="rId35"/>
    <p:sldId id="370" r:id="rId36"/>
    <p:sldId id="429" r:id="rId37"/>
    <p:sldId id="315" r:id="rId3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85168" autoAdjust="0"/>
  </p:normalViewPr>
  <p:slideViewPr>
    <p:cSldViewPr snapToGrid="0">
      <p:cViewPr varScale="1">
        <p:scale>
          <a:sx n="98" d="100"/>
          <a:sy n="98" d="100"/>
        </p:scale>
        <p:origin x="1842" y="-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4F7ED-1D4D-4803-8D36-DFED89DD701D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6C71B-E1F8-4E12-A4D7-600470733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6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0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180228" name="投影片編號版面配置區 3"/>
          <p:cNvSpPr txBox="1">
            <a:spLocks noGrp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061BEF08-4BDC-4DF2-9A00-ECC02DA645F0}" type="slidenum">
              <a:rPr lang="en-US" altLang="zh-TW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TW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84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204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880CF2A5-A2F4-46C7-8325-E639C2B054D4}" type="slidenum">
              <a:rPr lang="en-US" altLang="zh-TW" smtClean="0">
                <a:solidFill>
                  <a:srgbClr val="000000"/>
                </a:solidFill>
              </a:rPr>
              <a:pPr/>
              <a:t>2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057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225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7A24EC37-9649-49DC-A488-A3428F7B6F50}" type="slidenum">
              <a:rPr lang="en-US" altLang="zh-TW" smtClean="0">
                <a:solidFill>
                  <a:srgbClr val="000000"/>
                </a:solidFill>
              </a:rPr>
              <a:pPr/>
              <a:t>3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652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245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BA88730-F06D-46F3-BEEF-71C0C8732893}" type="slidenum">
              <a:rPr lang="en-US" altLang="zh-TW" smtClean="0">
                <a:solidFill>
                  <a:srgbClr val="000000"/>
                </a:solidFill>
              </a:rPr>
              <a:pPr/>
              <a:t>4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881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266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5CC38A56-54F8-43BC-BA88-9D23E4612E1F}" type="slidenum">
              <a:rPr lang="en-US" altLang="zh-TW" smtClean="0">
                <a:solidFill>
                  <a:srgbClr val="000000"/>
                </a:solidFill>
              </a:rPr>
              <a:pPr/>
              <a:t>5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499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286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94A3DCC5-0A63-471B-865E-4ACA1E612A1E}" type="slidenum">
              <a:rPr lang="en-US" altLang="zh-TW" smtClean="0">
                <a:solidFill>
                  <a:srgbClr val="000000"/>
                </a:solidFill>
              </a:rPr>
              <a:pPr/>
              <a:t>6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00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307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6BA2304-09A8-4DC9-9F78-01DFFB5D99DC}" type="slidenum">
              <a:rPr lang="en-US" altLang="zh-TW" smtClean="0">
                <a:solidFill>
                  <a:srgbClr val="000000"/>
                </a:solidFill>
              </a:rPr>
              <a:pPr/>
              <a:t>7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538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3277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24A7C05-5A05-44F4-ABAF-C40713C0761C}" type="slidenum">
              <a:rPr lang="en-US" altLang="zh-TW" smtClean="0">
                <a:solidFill>
                  <a:srgbClr val="000000"/>
                </a:solidFill>
              </a:rPr>
              <a:pPr/>
              <a:t>8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288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491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F37D161-CA16-4B26-B8B8-7026A7E2B264}" type="slidenum">
              <a:rPr lang="en-US" altLang="zh-TW" smtClean="0">
                <a:solidFill>
                  <a:srgbClr val="000000"/>
                </a:solidFill>
              </a:rPr>
              <a:pPr/>
              <a:t>9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796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5120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4171700-E33E-4676-B86F-76F9B1B53BF6}" type="slidenum">
              <a:rPr lang="en-US" altLang="zh-TW" smtClean="0">
                <a:solidFill>
                  <a:srgbClr val="000000"/>
                </a:solidFill>
              </a:rPr>
              <a:pPr/>
              <a:t>10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976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553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4B27C43-C7FD-4BDE-A377-52423C9C27E0}" type="slidenum">
              <a:rPr lang="en-US" altLang="zh-TW" smtClean="0">
                <a:solidFill>
                  <a:srgbClr val="000000"/>
                </a:solidFill>
              </a:rPr>
              <a:pPr/>
              <a:t>11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256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5734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267F125-CF7F-4422-9787-2826D12BCE28}" type="slidenum">
              <a:rPr lang="en-US" altLang="zh-TW" smtClean="0">
                <a:solidFill>
                  <a:srgbClr val="000000"/>
                </a:solidFill>
              </a:rPr>
              <a:pPr/>
              <a:t>12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488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317A540-28A7-45DD-9C49-61AC765C2B82}" type="slidenum">
              <a:rPr lang="en-US" altLang="zh-TW" smtClean="0">
                <a:solidFill>
                  <a:srgbClr val="000000"/>
                </a:solidFill>
              </a:rPr>
              <a:pPr/>
              <a:t>13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03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2990A86-A382-49F1-B0EF-FA35A98EB6BF}" type="slidenum">
              <a:rPr lang="en-US" altLang="zh-TW" smtClean="0">
                <a:solidFill>
                  <a:srgbClr val="000000"/>
                </a:solidFill>
              </a:rPr>
              <a:pPr/>
              <a:t>14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377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634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8A0B2222-C794-47D4-9E12-4C2B0FBCC897}" type="slidenum">
              <a:rPr lang="en-US" altLang="zh-TW" smtClean="0">
                <a:solidFill>
                  <a:srgbClr val="000000"/>
                </a:solidFill>
              </a:rPr>
              <a:pPr/>
              <a:t>15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706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655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46DF2CD8-C598-42EA-BAD7-6265AB28590D}" type="slidenum">
              <a:rPr lang="en-US" altLang="zh-TW" smtClean="0">
                <a:solidFill>
                  <a:srgbClr val="000000"/>
                </a:solidFill>
              </a:rPr>
              <a:pPr/>
              <a:t>16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418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  <a:ln/>
        </p:spPr>
      </p:sp>
      <p:sp>
        <p:nvSpPr>
          <p:cNvPr id="6758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smtClean="0">
              <a:latin typeface="Arial" panose="020B0604020202020204" pitchFamily="34" charset="0"/>
            </a:endParaRPr>
          </a:p>
        </p:txBody>
      </p:sp>
      <p:sp>
        <p:nvSpPr>
          <p:cNvPr id="6758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643A8DB-ECB7-43A1-B693-3BF53EEA0A76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17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239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latin typeface="Arial" panose="020B0604020202020204" pitchFamily="34" charset="0"/>
              </a:rPr>
              <a:t>第</a:t>
            </a:r>
            <a:r>
              <a:rPr lang="en-US" altLang="zh-TW" smtClean="0">
                <a:latin typeface="Arial" panose="020B0604020202020204" pitchFamily="34" charset="0"/>
              </a:rPr>
              <a:t>9</a:t>
            </a:r>
            <a:r>
              <a:rPr lang="zh-TW" altLang="en-US" smtClean="0">
                <a:latin typeface="Arial" panose="020B0604020202020204" pitchFamily="34" charset="0"/>
              </a:rPr>
              <a:t>題</a:t>
            </a:r>
            <a:endParaRPr lang="en-US" altLang="zh-TW" smtClean="0">
              <a:latin typeface="Arial" panose="020B0604020202020204" pitchFamily="34" charset="0"/>
            </a:endParaRPr>
          </a:p>
          <a:p>
            <a:r>
              <a:rPr lang="en-US" altLang="zh-TW" smtClean="0">
                <a:latin typeface="Arial" panose="020B0604020202020204" pitchFamily="34" charset="0"/>
              </a:rPr>
              <a:t>WDS (Wireless Distribution System)</a:t>
            </a:r>
          </a:p>
        </p:txBody>
      </p:sp>
      <p:sp>
        <p:nvSpPr>
          <p:cNvPr id="655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46DF2CD8-C598-42EA-BAD7-6265AB28590D}" type="slidenum">
              <a:rPr lang="en-US" altLang="zh-TW" smtClean="0">
                <a:solidFill>
                  <a:srgbClr val="000000"/>
                </a:solidFill>
              </a:rPr>
              <a:pPr/>
              <a:t>18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285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0524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348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872CDEB9-37F0-4CF5-9632-9969C5FA294A}" type="slidenum">
              <a:rPr lang="en-US" altLang="zh-TW" smtClean="0">
                <a:solidFill>
                  <a:srgbClr val="000000"/>
                </a:solidFill>
              </a:rPr>
              <a:pPr/>
              <a:t>21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2657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2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22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B3A877-67AD-4CDF-B0BE-77885570945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092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2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kern="0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共同科目</a:t>
            </a:r>
            <a:r>
              <a:rPr lang="en-US" altLang="zh-TW" sz="1200" b="1" kern="0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400+90011--</a:t>
            </a:r>
            <a:r>
              <a:rPr lang="en-US" altLang="zh-TW" dirty="0" smtClean="0">
                <a:latin typeface="Arial" panose="020B0604020202020204" pitchFamily="34" charset="0"/>
              </a:rPr>
              <a:t>138</a:t>
            </a:r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22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B3A877-67AD-4CDF-B0BE-77885570945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874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2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22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B3A877-67AD-4CDF-B0BE-77885570945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452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522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22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B3A877-67AD-4CDF-B0BE-77885570945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559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669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anose="020B0604020202020204" pitchFamily="34" charset="0"/>
            </a:endParaRPr>
          </a:p>
        </p:txBody>
      </p:sp>
      <p:sp>
        <p:nvSpPr>
          <p:cNvPr id="3686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6763" indent="-293688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2688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576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13" indent="-2349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892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464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036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960813" indent="-2349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442E100-E2C8-40EE-AF6F-62EC9363C876}" type="slidenum">
              <a:rPr lang="en-US" altLang="zh-TW" smtClean="0">
                <a:solidFill>
                  <a:srgbClr val="000000"/>
                </a:solidFill>
              </a:rPr>
              <a:pPr/>
              <a:t>28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9638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541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1630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9584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1794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419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6796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>
              <a:latin typeface="Arial" panose="020B0604020202020204" pitchFamily="34" charset="0"/>
            </a:endParaRPr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B7B32F-EDEA-4420-8984-4807EF4A1D15}" type="slidenum">
              <a:rPr lang="en-US" altLang="zh-TW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94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A1C746E-41C7-4F9E-B371-4DCC88BF84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98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F3DFCFF-9567-47C6-BDD0-0535D68292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13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EF7702A-1BE9-47AA-920C-63DB50F0AC7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381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DAA8C43-85E2-47D9-9370-E413756E7A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825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1578F88-D058-42EB-A034-A6433F34AA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222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55CCAA7-FF88-4AED-B2BB-022E3554D96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254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13A9F10-4C4A-44C3-8240-B6C9DA0C21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0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9BE3C65-1487-4922-9310-3368D52EF59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617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1631424-FEA1-4BAD-AEEC-C3EB56BA5E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492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D975ED0-34A6-4BB0-AF93-EE8BCBB997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833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2991259-2112-44AE-934C-479DF94E26D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7595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ADE312-9FA3-4A29-9E98-1947032D64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9507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1498638-632B-4B4C-ACCD-E9D0D2B462E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7964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A67B0BD-E84D-4D67-A606-780F3ADCC3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057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AC6817D-C939-4867-B01A-DC9E680DE0B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4268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82A9C0B-20FA-4E8C-8F3C-26F2BADAFE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59780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E138F42-A533-4F4F-B5A2-7B41D43F3F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8563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5E9456A-FF7C-418D-8A36-3DE162402F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0851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B6F945C-5B36-4767-95F1-AD56FF6B98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666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1E8C2B2-0BF7-45B4-A774-4F9BD1B0FA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2060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EAE1A2-42E5-4B59-ADB1-D938BA3F2F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3212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80C64B7-E808-49B3-B781-29D8F98A958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7184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E01DB36-4CB0-461F-AD9C-A4D3ABEC5B1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52057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1CBC0C2-C907-4A55-93E6-46038E8810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65424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E430D-7C23-46F2-9952-7EFD0E56FA99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0BCFC-8F51-467A-A0D7-2ABD2859C2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4926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solidFill>
            <a:srgbClr val="800000"/>
          </a:solidFill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411A1-B6C8-488F-B545-232E9A6A6178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08D4F-1874-4342-BA99-39AE232464E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5793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C53A6-E229-40B5-9FDD-CAD456A9B4C3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06BE0-E1CD-4349-8168-E416DE04022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076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09279-2961-44A9-A7BD-58396E8FDC3C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63566-0176-4F2F-8945-37F732E9D9C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8501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326C5-CE08-40AD-A20E-3749DE82FF85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53807A-D5BD-4C5B-A97C-10436E48733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015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67B20-DBAC-4AE8-BD95-D21EEABDA220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D5FF66-34E3-490B-8315-8D4FC18F543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64689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E3144-5D76-4805-A95B-6695A8EE14B8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5940C7-26DB-4BFC-A5C6-D97D9A1322F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0615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BF0DD-6BCC-4233-89BD-73D293E77F62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5C34F-2ACB-48EB-9C7B-052DE4F397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8160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CE0CF-0EEB-4964-9391-B0077B0A04CB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604FB-A7AC-4086-8B60-3DFB638517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2798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76407-A535-49A6-A51F-93D6685B770F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972317-90B0-4EBC-B87C-6AC7B38DD05C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4116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AF6C1-A735-4589-AE51-69893CE89424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64A2A-3F31-4739-BF5B-0282CD1C3BB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88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85B1E2-30B6-4862-92A5-97115C1B6E46}" type="slidenum">
              <a:rPr kumimoji="1" lang="en-US" altLang="zh-TW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/>
          </a:p>
        </p:txBody>
      </p:sp>
    </p:spTree>
    <p:extLst>
      <p:ext uri="{BB962C8B-B14F-4D97-AF65-F5344CB8AC3E}">
        <p14:creationId xmlns:p14="http://schemas.microsoft.com/office/powerpoint/2010/main" val="46560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AD8661-340A-480F-B82D-5523C8722D20}" type="slidenum">
              <a:rPr kumimoji="1" lang="en-US" altLang="zh-TW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/>
          </a:p>
        </p:txBody>
      </p:sp>
    </p:spTree>
    <p:extLst>
      <p:ext uri="{BB962C8B-B14F-4D97-AF65-F5344CB8AC3E}">
        <p14:creationId xmlns:p14="http://schemas.microsoft.com/office/powerpoint/2010/main" val="43212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763" y="-4763"/>
            <a:ext cx="9144000" cy="769938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00A39A1-4CAF-4FE1-9F67-7837A1C54E85}" type="datetimeFigureOut">
              <a:rPr lang="zh-TW" altLang="en-US"/>
              <a:pPr>
                <a:defRPr/>
              </a:pPr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59F8C67-20BE-4EAF-A4E4-A660458EEAE3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345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.jpeg"/><Relationship Id="rId5" Type="http://schemas.openxmlformats.org/officeDocument/2006/relationships/hyperlink" Target="http://tkyhkm.wda.gov.tw/" TargetMode="External"/><Relationship Id="rId4" Type="http://schemas.openxmlformats.org/officeDocument/2006/relationships/hyperlink" Target="http://www.tsvtc.gov.tw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service.wdasec.gov.tw/WWW/C101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bank.wdasec.gov.tw/owInform/TestReferData.aspx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onlinetest3-4.slhs.tp.edu.tw/bestcontent.asp?examid=t173002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hyperlink" Target="http://tkyhkm.wda.gov.tw/" TargetMode="External"/><Relationship Id="rId4" Type="http://schemas.openxmlformats.org/officeDocument/2006/relationships/hyperlink" Target="http://www.tsvtc.gov.t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3" descr="目錄 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4" r="1076"/>
          <a:stretch>
            <a:fillRect/>
          </a:stretch>
        </p:blipFill>
        <p:spPr bwMode="auto">
          <a:xfrm>
            <a:off x="-14288" y="-31750"/>
            <a:ext cx="9158288" cy="542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手繪多邊形 6"/>
          <p:cNvSpPr/>
          <p:nvPr/>
        </p:nvSpPr>
        <p:spPr>
          <a:xfrm>
            <a:off x="-38100" y="2936875"/>
            <a:ext cx="9182100" cy="3940175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940935">
                <a:moveTo>
                  <a:pt x="25758" y="2112135"/>
                </a:moveTo>
                <a:cubicBezTo>
                  <a:pt x="5441929" y="3367484"/>
                  <a:pt x="8008211" y="1403320"/>
                  <a:pt x="9182637" y="0"/>
                </a:cubicBezTo>
                <a:lnTo>
                  <a:pt x="9169758" y="3940935"/>
                </a:lnTo>
                <a:lnTo>
                  <a:pt x="0" y="3940935"/>
                </a:lnTo>
                <a:lnTo>
                  <a:pt x="25758" y="211213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5" name="手繪多邊形 7"/>
          <p:cNvSpPr/>
          <p:nvPr/>
        </p:nvSpPr>
        <p:spPr>
          <a:xfrm>
            <a:off x="-50800" y="3571875"/>
            <a:ext cx="9194800" cy="3297238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298017">
                <a:moveTo>
                  <a:pt x="25758" y="1469217"/>
                </a:moveTo>
                <a:cubicBezTo>
                  <a:pt x="5390000" y="2758734"/>
                  <a:pt x="7831707" y="1270898"/>
                  <a:pt x="9182637" y="0"/>
                </a:cubicBezTo>
                <a:lnTo>
                  <a:pt x="9169758" y="3298017"/>
                </a:lnTo>
                <a:lnTo>
                  <a:pt x="0" y="3298017"/>
                </a:lnTo>
                <a:lnTo>
                  <a:pt x="25758" y="1469217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6" name="手繪多邊形 8"/>
          <p:cNvSpPr/>
          <p:nvPr/>
        </p:nvSpPr>
        <p:spPr>
          <a:xfrm>
            <a:off x="-50800" y="4221163"/>
            <a:ext cx="9194800" cy="2798762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2797975">
                <a:moveTo>
                  <a:pt x="25758" y="969175"/>
                </a:moveTo>
                <a:cubicBezTo>
                  <a:pt x="5396837" y="2321457"/>
                  <a:pt x="7733684" y="1141895"/>
                  <a:pt x="9182637" y="0"/>
                </a:cubicBezTo>
                <a:lnTo>
                  <a:pt x="9169758" y="2797975"/>
                </a:lnTo>
                <a:lnTo>
                  <a:pt x="0" y="2797975"/>
                </a:lnTo>
                <a:lnTo>
                  <a:pt x="25758" y="969175"/>
                </a:lnTo>
                <a:close/>
              </a:path>
            </a:pathLst>
          </a:custGeom>
          <a:solidFill>
            <a:srgbClr val="FFFFFF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17415" name="文字方塊 16"/>
          <p:cNvSpPr txBox="1">
            <a:spLocks noChangeArrowheads="1"/>
          </p:cNvSpPr>
          <p:nvPr/>
        </p:nvSpPr>
        <p:spPr bwMode="auto">
          <a:xfrm>
            <a:off x="2627508" y="2794000"/>
            <a:ext cx="30241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2800" b="1" dirty="0">
                <a:solidFill>
                  <a:srgbClr val="00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  分享人</a:t>
            </a:r>
            <a:r>
              <a:rPr kumimoji="0" lang="zh-TW" altLang="en-US" sz="2800" b="1" dirty="0" smtClean="0">
                <a:solidFill>
                  <a:srgbClr val="00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：劉勤永               </a:t>
            </a:r>
            <a:endParaRPr kumimoji="0" lang="zh-TW" altLang="en-US" sz="2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7416" name="Text Box 50"/>
          <p:cNvSpPr txBox="1">
            <a:spLocks noChangeArrowheads="1"/>
          </p:cNvSpPr>
          <p:nvPr/>
        </p:nvSpPr>
        <p:spPr bwMode="auto">
          <a:xfrm>
            <a:off x="1284288" y="6067425"/>
            <a:ext cx="70119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 marL="457200" indent="-4572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32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勞動部勞動力發展署北基宜花金馬分署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 </a:t>
            </a:r>
            <a:r>
              <a:rPr lang="en-US" altLang="zh-TW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http://tkyhkm.wda.gov.tw/ </a:t>
            </a:r>
            <a:r>
              <a:rPr lang="en-US" altLang="zh-TW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</a:t>
            </a:r>
            <a:r>
              <a:rPr lang="zh-TW" altLang="en-US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總機：</a:t>
            </a:r>
            <a:r>
              <a:rPr lang="en-US" altLang="zh-TW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02-29018274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936625" y="723900"/>
            <a:ext cx="7416800" cy="15652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7418" name="文字方塊 15"/>
          <p:cNvSpPr txBox="1">
            <a:spLocks noChangeArrowheads="1"/>
          </p:cNvSpPr>
          <p:nvPr/>
        </p:nvSpPr>
        <p:spPr bwMode="auto">
          <a:xfrm>
            <a:off x="986595" y="737861"/>
            <a:ext cx="74072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4800" b="1" dirty="0">
                <a:latin typeface="微軟正黑體" pitchFamily="34" charset="-120"/>
                <a:ea typeface="微軟正黑體" pitchFamily="34" charset="-120"/>
              </a:rPr>
              <a:t>17300</a:t>
            </a:r>
            <a:r>
              <a:rPr kumimoji="0" lang="zh-TW" altLang="en-US" sz="4800" b="1" dirty="0">
                <a:latin typeface="微軟正黑體" pitchFamily="34" charset="-120"/>
                <a:ea typeface="微軟正黑體" pitchFamily="34" charset="-120"/>
              </a:rPr>
              <a:t>網頁設計乙</a:t>
            </a:r>
            <a:r>
              <a:rPr kumimoji="0" lang="zh-TW" altLang="en-US" sz="4800" b="1" dirty="0" smtClean="0">
                <a:latin typeface="微軟正黑體" pitchFamily="34" charset="-120"/>
                <a:ea typeface="微軟正黑體" pitchFamily="34" charset="-120"/>
              </a:rPr>
              <a:t>級</a:t>
            </a:r>
            <a:endParaRPr kumimoji="0" lang="en-US" altLang="zh-TW" sz="4800" b="1" dirty="0" smtClean="0">
              <a:latin typeface="微軟正黑體" pitchFamily="34" charset="-120"/>
              <a:ea typeface="微軟正黑體" pitchFamily="34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4800" b="1" dirty="0" smtClean="0">
                <a:latin typeface="微軟正黑體" pitchFamily="34" charset="-120"/>
                <a:ea typeface="微軟正黑體" pitchFamily="34" charset="-120"/>
              </a:rPr>
              <a:t>簡介</a:t>
            </a:r>
            <a:endParaRPr kumimoji="0" lang="zh-TW" altLang="en-US" sz="48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7419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8" y="5645150"/>
            <a:ext cx="1268413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2995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報名日期</a:t>
            </a:r>
            <a:endParaRPr lang="en-US" altLang="zh-TW" sz="6000" b="1" dirty="0" smtClean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檢定日期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560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報檢資格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015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>
                <a:solidFill>
                  <a:srgbClr val="FFFFFF"/>
                </a:solidFill>
              </a:rPr>
              <a:t>具備下列資格之一者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取得申請檢定職類丙級技術士證，並接受相關職類職業訓練時數累計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800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小時以上，或從事相關工作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年以上者。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2.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取得申請檢定職類丙級技術士證，並具有高級中等學校畢業或同等學力證明者，或高級中等學校在校最高年級</a:t>
            </a:r>
            <a:r>
              <a:rPr lang="zh-TW" altLang="en-US" dirty="0" smtClean="0">
                <a:latin typeface="Times New Roman" panose="02020603050405020304" pitchFamily="18" charset="0"/>
                <a:ea typeface="微軟正黑體" panose="020B0604030504040204" pitchFamily="34" charset="-120"/>
              </a:rPr>
              <a:t>者</a:t>
            </a:r>
            <a:endParaRPr lang="zh-TW" altLang="en-US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3.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取得申請檢定職類丙級技術士證，並具有五年制專科三年級以上、二年制及三年制專科、技術學院、大學之在校或同等學力證明者。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4.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接受相關職類職業訓練時數累計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400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小時，並從事申請檢定職類相關工作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年以上者。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5.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接受相關職類職業訓練時數累計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800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小時，並從事申請檢定職類相關工作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年以上者。</a:t>
            </a:r>
            <a:endParaRPr lang="zh-TW" altLang="en-US" dirty="0" smtClean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838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>
                <a:solidFill>
                  <a:srgbClr val="FFFFFF"/>
                </a:solidFill>
              </a:rPr>
              <a:t>具備下列資格之一者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2560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6.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接受相關職類職業訓練時數累計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1600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小時以上者。</a:t>
            </a:r>
          </a:p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7.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接受相關職類職業訓練時數累計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800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小時以上，並具有高級中等學校畢業或同等學力證明者。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8.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接受相關職類職業訓練時累計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400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小時，並從事申請檢定職類相關工作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年以上，且具有高級中等學校畢業或同等學力證明者。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9.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接受相關職類技術生訓練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年，並從事申請檢定職類相關工作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年以上者。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10.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具有高級中等學校畢業或同等學力證明，並從事申請檢定職類相關工作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年以上者。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11.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大專校院以上相關科系畢業或在校最高年級者。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12.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從事申請檢定職類相關工作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6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年以上者。</a:t>
            </a:r>
            <a:endParaRPr lang="zh-TW" altLang="en-US" dirty="0" smtClean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230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檢定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endParaRPr lang="en-US" altLang="zh-TW" sz="6000" b="1" dirty="0" smtClean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學科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術科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142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學科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(</a:t>
            </a:r>
            <a:r>
              <a:rPr kumimoji="0" lang="zh-TW" altLang="en-US" sz="6000" dirty="0" smtClean="0">
                <a:solidFill>
                  <a:srgbClr val="FFFFFF"/>
                </a:solidFill>
              </a:rPr>
              <a:t>測驗範圍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)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2969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採筆試測驗題方式（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單選題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60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題，每題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1 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分；複選題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20 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題，每題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2 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分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，答錯不倒扣）測試時間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100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分鐘，採電腦閱卷。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※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測驗範圍包括：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作業準備、應用軟體安裝及使用、系統軟體安裝及使用、資訊安全、安全衛生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等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5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項。</a:t>
            </a:r>
          </a:p>
        </p:txBody>
      </p:sp>
    </p:spTree>
    <p:extLst>
      <p:ext uri="{BB962C8B-B14F-4D97-AF65-F5344CB8AC3E}">
        <p14:creationId xmlns:p14="http://schemas.microsoft.com/office/powerpoint/2010/main" val="213190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學科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(</a:t>
            </a:r>
            <a:r>
              <a:rPr kumimoji="0" lang="zh-TW" altLang="en-US" sz="6000" dirty="0" smtClean="0">
                <a:solidFill>
                  <a:srgbClr val="FFFFFF"/>
                </a:solidFill>
              </a:rPr>
              <a:t>測驗範圍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)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3174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※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自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107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月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日起，學科測試中加考「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職業安全衛生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」、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工作倫理與職業道德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」、「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環境保護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」及「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節能減碳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」等技術士技能檢定共同科目，且各職類學科測試抽題比例為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各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5%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。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※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自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109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月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日起，相關職類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電腦軟體應用、電腦軟體設計、電腦硬體裝修、網頁設計、網路架設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學科測試中加考「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資訊相關職類共用工作項目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」，抽題數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單選題內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為乙級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9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題、丙級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12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題。</a:t>
            </a:r>
          </a:p>
        </p:txBody>
      </p:sp>
    </p:spTree>
    <p:extLst>
      <p:ext uri="{BB962C8B-B14F-4D97-AF65-F5344CB8AC3E}">
        <p14:creationId xmlns:p14="http://schemas.microsoft.com/office/powerpoint/2010/main" val="186563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成績評定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022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成績評定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5017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一、學科測試成績以達到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60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分（含）以上為及格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。成績將於測試完畢四週內評定完畢，並寄發成績通知單。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二、術科測試成績之評定，按各職類試題所訂評分標準之規定辦理，採及格、不及格法或百分比法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另加註術科總分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；依術科測試成績作業程序，各術科測試辦理單位應於當梯次就所接受委託 辦理該職類級別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術科採集中閱卷職類除外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之所有應檢人測試完成後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週內，將成績函送發展 署技能檢定中心，經該中心審核無誤將於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2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週內據以寄發技能檢定成績單，並公布於「</a:t>
            </a: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技檢中心網站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」供應檢人查詢</a:t>
            </a:r>
            <a:r>
              <a:rPr lang="zh-TW" altLang="en-US" dirty="0" smtClean="0">
                <a:latin typeface="Times New Roman" panose="02020603050405020304" pitchFamily="18" charset="0"/>
                <a:ea typeface="微軟正黑體" panose="020B0604030504040204" pitchFamily="34" charset="-120"/>
              </a:rPr>
              <a:t>。</a:t>
            </a:r>
            <a:endParaRPr lang="zh-TW" altLang="en-US" dirty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241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成績查詢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542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https://eservice.wdasec.gov.tw/WWW/C101Q</a:t>
            </a:r>
            <a:endParaRPr lang="zh-TW" altLang="en-US" dirty="0" smtClean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pic>
        <p:nvPicPr>
          <p:cNvPr id="54276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133600"/>
            <a:ext cx="6715125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698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合格發證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74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合格發證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5837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凡經參加技能檢定學科及術科測試成績均及格者，並繳交證照費後由發展署技能檢定中心製發「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中華民國技術士證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」。如需輔導就業者，可透過全國就業服務機構，優先予以輔導就業。</a:t>
            </a:r>
          </a:p>
        </p:txBody>
      </p:sp>
    </p:spTree>
    <p:extLst>
      <p:ext uri="{BB962C8B-B14F-4D97-AF65-F5344CB8AC3E}">
        <p14:creationId xmlns:p14="http://schemas.microsoft.com/office/powerpoint/2010/main" val="859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注意事項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627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注意事項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6246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一、學、術科測試日期不同日，術科測試時間由術科試務辦理單位於測試前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天掛號通知。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二、應檢人須留意「網頁設計丙級技術士技能檢定術科測試應檢人自備工具參考表」，並備妥需自備之應檢工具。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三、術科測試僅一項及格者，該項測試成績自翌年度起，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</a:rPr>
              <a:t>年內參加檢定時，得予保留。</a:t>
            </a:r>
            <a:endParaRPr lang="zh-TW" altLang="en-US" dirty="0" smtClean="0"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827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考場環境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298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標題 31"/>
          <p:cNvSpPr txBox="1">
            <a:spLocks/>
          </p:cNvSpPr>
          <p:nvPr/>
        </p:nvSpPr>
        <p:spPr bwMode="auto">
          <a:xfrm>
            <a:off x="0" y="0"/>
            <a:ext cx="9144000" cy="9810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lang="zh-TW" altLang="en-US" dirty="0" smtClean="0"/>
              <a:t>泰山訓練場平面圖</a:t>
            </a:r>
            <a:endParaRPr lang="en-US" altLang="zh-TW" dirty="0"/>
          </a:p>
        </p:txBody>
      </p:sp>
      <p:grpSp>
        <p:nvGrpSpPr>
          <p:cNvPr id="66563" name="群組 23"/>
          <p:cNvGrpSpPr>
            <a:grpSpLocks/>
          </p:cNvGrpSpPr>
          <p:nvPr/>
        </p:nvGrpSpPr>
        <p:grpSpPr bwMode="auto">
          <a:xfrm>
            <a:off x="0" y="981075"/>
            <a:ext cx="9144000" cy="5867400"/>
            <a:chOff x="1" y="980311"/>
            <a:chExt cx="9144000" cy="5904000"/>
          </a:xfrm>
        </p:grpSpPr>
        <p:pic>
          <p:nvPicPr>
            <p:cNvPr id="66565" name="Picture 3" descr="DSC_0117"/>
            <p:cNvPicPr>
              <a:picLocks noChangeAspect="1" noChangeArrowheads="1"/>
            </p:cNvPicPr>
            <p:nvPr/>
          </p:nvPicPr>
          <p:blipFill>
            <a:blip r:embed="rId3">
              <a:lum bright="6000" contrast="3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16" t="12085" r="11015" b="15671"/>
            <a:stretch>
              <a:fillRect/>
            </a:stretch>
          </p:blipFill>
          <p:spPr bwMode="auto">
            <a:xfrm>
              <a:off x="1" y="980311"/>
              <a:ext cx="9144000" cy="590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文字方塊 33"/>
            <p:cNvSpPr txBox="1"/>
            <p:nvPr/>
          </p:nvSpPr>
          <p:spPr>
            <a:xfrm rot="1345976">
              <a:off x="6888164" y="2705506"/>
              <a:ext cx="1825625" cy="5990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32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行政大樓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 rot="19738898">
              <a:off x="3854451" y="2878025"/>
              <a:ext cx="1825625" cy="60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32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訓練大樓</a:t>
              </a:r>
            </a:p>
          </p:txBody>
        </p:sp>
        <p:sp>
          <p:nvSpPr>
            <p:cNvPr id="37" name="文字方塊 36"/>
            <p:cNvSpPr txBox="1"/>
            <p:nvPr/>
          </p:nvSpPr>
          <p:spPr>
            <a:xfrm rot="19991882">
              <a:off x="3476626" y="1897220"/>
              <a:ext cx="1722438" cy="4728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進修區宿舍</a:t>
              </a:r>
            </a:p>
          </p:txBody>
        </p:sp>
        <p:sp>
          <p:nvSpPr>
            <p:cNvPr id="38" name="文字方塊 37"/>
            <p:cNvSpPr txBox="1"/>
            <p:nvPr/>
          </p:nvSpPr>
          <p:spPr>
            <a:xfrm rot="720390">
              <a:off x="1463676" y="3561714"/>
              <a:ext cx="554038" cy="1356195"/>
            </a:xfrm>
            <a:prstGeom prst="rect">
              <a:avLst/>
            </a:prstGeom>
            <a:noFill/>
          </p:spPr>
          <p:txBody>
            <a:bodyPr vert="eaVert"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Ａ棟宿舍</a:t>
              </a:r>
            </a:p>
          </p:txBody>
        </p:sp>
        <p:sp>
          <p:nvSpPr>
            <p:cNvPr id="40" name="文字方塊 39"/>
            <p:cNvSpPr txBox="1"/>
            <p:nvPr/>
          </p:nvSpPr>
          <p:spPr>
            <a:xfrm rot="720390">
              <a:off x="598489" y="3488233"/>
              <a:ext cx="554037" cy="1356195"/>
            </a:xfrm>
            <a:prstGeom prst="rect">
              <a:avLst/>
            </a:prstGeom>
            <a:noFill/>
          </p:spPr>
          <p:txBody>
            <a:bodyPr vert="eaVert"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Ｂ棟宿舍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 rot="18185816">
              <a:off x="1969323" y="1812050"/>
              <a:ext cx="503181" cy="1117600"/>
            </a:xfrm>
            <a:prstGeom prst="rect">
              <a:avLst/>
            </a:prstGeom>
            <a:noFill/>
          </p:spPr>
          <p:txBody>
            <a:bodyPr vert="eaVert"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綜合大樓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 rot="1996500">
              <a:off x="5330826" y="5988169"/>
              <a:ext cx="542925" cy="53672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1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警衛</a:t>
              </a:r>
              <a:endParaRPr kumimoji="0" lang="en-US" altLang="zh-TW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1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室</a:t>
              </a:r>
            </a:p>
          </p:txBody>
        </p:sp>
        <p:sp>
          <p:nvSpPr>
            <p:cNvPr id="43" name="文字方塊 42"/>
            <p:cNvSpPr txBox="1"/>
            <p:nvPr/>
          </p:nvSpPr>
          <p:spPr>
            <a:xfrm rot="1996500">
              <a:off x="4589464" y="5777312"/>
              <a:ext cx="542925" cy="3162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1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966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/>
          </p:cNvPr>
          <p:cNvSpPr txBox="1">
            <a:spLocks/>
          </p:cNvSpPr>
          <p:nvPr/>
        </p:nvSpPr>
        <p:spPr bwMode="auto">
          <a:xfrm>
            <a:off x="0" y="2060575"/>
            <a:ext cx="9144000" cy="24479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如何通過考試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678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1"/>
          <p:cNvSpPr txBox="1">
            <a:spLocks/>
          </p:cNvSpPr>
          <p:nvPr/>
        </p:nvSpPr>
        <p:spPr bwMode="auto">
          <a:xfrm>
            <a:off x="0" y="1955801"/>
            <a:ext cx="9144000" cy="251936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用功讀書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379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5850"/>
            <a:ext cx="9144000" cy="5097389"/>
          </a:xfrm>
          <a:prstGeom prst="rect">
            <a:avLst/>
          </a:prstGeom>
        </p:spPr>
      </p:pic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8890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下載參考</a:t>
            </a: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資料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0" y="6183240"/>
            <a:ext cx="9144000" cy="677108"/>
          </a:xfrm>
          <a:prstGeom prst="rect">
            <a:avLst/>
          </a:prstGeom>
          <a:solidFill>
            <a:srgbClr val="000000">
              <a:lumMod val="85000"/>
              <a:lumOff val="15000"/>
              <a:alpha val="92000"/>
            </a:srgbClr>
          </a:solidFill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3800" b="1" kern="0" dirty="0">
                <a:solidFill>
                  <a:srgbClr val="7D7D7D">
                    <a:lumMod val="20000"/>
                    <a:lumOff val="8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http://www.wdasec.gov.tw/wdasecch</a:t>
            </a:r>
            <a:endParaRPr kumimoji="1" lang="zh-TW" altLang="en-US" sz="3800" b="1" i="0" u="none" strike="noStrike" kern="0" cap="none" spc="0" normalizeH="0" baseline="0" noProof="0" dirty="0">
              <a:ln>
                <a:noFill/>
              </a:ln>
              <a:solidFill>
                <a:srgbClr val="7D7D7D">
                  <a:lumMod val="20000"/>
                  <a:lumOff val="8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869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學科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+</a:t>
            </a:r>
            <a:r>
              <a:rPr kumimoji="0" lang="zh-TW" altLang="en-US" sz="6000" dirty="0" smtClean="0">
                <a:solidFill>
                  <a:srgbClr val="FFFFFF"/>
                </a:solidFill>
              </a:rPr>
              <a:t>術科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(</a:t>
            </a:r>
            <a:r>
              <a:rPr kumimoji="0" lang="zh-TW" altLang="en-US" sz="6000" dirty="0" smtClean="0">
                <a:solidFill>
                  <a:srgbClr val="FFFFFF"/>
                </a:solidFill>
              </a:rPr>
              <a:t>參考資料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)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3379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</a:t>
            </a:r>
            <a:r>
              <a:rPr lang="en-US" altLang="zh-TW" dirty="0" smtClean="0">
                <a:hlinkClick r:id="rId3"/>
              </a:rPr>
              <a:t>techbank.wdasec.gov.tw/owInform/TestReferData.aspx</a:t>
            </a:r>
            <a:endParaRPr lang="en-US" altLang="zh-TW" dirty="0" smtClean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67" y="2478302"/>
            <a:ext cx="2733675" cy="108585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317" y="2152650"/>
            <a:ext cx="4743450" cy="47053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46167" y="2792629"/>
            <a:ext cx="2733675" cy="37070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09" y="4053949"/>
            <a:ext cx="3390900" cy="15049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43" y="5608327"/>
            <a:ext cx="3714750" cy="54292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77909" y="4004521"/>
            <a:ext cx="3781684" cy="155437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384476" y="5557072"/>
            <a:ext cx="3781684" cy="6185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84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/>
              <a:t>題庫分類</a:t>
            </a:r>
            <a:endParaRPr lang="en-US" altLang="zh-TW" dirty="0"/>
          </a:p>
        </p:txBody>
      </p:sp>
      <p:grpSp>
        <p:nvGrpSpPr>
          <p:cNvPr id="19" name="群組 3"/>
          <p:cNvGrpSpPr>
            <a:grpSpLocks/>
          </p:cNvGrpSpPr>
          <p:nvPr/>
        </p:nvGrpSpPr>
        <p:grpSpPr bwMode="auto">
          <a:xfrm>
            <a:off x="194840" y="1240984"/>
            <a:ext cx="8785225" cy="697547"/>
            <a:chOff x="251520" y="1263407"/>
            <a:chExt cx="8784974" cy="989255"/>
          </a:xfrm>
        </p:grpSpPr>
        <p:sp>
          <p:nvSpPr>
            <p:cNvPr id="20" name="五邊形 19"/>
            <p:cNvSpPr/>
            <p:nvPr/>
          </p:nvSpPr>
          <p:spPr bwMode="auto">
            <a:xfrm flipH="1">
              <a:off x="3348645" y="1263407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32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作業準備</a:t>
              </a: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　   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242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圓角矩形 20"/>
            <p:cNvSpPr/>
            <p:nvPr/>
          </p:nvSpPr>
          <p:spPr bwMode="auto">
            <a:xfrm>
              <a:off x="251520" y="1263407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工作項目</a:t>
              </a:r>
              <a:r>
                <a:rPr lang="en-US" altLang="zh-TW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01</a:t>
              </a:r>
            </a:p>
          </p:txBody>
        </p:sp>
      </p:grpSp>
      <p:grpSp>
        <p:nvGrpSpPr>
          <p:cNvPr id="22" name="群組 2"/>
          <p:cNvGrpSpPr>
            <a:grpSpLocks/>
          </p:cNvGrpSpPr>
          <p:nvPr/>
        </p:nvGrpSpPr>
        <p:grpSpPr bwMode="auto">
          <a:xfrm>
            <a:off x="194840" y="2181639"/>
            <a:ext cx="8785225" cy="696429"/>
            <a:chOff x="251520" y="2511753"/>
            <a:chExt cx="8784974" cy="989255"/>
          </a:xfrm>
        </p:grpSpPr>
        <p:sp>
          <p:nvSpPr>
            <p:cNvPr id="23" name="五邊形 22"/>
            <p:cNvSpPr/>
            <p:nvPr/>
          </p:nvSpPr>
          <p:spPr bwMode="auto">
            <a:xfrm flipH="1">
              <a:off x="3348645" y="2511753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32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應用軟體使用   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405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圓角矩形 25"/>
            <p:cNvSpPr/>
            <p:nvPr/>
          </p:nvSpPr>
          <p:spPr bwMode="auto">
            <a:xfrm>
              <a:off x="251520" y="2511753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工作項目</a:t>
              </a:r>
              <a:r>
                <a:rPr lang="en-US" altLang="zh-TW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02</a:t>
              </a:r>
            </a:p>
          </p:txBody>
        </p:sp>
      </p:grpSp>
      <p:grpSp>
        <p:nvGrpSpPr>
          <p:cNvPr id="27" name="群組 1"/>
          <p:cNvGrpSpPr>
            <a:grpSpLocks/>
          </p:cNvGrpSpPr>
          <p:nvPr/>
        </p:nvGrpSpPr>
        <p:grpSpPr bwMode="auto">
          <a:xfrm>
            <a:off x="194840" y="3121176"/>
            <a:ext cx="8785225" cy="696429"/>
            <a:chOff x="251520" y="3756671"/>
            <a:chExt cx="8784974" cy="989255"/>
          </a:xfrm>
        </p:grpSpPr>
        <p:sp>
          <p:nvSpPr>
            <p:cNvPr id="28" name="五邊形 27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32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系統軟體使用   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124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圓角矩形 28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工作項目</a:t>
              </a:r>
              <a:r>
                <a:rPr lang="en-US" altLang="zh-TW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03</a:t>
              </a:r>
            </a:p>
          </p:txBody>
        </p:sp>
      </p:grpSp>
      <p:grpSp>
        <p:nvGrpSpPr>
          <p:cNvPr id="30" name="群組 32"/>
          <p:cNvGrpSpPr>
            <a:grpSpLocks/>
          </p:cNvGrpSpPr>
          <p:nvPr/>
        </p:nvGrpSpPr>
        <p:grpSpPr bwMode="auto">
          <a:xfrm>
            <a:off x="175790" y="4060713"/>
            <a:ext cx="8785225" cy="696429"/>
            <a:chOff x="251520" y="3756671"/>
            <a:chExt cx="8784974" cy="989255"/>
          </a:xfrm>
        </p:grpSpPr>
        <p:sp>
          <p:nvSpPr>
            <p:cNvPr id="31" name="五邊形 30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36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資訊安全</a:t>
              </a: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        </a:t>
              </a:r>
              <a:r>
                <a:rPr lang="zh-TW" altLang="en-US" sz="4800" b="1" kern="0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75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圓角矩形 31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工作項目</a:t>
              </a:r>
              <a:r>
                <a:rPr lang="en-US" altLang="zh-TW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04</a:t>
              </a:r>
            </a:p>
          </p:txBody>
        </p:sp>
      </p:grpSp>
      <p:grpSp>
        <p:nvGrpSpPr>
          <p:cNvPr id="33" name="群組 35"/>
          <p:cNvGrpSpPr>
            <a:grpSpLocks/>
          </p:cNvGrpSpPr>
          <p:nvPr/>
        </p:nvGrpSpPr>
        <p:grpSpPr bwMode="auto">
          <a:xfrm>
            <a:off x="175790" y="5000250"/>
            <a:ext cx="8785225" cy="697547"/>
            <a:chOff x="251520" y="3756671"/>
            <a:chExt cx="8784974" cy="989255"/>
          </a:xfrm>
        </p:grpSpPr>
        <p:sp>
          <p:nvSpPr>
            <p:cNvPr id="36" name="五邊形 35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職業安全衛生     </a:t>
              </a:r>
              <a:r>
                <a:rPr lang="en-US" altLang="zh-TW" sz="4800" b="1" kern="0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圓角矩形 38"/>
            <p:cNvSpPr/>
            <p:nvPr/>
          </p:nvSpPr>
          <p:spPr bwMode="auto">
            <a:xfrm>
              <a:off x="251520" y="3756671"/>
              <a:ext cx="3024101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90006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0" name="群組 35"/>
          <p:cNvGrpSpPr>
            <a:grpSpLocks/>
          </p:cNvGrpSpPr>
          <p:nvPr/>
        </p:nvGrpSpPr>
        <p:grpSpPr bwMode="auto">
          <a:xfrm>
            <a:off x="194840" y="5940907"/>
            <a:ext cx="8785225" cy="697547"/>
            <a:chOff x="251520" y="3756671"/>
            <a:chExt cx="8784974" cy="989255"/>
          </a:xfrm>
        </p:grpSpPr>
        <p:sp>
          <p:nvSpPr>
            <p:cNvPr id="41" name="五邊形 40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32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工作倫理與職業道德</a:t>
              </a:r>
              <a:r>
                <a:rPr lang="en-US" altLang="zh-TW" sz="4800" b="1" kern="0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2" name="圓角矩形 41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90007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4" name="標題 31"/>
          <p:cNvSpPr txBox="1">
            <a:spLocks/>
          </p:cNvSpPr>
          <p:nvPr/>
        </p:nvSpPr>
        <p:spPr bwMode="auto">
          <a:xfrm>
            <a:off x="5865893" y="1249252"/>
            <a:ext cx="1210106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單選</a:t>
            </a:r>
            <a:r>
              <a:rPr lang="en-US" altLang="zh-TW" sz="20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168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標題 31"/>
          <p:cNvSpPr txBox="1">
            <a:spLocks/>
          </p:cNvSpPr>
          <p:nvPr/>
        </p:nvSpPr>
        <p:spPr bwMode="auto">
          <a:xfrm>
            <a:off x="5872820" y="1563338"/>
            <a:ext cx="1210106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復選  </a:t>
            </a:r>
            <a:r>
              <a:rPr lang="en-US" altLang="zh-TW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74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標題 31"/>
          <p:cNvSpPr txBox="1">
            <a:spLocks/>
          </p:cNvSpPr>
          <p:nvPr/>
        </p:nvSpPr>
        <p:spPr bwMode="auto">
          <a:xfrm>
            <a:off x="5891223" y="2198857"/>
            <a:ext cx="1210106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單選</a:t>
            </a:r>
            <a:r>
              <a:rPr lang="en-US" altLang="zh-TW" sz="20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284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標題 31"/>
          <p:cNvSpPr txBox="1">
            <a:spLocks/>
          </p:cNvSpPr>
          <p:nvPr/>
        </p:nvSpPr>
        <p:spPr bwMode="auto">
          <a:xfrm>
            <a:off x="5908541" y="2512943"/>
            <a:ext cx="13027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復選</a:t>
            </a:r>
            <a:r>
              <a:rPr lang="en-US" altLang="zh-TW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121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標題 31"/>
          <p:cNvSpPr txBox="1">
            <a:spLocks/>
          </p:cNvSpPr>
          <p:nvPr/>
        </p:nvSpPr>
        <p:spPr bwMode="auto">
          <a:xfrm>
            <a:off x="5898149" y="3161755"/>
            <a:ext cx="1210106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單選  </a:t>
            </a:r>
            <a:r>
              <a:rPr lang="en-US" altLang="zh-TW" sz="20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79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標題 31"/>
          <p:cNvSpPr txBox="1">
            <a:spLocks/>
          </p:cNvSpPr>
          <p:nvPr/>
        </p:nvSpPr>
        <p:spPr bwMode="auto">
          <a:xfrm>
            <a:off x="5915467" y="3475841"/>
            <a:ext cx="13027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復選  </a:t>
            </a:r>
            <a:r>
              <a:rPr lang="en-US" altLang="zh-TW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標題 31"/>
          <p:cNvSpPr txBox="1">
            <a:spLocks/>
          </p:cNvSpPr>
          <p:nvPr/>
        </p:nvSpPr>
        <p:spPr bwMode="auto">
          <a:xfrm>
            <a:off x="5893390" y="4057149"/>
            <a:ext cx="1210106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單選 </a:t>
            </a:r>
            <a:r>
              <a:rPr lang="en-US" altLang="zh-TW" sz="2000" dirty="0" smtClean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69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標題 31"/>
          <p:cNvSpPr txBox="1">
            <a:spLocks/>
          </p:cNvSpPr>
          <p:nvPr/>
        </p:nvSpPr>
        <p:spPr bwMode="auto">
          <a:xfrm>
            <a:off x="5900317" y="4371235"/>
            <a:ext cx="13027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TW" altLang="en-US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復選   </a:t>
            </a:r>
            <a:r>
              <a:rPr lang="en-US" altLang="zh-TW" sz="2000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zh-TW" sz="20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514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/>
              <a:t>題庫分類</a:t>
            </a:r>
            <a:endParaRPr lang="en-US" altLang="zh-TW" dirty="0"/>
          </a:p>
        </p:txBody>
      </p:sp>
      <p:grpSp>
        <p:nvGrpSpPr>
          <p:cNvPr id="33" name="群組 35"/>
          <p:cNvGrpSpPr>
            <a:grpSpLocks/>
          </p:cNvGrpSpPr>
          <p:nvPr/>
        </p:nvGrpSpPr>
        <p:grpSpPr bwMode="auto">
          <a:xfrm>
            <a:off x="194840" y="1135390"/>
            <a:ext cx="8785225" cy="697547"/>
            <a:chOff x="251520" y="3756671"/>
            <a:chExt cx="8784974" cy="989255"/>
          </a:xfrm>
        </p:grpSpPr>
        <p:sp>
          <p:nvSpPr>
            <p:cNvPr id="36" name="五邊形 35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環境保護     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圓角矩形 38"/>
            <p:cNvSpPr/>
            <p:nvPr/>
          </p:nvSpPr>
          <p:spPr bwMode="auto">
            <a:xfrm>
              <a:off x="251520" y="3756671"/>
              <a:ext cx="3024101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90008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0" name="群組 35"/>
          <p:cNvGrpSpPr>
            <a:grpSpLocks/>
          </p:cNvGrpSpPr>
          <p:nvPr/>
        </p:nvGrpSpPr>
        <p:grpSpPr bwMode="auto">
          <a:xfrm>
            <a:off x="213890" y="1954767"/>
            <a:ext cx="8785225" cy="697547"/>
            <a:chOff x="251520" y="3756671"/>
            <a:chExt cx="8784974" cy="989255"/>
          </a:xfrm>
        </p:grpSpPr>
        <p:sp>
          <p:nvSpPr>
            <p:cNvPr id="41" name="五邊形 40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節能減碳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道德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2" name="圓角矩形 41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90009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" name="群組 35"/>
          <p:cNvGrpSpPr>
            <a:grpSpLocks/>
          </p:cNvGrpSpPr>
          <p:nvPr/>
        </p:nvGrpSpPr>
        <p:grpSpPr bwMode="auto">
          <a:xfrm>
            <a:off x="194840" y="2774144"/>
            <a:ext cx="8785225" cy="697547"/>
            <a:chOff x="251520" y="3756671"/>
            <a:chExt cx="8784974" cy="989255"/>
          </a:xfrm>
        </p:grpSpPr>
        <p:sp>
          <p:nvSpPr>
            <p:cNvPr id="10" name="五邊形 9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電腦硬體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架構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圓角矩形 10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90011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2" name="群組 35"/>
          <p:cNvGrpSpPr>
            <a:grpSpLocks/>
          </p:cNvGrpSpPr>
          <p:nvPr/>
        </p:nvGrpSpPr>
        <p:grpSpPr bwMode="auto">
          <a:xfrm>
            <a:off x="194840" y="3593521"/>
            <a:ext cx="8785225" cy="697547"/>
            <a:chOff x="251520" y="3756671"/>
            <a:chExt cx="8784974" cy="989255"/>
          </a:xfrm>
        </p:grpSpPr>
        <p:sp>
          <p:nvSpPr>
            <p:cNvPr id="13" name="五邊形 12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網路概論與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應用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29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圓角矩形 13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90011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5" name="群組 35"/>
          <p:cNvGrpSpPr>
            <a:grpSpLocks/>
          </p:cNvGrpSpPr>
          <p:nvPr/>
        </p:nvGrpSpPr>
        <p:grpSpPr bwMode="auto">
          <a:xfrm>
            <a:off x="194840" y="4412898"/>
            <a:ext cx="8785225" cy="697547"/>
            <a:chOff x="251520" y="3756671"/>
            <a:chExt cx="8784974" cy="989255"/>
          </a:xfrm>
        </p:grpSpPr>
        <p:sp>
          <p:nvSpPr>
            <p:cNvPr id="16" name="五邊形 15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作業系統        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圓角矩形 16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90011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群組 35"/>
          <p:cNvGrpSpPr>
            <a:grpSpLocks/>
          </p:cNvGrpSpPr>
          <p:nvPr/>
        </p:nvGrpSpPr>
        <p:grpSpPr bwMode="auto">
          <a:xfrm>
            <a:off x="221118" y="5232275"/>
            <a:ext cx="8785225" cy="697547"/>
            <a:chOff x="251520" y="3756671"/>
            <a:chExt cx="8784974" cy="989255"/>
          </a:xfrm>
        </p:grpSpPr>
        <p:sp>
          <p:nvSpPr>
            <p:cNvPr id="20" name="五邊形 19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資訊運算思維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圓角矩形 20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90011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2" name="群組 35"/>
          <p:cNvGrpSpPr>
            <a:grpSpLocks/>
          </p:cNvGrpSpPr>
          <p:nvPr/>
        </p:nvGrpSpPr>
        <p:grpSpPr bwMode="auto">
          <a:xfrm>
            <a:off x="213890" y="6051651"/>
            <a:ext cx="8785225" cy="697547"/>
            <a:chOff x="251520" y="3756671"/>
            <a:chExt cx="8784974" cy="989255"/>
          </a:xfrm>
        </p:grpSpPr>
        <p:sp>
          <p:nvSpPr>
            <p:cNvPr id="23" name="五邊形 22"/>
            <p:cNvSpPr/>
            <p:nvPr/>
          </p:nvSpPr>
          <p:spPr bwMode="auto">
            <a:xfrm flipH="1">
              <a:off x="3348645" y="3756671"/>
              <a:ext cx="5687849" cy="989255"/>
            </a:xfrm>
            <a:prstGeom prst="homePlat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資訊安全                </a:t>
              </a:r>
              <a:r>
                <a:rPr lang="en-US" altLang="zh-TW" sz="4800" b="1" kern="0" dirty="0" smtClean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40</a:t>
              </a:r>
              <a:r>
                <a:rPr lang="zh-TW" altLang="en-US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題</a:t>
              </a:r>
              <a:endParaRPr lang="en-US" altLang="zh-TW" sz="4000" b="1" kern="0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圓角矩形 23"/>
            <p:cNvSpPr/>
            <p:nvPr/>
          </p:nvSpPr>
          <p:spPr bwMode="auto">
            <a:xfrm>
              <a:off x="251520" y="3756671"/>
              <a:ext cx="3024102" cy="989255"/>
            </a:xfrm>
            <a:prstGeom prst="roundRect">
              <a:avLst/>
            </a:prstGeom>
            <a:solidFill>
              <a:srgbClr val="58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4000" b="1" kern="0" dirty="0" smtClean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90011</a:t>
              </a:r>
              <a:endParaRPr lang="en-US" altLang="zh-TW" sz="4000" b="1" kern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806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 smtClean="0"/>
              <a:t>題目題數</a:t>
            </a:r>
            <a:endParaRPr lang="en-US" altLang="zh-TW" dirty="0"/>
          </a:p>
        </p:txBody>
      </p:sp>
      <p:sp>
        <p:nvSpPr>
          <p:cNvPr id="25" name="文字方塊 19"/>
          <p:cNvSpPr txBox="1">
            <a:spLocks noChangeArrowheads="1"/>
          </p:cNvSpPr>
          <p:nvPr/>
        </p:nvSpPr>
        <p:spPr bwMode="auto">
          <a:xfrm>
            <a:off x="0" y="1098550"/>
            <a:ext cx="9144000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ts val="0"/>
              </a:spcBef>
            </a:pP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全部</a:t>
            </a:r>
            <a:r>
              <a:rPr lang="en-US" altLang="zh-TW" sz="60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1,365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sz="4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spcBef>
                <a:spcPts val="0"/>
              </a:spcBef>
            </a:pPr>
            <a:r>
              <a:rPr lang="zh-TW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</a:t>
            </a:r>
            <a:r>
              <a:rPr lang="zh-TW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5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1,119</a:t>
            </a:r>
            <a:r>
              <a:rPr lang="zh-TW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spcBef>
                <a:spcPts val="0"/>
              </a:spcBef>
            </a:pPr>
            <a:r>
              <a:rPr lang="zh-TW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複選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5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246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spcBef>
                <a:spcPts val="0"/>
              </a:spcBef>
            </a:pPr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複選題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--</a:t>
            </a:r>
            <a:r>
              <a:rPr lang="en-US" altLang="zh-TW" sz="52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個選項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記特徵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spcBef>
                <a:spcPts val="0"/>
              </a:spcBef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復選</a:t>
            </a:r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--</a:t>
            </a:r>
            <a:r>
              <a:rPr lang="en-US" altLang="zh-TW" sz="52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個選項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137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記錯的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spcBef>
                <a:spcPts val="0"/>
              </a:spcBef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復選</a:t>
            </a:r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--</a:t>
            </a:r>
            <a:r>
              <a:rPr lang="en-US" altLang="zh-TW" sz="52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個選項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90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熟讀</a:t>
            </a:r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強記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290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/>
              <a:t>考題範圍</a:t>
            </a:r>
            <a:endParaRPr lang="en-US" altLang="zh-TW" dirty="0"/>
          </a:p>
        </p:txBody>
      </p:sp>
      <p:sp>
        <p:nvSpPr>
          <p:cNvPr id="25" name="文字方塊 19"/>
          <p:cNvSpPr txBox="1">
            <a:spLocks noChangeArrowheads="1"/>
          </p:cNvSpPr>
          <p:nvPr/>
        </p:nvSpPr>
        <p:spPr bwMode="auto">
          <a:xfrm>
            <a:off x="0" y="1287737"/>
            <a:ext cx="9144000" cy="535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針對乙級術科所需能力，考題範圍如下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一、網路原理及實務管理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二、網頁設計原則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HTML </a:t>
            </a:r>
            <a:r>
              <a:rPr lang="en-US" altLang="zh-TW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CSS</a:t>
            </a: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語法、</a:t>
            </a:r>
            <a:r>
              <a:rPr lang="en-US" altLang="zh-TW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</a:p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四、互動式網頁</a:t>
            </a:r>
            <a:r>
              <a:rPr lang="en-US" altLang="zh-TW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PHP</a:t>
            </a: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Asp.net</a:t>
            </a: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Photoshop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zh-TW" altLang="en-US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資料庫管理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fontAlgn="base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七、</a:t>
            </a:r>
            <a:r>
              <a:rPr lang="en-US" altLang="zh-TW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Linux</a:t>
            </a:r>
            <a:r>
              <a:rPr lang="zh-TW" altLang="en-US" sz="3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系統及物聯網</a:t>
            </a:r>
            <a:endParaRPr lang="en-US" altLang="zh-TW" sz="3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3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1"/>
          <p:cNvSpPr txBox="1">
            <a:spLocks/>
          </p:cNvSpPr>
          <p:nvPr/>
        </p:nvSpPr>
        <p:spPr bwMode="auto">
          <a:xfrm>
            <a:off x="0" y="1955801"/>
            <a:ext cx="9144000" cy="251936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反覆模擬測驗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784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北市商網頁設計乙級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85850"/>
            <a:ext cx="9144000" cy="5772149"/>
          </a:xfrm>
          <a:prstGeom prst="rect">
            <a:avLst/>
          </a:prstGeom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73839" y="3358722"/>
            <a:ext cx="1133948" cy="269695"/>
          </a:xfrm>
          <a:prstGeom prst="rect">
            <a:avLst/>
          </a:prstGeom>
          <a:noFill/>
          <a:ln w="63500" cap="sq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2400" b="0">
              <a:solidFill>
                <a:srgbClr val="4D4D4D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-5080" y="6415791"/>
            <a:ext cx="9144000" cy="446276"/>
          </a:xfrm>
          <a:prstGeom prst="rect">
            <a:avLst/>
          </a:prstGeom>
          <a:solidFill>
            <a:srgbClr val="000000">
              <a:lumMod val="85000"/>
              <a:lumOff val="15000"/>
              <a:alpha val="92000"/>
            </a:srgbClr>
          </a:solidFill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300" dirty="0">
                <a:solidFill>
                  <a:schemeClr val="bg1"/>
                </a:solidFill>
              </a:rPr>
              <a:t>http://onlinetest3-2.slhs.tp.edu.tw/bestcontent.asp?examid=t173002</a:t>
            </a:r>
            <a:endParaRPr kumimoji="1" lang="zh-TW" altLang="en-US" sz="2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82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>
              <a:defRPr/>
            </a:pPr>
            <a:r>
              <a:rPr kumimoji="0" lang="zh-TW" altLang="en-US" sz="6000" dirty="0" smtClean="0">
                <a:solidFill>
                  <a:srgbClr val="FFFFFF"/>
                </a:solidFill>
              </a:rPr>
              <a:t>學科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(</a:t>
            </a:r>
            <a:r>
              <a:rPr kumimoji="0" lang="zh-TW" altLang="en-US" sz="6000" dirty="0" smtClean="0">
                <a:solidFill>
                  <a:srgbClr val="FFFFFF"/>
                </a:solidFill>
              </a:rPr>
              <a:t>題庫線上測驗</a:t>
            </a:r>
            <a:r>
              <a:rPr kumimoji="0" lang="en-US" altLang="zh-TW" sz="6000" dirty="0" smtClean="0">
                <a:solidFill>
                  <a:srgbClr val="FFFFFF"/>
                </a:solidFill>
              </a:rPr>
              <a:t>)</a:t>
            </a:r>
            <a:endParaRPr kumimoji="0" lang="en-US" altLang="zh-TW" sz="6000" dirty="0">
              <a:solidFill>
                <a:srgbClr val="FFFFFF"/>
              </a:solidFill>
            </a:endParaRPr>
          </a:p>
        </p:txBody>
      </p:sp>
      <p:sp>
        <p:nvSpPr>
          <p:cNvPr id="3584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http://</a:t>
            </a:r>
            <a:r>
              <a:rPr lang="en-US" altLang="zh-TW" dirty="0" smtClean="0">
                <a:hlinkClick r:id="rId3"/>
              </a:rPr>
              <a:t>onlinetest3-4.slhs.tp.edu.tw/bestcontent.asp?examid=t173002</a:t>
            </a:r>
            <a:endParaRPr lang="en-US" altLang="zh-TW" dirty="0" smtClean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088" y="2492934"/>
            <a:ext cx="6973824" cy="434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9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北市商網頁設計乙級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9144000" cy="5778500"/>
          </a:xfrm>
          <a:prstGeom prst="rect">
            <a:avLst/>
          </a:prstGeom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064503" y="1812024"/>
            <a:ext cx="1659242" cy="259967"/>
          </a:xfrm>
          <a:prstGeom prst="rect">
            <a:avLst/>
          </a:prstGeom>
          <a:noFill/>
          <a:ln w="63500" cap="sq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2400" b="0">
              <a:solidFill>
                <a:srgbClr val="4D4D4D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52794" y="2347787"/>
            <a:ext cx="2454233" cy="31282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13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9500"/>
            <a:ext cx="9138920" cy="5700679"/>
          </a:xfrm>
          <a:prstGeom prst="rect">
            <a:avLst/>
          </a:prstGeom>
        </p:spPr>
      </p:pic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進入練習模式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4346" y="1539038"/>
            <a:ext cx="3707028" cy="87053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384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北市商網頁設計乙級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9144000" cy="5778500"/>
          </a:xfrm>
          <a:prstGeom prst="rect">
            <a:avLst/>
          </a:prstGeom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064503" y="1812024"/>
            <a:ext cx="1659242" cy="259967"/>
          </a:xfrm>
          <a:prstGeom prst="rect">
            <a:avLst/>
          </a:prstGeom>
          <a:noFill/>
          <a:ln w="63500" cap="sq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2400" b="0">
              <a:solidFill>
                <a:srgbClr val="4D4D4D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52794" y="2891487"/>
            <a:ext cx="2973217" cy="31282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61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線上模擬測驗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46" y="1085851"/>
            <a:ext cx="6974247" cy="52504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624394" y="3375225"/>
            <a:ext cx="3380990" cy="66543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8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線上模擬測驗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5850"/>
            <a:ext cx="9138920" cy="577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658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ChangeArrowheads="1"/>
          </p:cNvSpPr>
          <p:nvPr/>
        </p:nvSpPr>
        <p:spPr bwMode="auto">
          <a:xfrm>
            <a:off x="210820" y="503238"/>
            <a:ext cx="8928100" cy="615950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「此一時，彼一時」的手法。可以讓你把聽眾帶離當下所關切的問題，轉移聽眾的注意力，進而抓住他們的注意力。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Rectangle 49"/>
          <p:cNvSpPr>
            <a:spLocks noChangeArrowheads="1"/>
          </p:cNvSpPr>
          <p:nvPr/>
        </p:nvSpPr>
        <p:spPr bwMode="auto">
          <a:xfrm>
            <a:off x="38101" y="6351"/>
            <a:ext cx="1889125" cy="492125"/>
          </a:xfrm>
          <a:prstGeom prst="rect">
            <a:avLst/>
          </a:prstGeom>
          <a:noFill/>
          <a:ln w="25400" cap="flat" cmpd="sng" algn="ctr">
            <a:noFill/>
            <a:prstDash val="solid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85725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回顧╱前瞻</a:t>
            </a:r>
            <a:endParaRPr kumimoji="0" lang="en-US" altLang="ko-KR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kern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線上模擬測驗結果</a:t>
            </a:r>
            <a:endParaRPr kumimoji="0" lang="ko-KR" altLang="en-US" sz="6000" b="1" kern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378" y="1119188"/>
            <a:ext cx="7108984" cy="56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99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3" descr="目錄 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4" r="1076"/>
          <a:stretch>
            <a:fillRect/>
          </a:stretch>
        </p:blipFill>
        <p:spPr bwMode="auto">
          <a:xfrm>
            <a:off x="-14288" y="0"/>
            <a:ext cx="9158288" cy="542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手繪多邊形 6"/>
          <p:cNvSpPr/>
          <p:nvPr/>
        </p:nvSpPr>
        <p:spPr>
          <a:xfrm>
            <a:off x="-38100" y="2968626"/>
            <a:ext cx="9182100" cy="3940175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940935">
                <a:moveTo>
                  <a:pt x="25758" y="2112135"/>
                </a:moveTo>
                <a:cubicBezTo>
                  <a:pt x="5441929" y="3367484"/>
                  <a:pt x="8008211" y="1403320"/>
                  <a:pt x="9182637" y="0"/>
                </a:cubicBezTo>
                <a:lnTo>
                  <a:pt x="9169758" y="3940935"/>
                </a:lnTo>
                <a:lnTo>
                  <a:pt x="0" y="3940935"/>
                </a:lnTo>
                <a:lnTo>
                  <a:pt x="25758" y="2112135"/>
                </a:lnTo>
                <a:close/>
              </a:path>
            </a:pathLst>
          </a:cu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手繪多邊形 7"/>
          <p:cNvSpPr/>
          <p:nvPr/>
        </p:nvSpPr>
        <p:spPr>
          <a:xfrm>
            <a:off x="-50800" y="3603625"/>
            <a:ext cx="9194800" cy="3297238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3298017">
                <a:moveTo>
                  <a:pt x="25758" y="1469217"/>
                </a:moveTo>
                <a:cubicBezTo>
                  <a:pt x="5390000" y="2758734"/>
                  <a:pt x="7831707" y="1270898"/>
                  <a:pt x="9182637" y="0"/>
                </a:cubicBezTo>
                <a:lnTo>
                  <a:pt x="9169758" y="3298017"/>
                </a:lnTo>
                <a:lnTo>
                  <a:pt x="0" y="3298017"/>
                </a:lnTo>
                <a:lnTo>
                  <a:pt x="25758" y="1469217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手繪多邊形 8"/>
          <p:cNvSpPr/>
          <p:nvPr/>
        </p:nvSpPr>
        <p:spPr>
          <a:xfrm>
            <a:off x="-50800" y="4252913"/>
            <a:ext cx="9194800" cy="2798762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1469217 h 3298017"/>
              <a:gd name="connsiteX1" fmla="*/ 9182637 w 9182637"/>
              <a:gd name="connsiteY1" fmla="*/ 0 h 3298017"/>
              <a:gd name="connsiteX2" fmla="*/ 9169758 w 9182637"/>
              <a:gd name="connsiteY2" fmla="*/ 3298017 h 3298017"/>
              <a:gd name="connsiteX3" fmla="*/ 0 w 9182637"/>
              <a:gd name="connsiteY3" fmla="*/ 3298017 h 3298017"/>
              <a:gd name="connsiteX4" fmla="*/ 25758 w 9182637"/>
              <a:gd name="connsiteY4" fmla="*/ 1469217 h 3298017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  <a:gd name="connsiteX0" fmla="*/ 25758 w 9182637"/>
              <a:gd name="connsiteY0" fmla="*/ 969175 h 2797975"/>
              <a:gd name="connsiteX1" fmla="*/ 9182637 w 9182637"/>
              <a:gd name="connsiteY1" fmla="*/ 0 h 2797975"/>
              <a:gd name="connsiteX2" fmla="*/ 9169758 w 9182637"/>
              <a:gd name="connsiteY2" fmla="*/ 2797975 h 2797975"/>
              <a:gd name="connsiteX3" fmla="*/ 0 w 9182637"/>
              <a:gd name="connsiteY3" fmla="*/ 2797975 h 2797975"/>
              <a:gd name="connsiteX4" fmla="*/ 25758 w 9182637"/>
              <a:gd name="connsiteY4" fmla="*/ 969175 h 279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2637" h="2797975">
                <a:moveTo>
                  <a:pt x="25758" y="969175"/>
                </a:moveTo>
                <a:cubicBezTo>
                  <a:pt x="5396837" y="2321457"/>
                  <a:pt x="7733684" y="1141895"/>
                  <a:pt x="9182637" y="0"/>
                </a:cubicBezTo>
                <a:lnTo>
                  <a:pt x="9169758" y="2797975"/>
                </a:lnTo>
                <a:lnTo>
                  <a:pt x="0" y="2797975"/>
                </a:lnTo>
                <a:lnTo>
                  <a:pt x="25758" y="969175"/>
                </a:lnTo>
                <a:close/>
              </a:path>
            </a:pathLst>
          </a:custGeom>
          <a:solidFill>
            <a:srgbClr val="FFFFFF">
              <a:alpha val="84706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Text Box 50"/>
          <p:cNvSpPr txBox="1">
            <a:spLocks noChangeArrowheads="1"/>
          </p:cNvSpPr>
          <p:nvPr/>
        </p:nvSpPr>
        <p:spPr bwMode="auto">
          <a:xfrm>
            <a:off x="1629518" y="6005866"/>
            <a:ext cx="70119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 marL="457200" indent="-4572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勞動部勞動力發展署北基宜花金馬分署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http://tkyhkm.wda.gov.tw/ 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總機：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02-29018274</a:t>
            </a:r>
          </a:p>
        </p:txBody>
      </p:sp>
      <p:pic>
        <p:nvPicPr>
          <p:cNvPr id="19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96" y="5583591"/>
            <a:ext cx="1268413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29"/>
          <p:cNvSpPr txBox="1">
            <a:spLocks noChangeArrowheads="1"/>
          </p:cNvSpPr>
          <p:nvPr/>
        </p:nvSpPr>
        <p:spPr bwMode="auto">
          <a:xfrm>
            <a:off x="23812" y="1373189"/>
            <a:ext cx="91440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6600" b="1" dirty="0">
                <a:solidFill>
                  <a:srgbClr val="0033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感謝聆聽</a:t>
            </a:r>
            <a:endParaRPr kumimoji="0" lang="en-US" altLang="zh-TW" sz="6600" b="1" dirty="0">
              <a:solidFill>
                <a:srgbClr val="00336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6600" b="1" dirty="0">
                <a:solidFill>
                  <a:srgbClr val="0033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祝福您</a:t>
            </a:r>
          </a:p>
        </p:txBody>
      </p:sp>
    </p:spTree>
    <p:extLst>
      <p:ext uri="{BB962C8B-B14F-4D97-AF65-F5344CB8AC3E}">
        <p14:creationId xmlns:p14="http://schemas.microsoft.com/office/powerpoint/2010/main" val="3148303201"/>
      </p:ext>
    </p:extLst>
  </p:cSld>
  <p:clrMapOvr>
    <a:masterClrMapping/>
  </p:clrMapOvr>
</p:sld>
</file>

<file path=ppt/theme/theme1.xml><?xml version="1.0" encoding="utf-8"?>
<a:theme xmlns:a="http://schemas.openxmlformats.org/drawingml/2006/main" name="5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</TotalTime>
  <Words>1645</Words>
  <Application>Microsoft Office PowerPoint</Application>
  <PresentationFormat>如螢幕大小 (4:3)</PresentationFormat>
  <Paragraphs>194</Paragraphs>
  <Slides>35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35</vt:i4>
      </vt:variant>
    </vt:vector>
  </HeadingPairs>
  <TitlesOfParts>
    <vt:vector size="44" baseType="lpstr">
      <vt:lpstr>微軟正黑體</vt:lpstr>
      <vt:lpstr>新細明體</vt:lpstr>
      <vt:lpstr>Arial</vt:lpstr>
      <vt:lpstr>Calibri</vt:lpstr>
      <vt:lpstr>Times New Roman</vt:lpstr>
      <vt:lpstr>Wingdings</vt:lpstr>
      <vt:lpstr>5_預設簡報設計</vt:lpstr>
      <vt:lpstr>4_預設簡報設計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楊健裕</dc:creator>
  <cp:lastModifiedBy>user</cp:lastModifiedBy>
  <cp:revision>170</cp:revision>
  <dcterms:created xsi:type="dcterms:W3CDTF">2015-04-08T00:14:16Z</dcterms:created>
  <dcterms:modified xsi:type="dcterms:W3CDTF">2022-01-18T06:39:40Z</dcterms:modified>
</cp:coreProperties>
</file>